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png"/><Relationship Id="rId9" Type="http://schemas.openxmlformats.org/officeDocument/2006/relationships/image" Target="../media/image8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50" b="1" i="0">
                <a:solidFill>
                  <a:srgbClr val="01010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0E0F1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34363A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2A3442"/>
                </a:solidFill>
              </a:rPr>
              <a:t>Isl\</a:t>
            </a:r>
            <a:r>
              <a:rPr dirty="0" sz="1300" spc="-45">
                <a:solidFill>
                  <a:srgbClr val="2A3442"/>
                </a:solidFill>
              </a:rPr>
              <a:t> </a:t>
            </a:r>
            <a:r>
              <a:rPr dirty="0" spc="-10">
                <a:solidFill>
                  <a:srgbClr val="181A1A"/>
                </a:solidFill>
              </a:rPr>
              <a:t>N</a:t>
            </a:r>
            <a:r>
              <a:rPr dirty="0" spc="-10">
                <a:solidFill>
                  <a:srgbClr val="2A3442"/>
                </a:solidFill>
              </a:rPr>
              <a:t>otebookL</a:t>
            </a:r>
            <a:r>
              <a:rPr dirty="0" spc="-10">
                <a:solidFill>
                  <a:srgbClr val="181A1A"/>
                </a:solidFill>
              </a:rPr>
              <a:t>M</a:t>
            </a:r>
            <a:endParaRPr sz="1300"/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50" b="1" i="0">
                <a:solidFill>
                  <a:srgbClr val="01010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0E0F1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34363A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2A3442"/>
                </a:solidFill>
              </a:rPr>
              <a:t>Isl\</a:t>
            </a:r>
            <a:r>
              <a:rPr dirty="0" sz="1300" spc="-45">
                <a:solidFill>
                  <a:srgbClr val="2A3442"/>
                </a:solidFill>
              </a:rPr>
              <a:t> </a:t>
            </a:r>
            <a:r>
              <a:rPr dirty="0" spc="-10">
                <a:solidFill>
                  <a:srgbClr val="181A1A"/>
                </a:solidFill>
              </a:rPr>
              <a:t>N</a:t>
            </a:r>
            <a:r>
              <a:rPr dirty="0" spc="-10">
                <a:solidFill>
                  <a:srgbClr val="2A3442"/>
                </a:solidFill>
              </a:rPr>
              <a:t>otebookL</a:t>
            </a:r>
            <a:r>
              <a:rPr dirty="0" spc="-10">
                <a:solidFill>
                  <a:srgbClr val="181A1A"/>
                </a:solidFill>
              </a:rPr>
              <a:t>M</a:t>
            </a:r>
            <a:endParaRPr sz="1300"/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94540" y="2936477"/>
            <a:ext cx="2674753" cy="120001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20014" y="4340754"/>
            <a:ext cx="4203183" cy="155746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71796" y="6051417"/>
            <a:ext cx="2954964" cy="1200017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71188" y="2936477"/>
            <a:ext cx="1477482" cy="1200017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41924" y="6051417"/>
            <a:ext cx="2954964" cy="1200017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832901" y="4008833"/>
            <a:ext cx="2267170" cy="2604293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507654" y="4979061"/>
            <a:ext cx="458529" cy="178726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061554" y="4213092"/>
            <a:ext cx="1681272" cy="1251082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4061554" y="5693964"/>
            <a:ext cx="509476" cy="919162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5004084" y="5693964"/>
            <a:ext cx="713267" cy="944694"/>
          </a:xfrm>
          <a:prstGeom prst="rect">
            <a:avLst/>
          </a:prstGeom>
        </p:spPr>
      </p:pic>
      <p:sp>
        <p:nvSpPr>
          <p:cNvPr id="26" name="bg object 26"/>
          <p:cNvSpPr/>
          <p:nvPr/>
        </p:nvSpPr>
        <p:spPr>
          <a:xfrm>
            <a:off x="8266260" y="2349234"/>
            <a:ext cx="0" cy="3166110"/>
          </a:xfrm>
          <a:custGeom>
            <a:avLst/>
            <a:gdLst/>
            <a:ahLst/>
            <a:cxnLst/>
            <a:rect l="l" t="t" r="r" b="b"/>
            <a:pathLst>
              <a:path w="0" h="3166110">
                <a:moveTo>
                  <a:pt x="0" y="3166003"/>
                </a:moveTo>
                <a:lnTo>
                  <a:pt x="0" y="2757486"/>
                </a:lnTo>
              </a:path>
              <a:path w="0" h="3166110">
                <a:moveTo>
                  <a:pt x="0" y="2731954"/>
                </a:moveTo>
                <a:lnTo>
                  <a:pt x="0" y="0"/>
                </a:lnTo>
              </a:path>
            </a:pathLst>
          </a:custGeom>
          <a:ln w="1275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8266260" y="6332271"/>
            <a:ext cx="0" cy="2707005"/>
          </a:xfrm>
          <a:custGeom>
            <a:avLst/>
            <a:gdLst/>
            <a:ahLst/>
            <a:cxnLst/>
            <a:rect l="l" t="t" r="r" b="b"/>
            <a:pathLst>
              <a:path w="0" h="2707004">
                <a:moveTo>
                  <a:pt x="0" y="2706422"/>
                </a:moveTo>
                <a:lnTo>
                  <a:pt x="0" y="612774"/>
                </a:lnTo>
              </a:path>
              <a:path w="0" h="2707004">
                <a:moveTo>
                  <a:pt x="0" y="587242"/>
                </a:moveTo>
                <a:lnTo>
                  <a:pt x="0" y="0"/>
                </a:lnTo>
              </a:path>
            </a:pathLst>
          </a:custGeom>
          <a:ln w="1275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8750263" y="1889653"/>
            <a:ext cx="0" cy="7327900"/>
          </a:xfrm>
          <a:custGeom>
            <a:avLst/>
            <a:gdLst/>
            <a:ahLst/>
            <a:cxnLst/>
            <a:rect l="l" t="t" r="r" b="b"/>
            <a:pathLst>
              <a:path w="0" h="7327900">
                <a:moveTo>
                  <a:pt x="0" y="7327765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15819254" y="5106721"/>
            <a:ext cx="0" cy="868680"/>
          </a:xfrm>
          <a:custGeom>
            <a:avLst/>
            <a:gdLst/>
            <a:ahLst/>
            <a:cxnLst/>
            <a:rect l="l" t="t" r="r" b="b"/>
            <a:pathLst>
              <a:path w="0" h="868679">
                <a:moveTo>
                  <a:pt x="0" y="868097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16099465" y="5464173"/>
            <a:ext cx="0" cy="485140"/>
          </a:xfrm>
          <a:custGeom>
            <a:avLst/>
            <a:gdLst/>
            <a:ahLst/>
            <a:cxnLst/>
            <a:rect l="l" t="t" r="r" b="b"/>
            <a:pathLst>
              <a:path w="0" h="485139">
                <a:moveTo>
                  <a:pt x="0" y="485113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16850945" y="7251433"/>
            <a:ext cx="0" cy="970280"/>
          </a:xfrm>
          <a:custGeom>
            <a:avLst/>
            <a:gdLst/>
            <a:ahLst/>
            <a:cxnLst/>
            <a:rect l="l" t="t" r="r" b="b"/>
            <a:pathLst>
              <a:path w="0" h="970279">
                <a:moveTo>
                  <a:pt x="0" y="970226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bg object 32"/>
          <p:cNvSpPr/>
          <p:nvPr/>
        </p:nvSpPr>
        <p:spPr>
          <a:xfrm>
            <a:off x="12456707" y="4391817"/>
            <a:ext cx="1273810" cy="0"/>
          </a:xfrm>
          <a:custGeom>
            <a:avLst/>
            <a:gdLst/>
            <a:ahLst/>
            <a:cxnLst/>
            <a:rect l="l" t="t" r="r" b="b"/>
            <a:pathLst>
              <a:path w="1273809" h="0">
                <a:moveTo>
                  <a:pt x="0" y="0"/>
                </a:moveTo>
                <a:lnTo>
                  <a:pt x="1273691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bg object 33"/>
          <p:cNvSpPr/>
          <p:nvPr/>
        </p:nvSpPr>
        <p:spPr>
          <a:xfrm>
            <a:off x="12940710" y="4940761"/>
            <a:ext cx="1019175" cy="0"/>
          </a:xfrm>
          <a:custGeom>
            <a:avLst/>
            <a:gdLst/>
            <a:ahLst/>
            <a:cxnLst/>
            <a:rect l="l" t="t" r="r" b="b"/>
            <a:pathLst>
              <a:path w="1019175" h="0">
                <a:moveTo>
                  <a:pt x="0" y="0"/>
                </a:moveTo>
                <a:lnTo>
                  <a:pt x="1018953" y="0"/>
                </a:lnTo>
              </a:path>
            </a:pathLst>
          </a:custGeom>
          <a:ln w="893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bg object 34"/>
          <p:cNvSpPr/>
          <p:nvPr/>
        </p:nvSpPr>
        <p:spPr>
          <a:xfrm>
            <a:off x="12635024" y="5642899"/>
            <a:ext cx="1223010" cy="0"/>
          </a:xfrm>
          <a:custGeom>
            <a:avLst/>
            <a:gdLst/>
            <a:ahLst/>
            <a:cxnLst/>
            <a:rect l="l" t="t" r="r" b="b"/>
            <a:pathLst>
              <a:path w="1223009" h="0">
                <a:moveTo>
                  <a:pt x="0" y="0"/>
                </a:moveTo>
                <a:lnTo>
                  <a:pt x="1222744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bg object 35"/>
          <p:cNvSpPr/>
          <p:nvPr/>
        </p:nvSpPr>
        <p:spPr>
          <a:xfrm>
            <a:off x="12405759" y="6306738"/>
            <a:ext cx="1325245" cy="0"/>
          </a:xfrm>
          <a:custGeom>
            <a:avLst/>
            <a:gdLst/>
            <a:ahLst/>
            <a:cxnLst/>
            <a:rect l="l" t="t" r="r" b="b"/>
            <a:pathLst>
              <a:path w="1325244" h="0">
                <a:moveTo>
                  <a:pt x="0" y="0"/>
                </a:moveTo>
                <a:lnTo>
                  <a:pt x="1324639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bg object 36"/>
          <p:cNvSpPr/>
          <p:nvPr/>
        </p:nvSpPr>
        <p:spPr>
          <a:xfrm>
            <a:off x="738741" y="9217418"/>
            <a:ext cx="7464425" cy="0"/>
          </a:xfrm>
          <a:custGeom>
            <a:avLst/>
            <a:gdLst/>
            <a:ahLst/>
            <a:cxnLst/>
            <a:rect l="l" t="t" r="r" b="b"/>
            <a:pathLst>
              <a:path w="7464425" h="0">
                <a:moveTo>
                  <a:pt x="0" y="0"/>
                </a:moveTo>
                <a:lnTo>
                  <a:pt x="7463834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bg object 37"/>
          <p:cNvSpPr/>
          <p:nvPr/>
        </p:nvSpPr>
        <p:spPr>
          <a:xfrm>
            <a:off x="13908715" y="9217418"/>
            <a:ext cx="1477645" cy="0"/>
          </a:xfrm>
          <a:custGeom>
            <a:avLst/>
            <a:gdLst/>
            <a:ahLst/>
            <a:cxnLst/>
            <a:rect l="l" t="t" r="r" b="b"/>
            <a:pathLst>
              <a:path w="1477644" h="0">
                <a:moveTo>
                  <a:pt x="0" y="0"/>
                </a:moveTo>
                <a:lnTo>
                  <a:pt x="1477482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bg object 38"/>
          <p:cNvSpPr/>
          <p:nvPr/>
        </p:nvSpPr>
        <p:spPr>
          <a:xfrm>
            <a:off x="9425320" y="9217418"/>
            <a:ext cx="3617595" cy="0"/>
          </a:xfrm>
          <a:custGeom>
            <a:avLst/>
            <a:gdLst/>
            <a:ahLst/>
            <a:cxnLst/>
            <a:rect l="l" t="t" r="r" b="b"/>
            <a:pathLst>
              <a:path w="3617594" h="0">
                <a:moveTo>
                  <a:pt x="0" y="0"/>
                </a:moveTo>
                <a:lnTo>
                  <a:pt x="3617285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50" b="1" i="0">
                <a:solidFill>
                  <a:srgbClr val="01010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34363A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2A3442"/>
                </a:solidFill>
              </a:rPr>
              <a:t>Isl\</a:t>
            </a:r>
            <a:r>
              <a:rPr dirty="0" sz="1300" spc="-45">
                <a:solidFill>
                  <a:srgbClr val="2A3442"/>
                </a:solidFill>
              </a:rPr>
              <a:t> </a:t>
            </a:r>
            <a:r>
              <a:rPr dirty="0" spc="-10">
                <a:solidFill>
                  <a:srgbClr val="181A1A"/>
                </a:solidFill>
              </a:rPr>
              <a:t>N</a:t>
            </a:r>
            <a:r>
              <a:rPr dirty="0" spc="-10">
                <a:solidFill>
                  <a:srgbClr val="2A3442"/>
                </a:solidFill>
              </a:rPr>
              <a:t>otebookL</a:t>
            </a:r>
            <a:r>
              <a:rPr dirty="0" spc="-10">
                <a:solidFill>
                  <a:srgbClr val="181A1A"/>
                </a:solidFill>
              </a:rPr>
              <a:t>M</a:t>
            </a:r>
            <a:endParaRPr sz="1300"/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81726" y="996024"/>
            <a:ext cx="3362547" cy="421282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50" b="1" i="0">
                <a:solidFill>
                  <a:srgbClr val="01010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34363A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2A3442"/>
                </a:solidFill>
              </a:rPr>
              <a:t>Isl\</a:t>
            </a:r>
            <a:r>
              <a:rPr dirty="0" sz="1300" spc="-45">
                <a:solidFill>
                  <a:srgbClr val="2A3442"/>
                </a:solidFill>
              </a:rPr>
              <a:t> </a:t>
            </a:r>
            <a:r>
              <a:rPr dirty="0" spc="-10">
                <a:solidFill>
                  <a:srgbClr val="181A1A"/>
                </a:solidFill>
              </a:rPr>
              <a:t>N</a:t>
            </a:r>
            <a:r>
              <a:rPr dirty="0" spc="-10">
                <a:solidFill>
                  <a:srgbClr val="2A3442"/>
                </a:solidFill>
              </a:rPr>
              <a:t>otebookL</a:t>
            </a:r>
            <a:r>
              <a:rPr dirty="0" spc="-10">
                <a:solidFill>
                  <a:srgbClr val="181A1A"/>
                </a:solidFill>
              </a:rPr>
              <a:t>M</a:t>
            </a:r>
            <a:endParaRPr sz="1300"/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34363A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2A3442"/>
                </a:solidFill>
              </a:rPr>
              <a:t>Isl\</a:t>
            </a:r>
            <a:r>
              <a:rPr dirty="0" sz="1300" spc="-45">
                <a:solidFill>
                  <a:srgbClr val="2A3442"/>
                </a:solidFill>
              </a:rPr>
              <a:t> </a:t>
            </a:r>
            <a:r>
              <a:rPr dirty="0" spc="-10">
                <a:solidFill>
                  <a:srgbClr val="181A1A"/>
                </a:solidFill>
              </a:rPr>
              <a:t>N</a:t>
            </a:r>
            <a:r>
              <a:rPr dirty="0" spc="-10">
                <a:solidFill>
                  <a:srgbClr val="2A3442"/>
                </a:solidFill>
              </a:rPr>
              <a:t>otebookL</a:t>
            </a:r>
            <a:r>
              <a:rPr dirty="0" spc="-10">
                <a:solidFill>
                  <a:srgbClr val="181A1A"/>
                </a:solidFill>
              </a:rPr>
              <a:t>M</a:t>
            </a:r>
            <a:endParaRPr sz="1300"/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30534" y="151573"/>
            <a:ext cx="14899640" cy="16211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50" b="1" i="0">
                <a:solidFill>
                  <a:srgbClr val="01010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431202" y="4758273"/>
            <a:ext cx="7204075" cy="2017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0E0F1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6147783" y="9418922"/>
            <a:ext cx="1262380" cy="218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34363A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2A3442"/>
                </a:solidFill>
              </a:rPr>
              <a:t>Isl\</a:t>
            </a:r>
            <a:r>
              <a:rPr dirty="0" sz="1300" spc="-45">
                <a:solidFill>
                  <a:srgbClr val="2A3442"/>
                </a:solidFill>
              </a:rPr>
              <a:t> </a:t>
            </a:r>
            <a:r>
              <a:rPr dirty="0" spc="-10">
                <a:solidFill>
                  <a:srgbClr val="181A1A"/>
                </a:solidFill>
              </a:rPr>
              <a:t>N</a:t>
            </a:r>
            <a:r>
              <a:rPr dirty="0" spc="-10">
                <a:solidFill>
                  <a:srgbClr val="2A3442"/>
                </a:solidFill>
              </a:rPr>
              <a:t>otebookL</a:t>
            </a:r>
            <a:r>
              <a:rPr dirty="0" spc="-10">
                <a:solidFill>
                  <a:srgbClr val="181A1A"/>
                </a:solidFill>
              </a:rPr>
              <a:t>M</a:t>
            </a:r>
            <a:endParaRPr sz="1300"/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image" Target="../media/image15.jpg"/><Relationship Id="rId6" Type="http://schemas.openxmlformats.org/officeDocument/2006/relationships/image" Target="../media/image16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Relationship Id="rId4" Type="http://schemas.openxmlformats.org/officeDocument/2006/relationships/image" Target="../media/image19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Relationship Id="rId4" Type="http://schemas.openxmlformats.org/officeDocument/2006/relationships/image" Target="../media/image22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5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jpg"/><Relationship Id="rId3" Type="http://schemas.openxmlformats.org/officeDocument/2006/relationships/image" Target="../media/image27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jpg"/><Relationship Id="rId3" Type="http://schemas.openxmlformats.org/officeDocument/2006/relationships/image" Target="../media/image31.jpg"/><Relationship Id="rId4" Type="http://schemas.openxmlformats.org/officeDocument/2006/relationships/image" Target="../media/image32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jpg"/><Relationship Id="rId3" Type="http://schemas.openxmlformats.org/officeDocument/2006/relationships/image" Target="../media/image34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07643" y="5553604"/>
            <a:ext cx="11473180" cy="2834005"/>
          </a:xfrm>
          <a:prstGeom prst="rect"/>
        </p:spPr>
        <p:txBody>
          <a:bodyPr wrap="square" lIns="0" tIns="117475" rIns="0" bIns="0" rtlCol="0" vert="horz">
            <a:spAutoFit/>
          </a:bodyPr>
          <a:lstStyle/>
          <a:p>
            <a:pPr algn="ctr" marL="12700" marR="5080">
              <a:lnSpc>
                <a:spcPts val="6630"/>
              </a:lnSpc>
              <a:spcBef>
                <a:spcPts val="925"/>
              </a:spcBef>
            </a:pPr>
            <a:r>
              <a:rPr dirty="0" sz="6100" spc="55">
                <a:solidFill>
                  <a:srgbClr val="0E2642"/>
                </a:solidFill>
              </a:rPr>
              <a:t>Causal</a:t>
            </a:r>
            <a:r>
              <a:rPr dirty="0" sz="6100" spc="35">
                <a:solidFill>
                  <a:srgbClr val="0E2642"/>
                </a:solidFill>
              </a:rPr>
              <a:t> </a:t>
            </a:r>
            <a:r>
              <a:rPr dirty="0" sz="6100" spc="95">
                <a:solidFill>
                  <a:srgbClr val="0E2642"/>
                </a:solidFill>
              </a:rPr>
              <a:t>Agent:</a:t>
            </a:r>
            <a:r>
              <a:rPr dirty="0" sz="6100" spc="-265">
                <a:solidFill>
                  <a:srgbClr val="0E2642"/>
                </a:solidFill>
              </a:rPr>
              <a:t> </a:t>
            </a:r>
            <a:r>
              <a:rPr dirty="0" sz="6100" spc="55">
                <a:solidFill>
                  <a:srgbClr val="0E2642"/>
                </a:solidFill>
              </a:rPr>
              <a:t>Automating</a:t>
            </a:r>
            <a:r>
              <a:rPr dirty="0" sz="6100" spc="430">
                <a:solidFill>
                  <a:srgbClr val="0E2642"/>
                </a:solidFill>
              </a:rPr>
              <a:t> </a:t>
            </a:r>
            <a:r>
              <a:rPr dirty="0" sz="6100" spc="210">
                <a:solidFill>
                  <a:srgbClr val="0E2642"/>
                </a:solidFill>
              </a:rPr>
              <a:t>the </a:t>
            </a:r>
            <a:r>
              <a:rPr dirty="0" sz="6100" spc="55">
                <a:solidFill>
                  <a:srgbClr val="0E2642"/>
                </a:solidFill>
              </a:rPr>
              <a:t>Search</a:t>
            </a:r>
            <a:r>
              <a:rPr dirty="0" sz="6100" spc="-45">
                <a:solidFill>
                  <a:srgbClr val="0E2642"/>
                </a:solidFill>
              </a:rPr>
              <a:t> </a:t>
            </a:r>
            <a:r>
              <a:rPr dirty="0" sz="6100">
                <a:solidFill>
                  <a:srgbClr val="0E2642"/>
                </a:solidFill>
              </a:rPr>
              <a:t>for</a:t>
            </a:r>
            <a:r>
              <a:rPr dirty="0" sz="6100" spc="70">
                <a:solidFill>
                  <a:srgbClr val="0E2642"/>
                </a:solidFill>
              </a:rPr>
              <a:t> </a:t>
            </a:r>
            <a:r>
              <a:rPr dirty="0" sz="6100" spc="60">
                <a:solidFill>
                  <a:srgbClr val="0E2642"/>
                </a:solidFill>
              </a:rPr>
              <a:t>True</a:t>
            </a:r>
            <a:r>
              <a:rPr dirty="0" sz="6100" spc="-120">
                <a:solidFill>
                  <a:srgbClr val="0E2642"/>
                </a:solidFill>
              </a:rPr>
              <a:t> </a:t>
            </a:r>
            <a:r>
              <a:rPr dirty="0" sz="6100" spc="120">
                <a:solidFill>
                  <a:srgbClr val="0E2642"/>
                </a:solidFill>
              </a:rPr>
              <a:t>Impact</a:t>
            </a:r>
            <a:endParaRPr sz="6100"/>
          </a:p>
          <a:p>
            <a:pPr algn="ctr" marL="1141095" marR="1099185">
              <a:lnSpc>
                <a:spcPts val="3520"/>
              </a:lnSpc>
              <a:spcBef>
                <a:spcPts val="1090"/>
              </a:spcBef>
            </a:pPr>
            <a:r>
              <a:rPr dirty="0" sz="3000" spc="60" b="0">
                <a:solidFill>
                  <a:srgbClr val="5B6972"/>
                </a:solidFill>
                <a:latin typeface="Arial"/>
                <a:cs typeface="Arial"/>
              </a:rPr>
              <a:t>Moving</a:t>
            </a:r>
            <a:r>
              <a:rPr dirty="0" sz="3000" spc="90" b="0">
                <a:solidFill>
                  <a:srgbClr val="5B6972"/>
                </a:solidFill>
                <a:latin typeface="Arial"/>
                <a:cs typeface="Arial"/>
              </a:rPr>
              <a:t> </a:t>
            </a:r>
            <a:r>
              <a:rPr dirty="0" sz="3000" b="0">
                <a:solidFill>
                  <a:srgbClr val="5B6972"/>
                </a:solidFill>
                <a:latin typeface="Arial"/>
                <a:cs typeface="Arial"/>
              </a:rPr>
              <a:t>beyond</a:t>
            </a:r>
            <a:r>
              <a:rPr dirty="0" sz="3000" spc="195" b="0">
                <a:solidFill>
                  <a:srgbClr val="5B6972"/>
                </a:solidFill>
                <a:latin typeface="Arial"/>
                <a:cs typeface="Arial"/>
              </a:rPr>
              <a:t> </a:t>
            </a:r>
            <a:r>
              <a:rPr dirty="0" sz="3000" spc="65" b="0">
                <a:solidFill>
                  <a:srgbClr val="5B6972"/>
                </a:solidFill>
                <a:latin typeface="Arial"/>
                <a:cs typeface="Arial"/>
              </a:rPr>
              <a:t>simple</a:t>
            </a:r>
            <a:r>
              <a:rPr dirty="0" sz="3000" spc="90" b="0">
                <a:solidFill>
                  <a:srgbClr val="5B6972"/>
                </a:solidFill>
                <a:latin typeface="Arial"/>
                <a:cs typeface="Arial"/>
              </a:rPr>
              <a:t> </a:t>
            </a:r>
            <a:r>
              <a:rPr dirty="0" sz="3000" b="0">
                <a:solidFill>
                  <a:srgbClr val="5B6972"/>
                </a:solidFill>
                <a:latin typeface="Arial"/>
                <a:cs typeface="Arial"/>
              </a:rPr>
              <a:t>correlation</a:t>
            </a:r>
            <a:r>
              <a:rPr dirty="0" sz="3000" spc="250" b="0">
                <a:solidFill>
                  <a:srgbClr val="5B6972"/>
                </a:solidFill>
                <a:latin typeface="Arial"/>
                <a:cs typeface="Arial"/>
              </a:rPr>
              <a:t> </a:t>
            </a:r>
            <a:r>
              <a:rPr dirty="0" sz="3000" b="0">
                <a:solidFill>
                  <a:srgbClr val="5B6972"/>
                </a:solidFill>
                <a:latin typeface="Arial"/>
                <a:cs typeface="Arial"/>
              </a:rPr>
              <a:t>to</a:t>
            </a:r>
            <a:r>
              <a:rPr dirty="0" sz="3000" spc="300" b="0">
                <a:solidFill>
                  <a:srgbClr val="5B6972"/>
                </a:solidFill>
                <a:latin typeface="Arial"/>
                <a:cs typeface="Arial"/>
              </a:rPr>
              <a:t> </a:t>
            </a:r>
            <a:r>
              <a:rPr dirty="0" sz="3000" b="0">
                <a:solidFill>
                  <a:srgbClr val="5B6972"/>
                </a:solidFill>
                <a:latin typeface="Arial"/>
                <a:cs typeface="Arial"/>
              </a:rPr>
              <a:t>measure</a:t>
            </a:r>
            <a:r>
              <a:rPr dirty="0" sz="3000" spc="210" b="0">
                <a:solidFill>
                  <a:srgbClr val="5B6972"/>
                </a:solidFill>
                <a:latin typeface="Arial"/>
                <a:cs typeface="Arial"/>
              </a:rPr>
              <a:t> </a:t>
            </a:r>
            <a:r>
              <a:rPr dirty="0" sz="3000" spc="40" b="0">
                <a:solidFill>
                  <a:srgbClr val="5B6972"/>
                </a:solidFill>
                <a:latin typeface="Arial"/>
                <a:cs typeface="Arial"/>
              </a:rPr>
              <a:t>causal </a:t>
            </a:r>
            <a:r>
              <a:rPr dirty="0" sz="3000" spc="90" b="0">
                <a:solidFill>
                  <a:srgbClr val="5B6972"/>
                </a:solidFill>
                <a:latin typeface="Arial"/>
                <a:cs typeface="Arial"/>
              </a:rPr>
              <a:t>effect</a:t>
            </a:r>
            <a:r>
              <a:rPr dirty="0" sz="3000" spc="75" b="0">
                <a:solidFill>
                  <a:srgbClr val="5B6972"/>
                </a:solidFill>
                <a:latin typeface="Arial"/>
                <a:cs typeface="Arial"/>
              </a:rPr>
              <a:t> </a:t>
            </a:r>
            <a:r>
              <a:rPr dirty="0" sz="3000" spc="80" b="0">
                <a:solidFill>
                  <a:srgbClr val="5B6972"/>
                </a:solidFill>
                <a:latin typeface="Arial"/>
                <a:cs typeface="Arial"/>
              </a:rPr>
              <a:t>using</a:t>
            </a:r>
            <a:r>
              <a:rPr dirty="0" sz="3000" spc="-65" b="0">
                <a:solidFill>
                  <a:srgbClr val="5B6972"/>
                </a:solidFill>
                <a:latin typeface="Arial"/>
                <a:cs typeface="Arial"/>
              </a:rPr>
              <a:t> </a:t>
            </a:r>
            <a:r>
              <a:rPr dirty="0" sz="3000" b="0">
                <a:solidFill>
                  <a:srgbClr val="5B6972"/>
                </a:solidFill>
                <a:latin typeface="Arial"/>
                <a:cs typeface="Arial"/>
              </a:rPr>
              <a:t>a</a:t>
            </a:r>
            <a:r>
              <a:rPr dirty="0" sz="3000" spc="25" b="0">
                <a:solidFill>
                  <a:srgbClr val="5B6972"/>
                </a:solidFill>
                <a:latin typeface="Arial"/>
                <a:cs typeface="Arial"/>
              </a:rPr>
              <a:t> </a:t>
            </a:r>
            <a:r>
              <a:rPr dirty="0" sz="3000" b="0">
                <a:solidFill>
                  <a:srgbClr val="5B6972"/>
                </a:solidFill>
                <a:latin typeface="Arial"/>
                <a:cs typeface="Arial"/>
              </a:rPr>
              <a:t>Multi-Agent</a:t>
            </a:r>
            <a:r>
              <a:rPr dirty="0" sz="3000" spc="295" b="0">
                <a:solidFill>
                  <a:srgbClr val="5B6972"/>
                </a:solidFill>
                <a:latin typeface="Arial"/>
                <a:cs typeface="Arial"/>
              </a:rPr>
              <a:t> </a:t>
            </a:r>
            <a:r>
              <a:rPr dirty="0" sz="3000" spc="75" b="0">
                <a:solidFill>
                  <a:srgbClr val="5B6972"/>
                </a:solidFill>
                <a:latin typeface="Arial"/>
                <a:cs typeface="Arial"/>
              </a:rPr>
              <a:t>LLM</a:t>
            </a:r>
            <a:r>
              <a:rPr dirty="0" sz="3000" spc="-45" b="0">
                <a:solidFill>
                  <a:srgbClr val="5B6972"/>
                </a:solidFill>
                <a:latin typeface="Arial"/>
                <a:cs typeface="Arial"/>
              </a:rPr>
              <a:t> </a:t>
            </a:r>
            <a:r>
              <a:rPr dirty="0" sz="3000" spc="-10" b="0">
                <a:solidFill>
                  <a:srgbClr val="5B6972"/>
                </a:solidFill>
                <a:latin typeface="Arial"/>
                <a:cs typeface="Arial"/>
              </a:rPr>
              <a:t>Framework.</a:t>
            </a:r>
            <a:endParaRPr sz="30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2A3442"/>
                </a:solidFill>
              </a:rPr>
              <a:t>Isl\</a:t>
            </a:r>
            <a:r>
              <a:rPr dirty="0" sz="1300" spc="-45">
                <a:solidFill>
                  <a:srgbClr val="2A3442"/>
                </a:solidFill>
              </a:rPr>
              <a:t> </a:t>
            </a:r>
            <a:r>
              <a:rPr dirty="0" spc="-10">
                <a:solidFill>
                  <a:srgbClr val="181A1A"/>
                </a:solidFill>
              </a:rPr>
              <a:t>N</a:t>
            </a:r>
            <a:r>
              <a:rPr dirty="0" spc="-10">
                <a:solidFill>
                  <a:srgbClr val="2A3442"/>
                </a:solidFill>
              </a:rPr>
              <a:t>otebookL</a:t>
            </a:r>
            <a:r>
              <a:rPr dirty="0" spc="-10">
                <a:solidFill>
                  <a:srgbClr val="181A1A"/>
                </a:solidFill>
              </a:rPr>
              <a:t>M</a:t>
            </a:r>
            <a:endParaRPr sz="1300"/>
          </a:p>
        </p:txBody>
      </p:sp>
      <p:sp>
        <p:nvSpPr>
          <p:cNvPr id="3" name="object 3"/>
          <p:cNvSpPr txBox="1"/>
          <p:nvPr/>
        </p:nvSpPr>
        <p:spPr>
          <a:xfrm>
            <a:off x="3974393" y="8981314"/>
            <a:ext cx="2258695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195">
                <a:solidFill>
                  <a:srgbClr val="2A3442"/>
                </a:solidFill>
                <a:latin typeface="Arial"/>
                <a:cs typeface="Arial"/>
              </a:rPr>
              <a:t>Al-</a:t>
            </a:r>
            <a:r>
              <a:rPr dirty="0" sz="2250" spc="350">
                <a:solidFill>
                  <a:srgbClr val="2A3442"/>
                </a:solidFill>
                <a:latin typeface="Arial"/>
                <a:cs typeface="Arial"/>
              </a:rPr>
              <a:t>POWERED</a:t>
            </a:r>
            <a:endParaRPr sz="22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32619" y="8981314"/>
            <a:ext cx="2393950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345">
                <a:solidFill>
                  <a:srgbClr val="2A3442"/>
                </a:solidFill>
                <a:latin typeface="Arial"/>
                <a:cs typeface="Arial"/>
              </a:rPr>
              <a:t>AUTOMATION</a:t>
            </a:r>
            <a:endParaRPr sz="22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9749" y="8981314"/>
            <a:ext cx="2287270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375">
                <a:solidFill>
                  <a:srgbClr val="2A3442"/>
                </a:solidFill>
                <a:latin typeface="Arial"/>
                <a:cs typeface="Arial"/>
              </a:rPr>
              <a:t>FOR</a:t>
            </a:r>
            <a:r>
              <a:rPr dirty="0" sz="2250" spc="265">
                <a:solidFill>
                  <a:srgbClr val="2A3442"/>
                </a:solidFill>
                <a:latin typeface="Arial"/>
                <a:cs typeface="Arial"/>
              </a:rPr>
              <a:t> </a:t>
            </a:r>
            <a:r>
              <a:rPr dirty="0" sz="2250" spc="315">
                <a:solidFill>
                  <a:srgbClr val="2A3442"/>
                </a:solidFill>
                <a:latin typeface="Arial"/>
                <a:cs typeface="Arial"/>
              </a:rPr>
              <a:t>CAUSAL</a:t>
            </a:r>
            <a:endParaRPr sz="22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474822" y="8981314"/>
            <a:ext cx="2042795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300">
                <a:solidFill>
                  <a:srgbClr val="2A3442"/>
                </a:solidFill>
                <a:latin typeface="Arial"/>
                <a:cs typeface="Arial"/>
              </a:rPr>
              <a:t>INFERENCE</a:t>
            </a:r>
            <a:endParaRPr sz="2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37526" y="1557733"/>
            <a:ext cx="1986959" cy="178726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37526" y="3447124"/>
            <a:ext cx="815162" cy="191492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902801" y="1021556"/>
            <a:ext cx="5451401" cy="24511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539046" y="3804575"/>
            <a:ext cx="815162" cy="28085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737526" y="4289689"/>
            <a:ext cx="7642151" cy="4340489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8737526" y="2936477"/>
            <a:ext cx="0" cy="741045"/>
          </a:xfrm>
          <a:custGeom>
            <a:avLst/>
            <a:gdLst/>
            <a:ahLst/>
            <a:cxnLst/>
            <a:rect l="l" t="t" r="r" b="b"/>
            <a:pathLst>
              <a:path w="0" h="741045">
                <a:moveTo>
                  <a:pt x="0" y="740436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501741" y="5362044"/>
            <a:ext cx="0" cy="664210"/>
          </a:xfrm>
          <a:custGeom>
            <a:avLst/>
            <a:gdLst/>
            <a:ahLst/>
            <a:cxnLst/>
            <a:rect l="l" t="t" r="r" b="b"/>
            <a:pathLst>
              <a:path w="0" h="664210">
                <a:moveTo>
                  <a:pt x="0" y="663839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4723879" y="842830"/>
            <a:ext cx="407670" cy="0"/>
          </a:xfrm>
          <a:custGeom>
            <a:avLst/>
            <a:gdLst/>
            <a:ahLst/>
            <a:cxnLst/>
            <a:rect l="l" t="t" r="r" b="b"/>
            <a:pathLst>
              <a:path w="407669" h="0">
                <a:moveTo>
                  <a:pt x="0" y="0"/>
                </a:moveTo>
                <a:lnTo>
                  <a:pt x="407581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985744" y="842830"/>
            <a:ext cx="917575" cy="0"/>
          </a:xfrm>
          <a:custGeom>
            <a:avLst/>
            <a:gdLst/>
            <a:ahLst/>
            <a:cxnLst/>
            <a:rect l="l" t="t" r="r" b="b"/>
            <a:pathLst>
              <a:path w="917575" h="0">
                <a:moveTo>
                  <a:pt x="0" y="0"/>
                </a:moveTo>
                <a:lnTo>
                  <a:pt x="917058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0520695" y="1059854"/>
            <a:ext cx="560705" cy="0"/>
          </a:xfrm>
          <a:custGeom>
            <a:avLst/>
            <a:gdLst/>
            <a:ahLst/>
            <a:cxnLst/>
            <a:rect l="l" t="t" r="r" b="b"/>
            <a:pathLst>
              <a:path w="560704" h="0">
                <a:moveTo>
                  <a:pt x="0" y="0"/>
                </a:moveTo>
                <a:lnTo>
                  <a:pt x="560424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044427" y="8770604"/>
            <a:ext cx="6445250" cy="0"/>
          </a:xfrm>
          <a:custGeom>
            <a:avLst/>
            <a:gdLst/>
            <a:ahLst/>
            <a:cxnLst/>
            <a:rect l="l" t="t" r="r" b="b"/>
            <a:pathLst>
              <a:path w="6445250" h="0">
                <a:moveTo>
                  <a:pt x="0" y="0"/>
                </a:moveTo>
                <a:lnTo>
                  <a:pt x="6444881" y="0"/>
                </a:lnTo>
              </a:path>
            </a:pathLst>
          </a:custGeom>
          <a:ln w="3175">
            <a:solidFill>
              <a:srgbClr val="E4E4E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262240" y="1455671"/>
            <a:ext cx="5927725" cy="1304925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 marR="5080">
              <a:lnSpc>
                <a:spcPts val="5130"/>
              </a:lnSpc>
              <a:spcBef>
                <a:spcPts val="10"/>
              </a:spcBef>
            </a:pPr>
            <a:r>
              <a:rPr dirty="0" sz="4100" spc="165" b="1">
                <a:solidFill>
                  <a:srgbClr val="112A46"/>
                </a:solidFill>
                <a:latin typeface="Arial"/>
                <a:cs typeface="Arial"/>
              </a:rPr>
              <a:t>The</a:t>
            </a:r>
            <a:r>
              <a:rPr dirty="0" sz="4100" spc="-260" b="1">
                <a:solidFill>
                  <a:srgbClr val="112A46"/>
                </a:solidFill>
                <a:latin typeface="Arial"/>
                <a:cs typeface="Arial"/>
              </a:rPr>
              <a:t> </a:t>
            </a:r>
            <a:r>
              <a:rPr dirty="0" sz="4100" spc="55" b="1">
                <a:solidFill>
                  <a:srgbClr val="112A46"/>
                </a:solidFill>
                <a:latin typeface="Arial"/>
                <a:cs typeface="Arial"/>
              </a:rPr>
              <a:t>Limits</a:t>
            </a:r>
            <a:r>
              <a:rPr dirty="0" sz="4100" spc="-215" b="1">
                <a:solidFill>
                  <a:srgbClr val="112A46"/>
                </a:solidFill>
                <a:latin typeface="Arial"/>
                <a:cs typeface="Arial"/>
              </a:rPr>
              <a:t> </a:t>
            </a:r>
            <a:r>
              <a:rPr dirty="0" sz="4100" spc="125" b="1">
                <a:solidFill>
                  <a:srgbClr val="112A46"/>
                </a:solidFill>
                <a:latin typeface="Arial"/>
                <a:cs typeface="Arial"/>
              </a:rPr>
              <a:t>of </a:t>
            </a:r>
            <a:r>
              <a:rPr dirty="0" sz="4100" spc="50" b="1">
                <a:solidFill>
                  <a:srgbClr val="112A46"/>
                </a:solidFill>
                <a:latin typeface="Arial"/>
                <a:cs typeface="Arial"/>
              </a:rPr>
              <a:t>Traditional</a:t>
            </a:r>
            <a:r>
              <a:rPr dirty="0" sz="4100" spc="120" b="1">
                <a:solidFill>
                  <a:srgbClr val="112A46"/>
                </a:solidFill>
                <a:latin typeface="Arial"/>
                <a:cs typeface="Arial"/>
              </a:rPr>
              <a:t> </a:t>
            </a:r>
            <a:r>
              <a:rPr dirty="0" sz="4100" spc="135" b="1">
                <a:solidFill>
                  <a:srgbClr val="112A46"/>
                </a:solidFill>
                <a:latin typeface="Arial"/>
                <a:cs typeface="Arial"/>
              </a:rPr>
              <a:t>A/B</a:t>
            </a:r>
            <a:r>
              <a:rPr dirty="0" sz="4100" spc="-195" b="1">
                <a:solidFill>
                  <a:srgbClr val="112A46"/>
                </a:solidFill>
                <a:latin typeface="Arial"/>
                <a:cs typeface="Arial"/>
              </a:rPr>
              <a:t> </a:t>
            </a:r>
            <a:r>
              <a:rPr dirty="0" sz="4100" spc="65" b="1">
                <a:solidFill>
                  <a:srgbClr val="112A46"/>
                </a:solidFill>
                <a:latin typeface="Arial"/>
                <a:cs typeface="Arial"/>
              </a:rPr>
              <a:t>Testing</a:t>
            </a:r>
            <a:endParaRPr sz="41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57527" y="3306762"/>
            <a:ext cx="5790565" cy="1452880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288925" marR="5080" indent="-276860">
              <a:lnSpc>
                <a:spcPct val="96600"/>
              </a:lnSpc>
              <a:spcBef>
                <a:spcPts val="210"/>
              </a:spcBef>
              <a:buFont typeface="Arial"/>
              <a:buChar char="•"/>
              <a:tabLst>
                <a:tab pos="288925" algn="l"/>
              </a:tabLst>
            </a:pPr>
            <a:r>
              <a:rPr dirty="0" sz="2400" spc="-80" b="1">
                <a:solidFill>
                  <a:srgbClr val="112A46"/>
                </a:solidFill>
                <a:latin typeface="Arial"/>
                <a:cs typeface="Arial"/>
              </a:rPr>
              <a:t>The</a:t>
            </a:r>
            <a:r>
              <a:rPr dirty="0" sz="2400" spc="-155" b="1">
                <a:solidFill>
                  <a:srgbClr val="112A46"/>
                </a:solidFill>
                <a:latin typeface="Arial"/>
                <a:cs typeface="Arial"/>
              </a:rPr>
              <a:t> </a:t>
            </a:r>
            <a:r>
              <a:rPr dirty="0" sz="2400" spc="-130" b="1">
                <a:solidFill>
                  <a:srgbClr val="112A46"/>
                </a:solidFill>
                <a:latin typeface="Arial"/>
                <a:cs typeface="Arial"/>
              </a:rPr>
              <a:t>Challenge:</a:t>
            </a:r>
            <a:r>
              <a:rPr dirty="0" sz="2400" spc="-195" b="1">
                <a:solidFill>
                  <a:srgbClr val="112A46"/>
                </a:solidFill>
                <a:latin typeface="Arial"/>
                <a:cs typeface="Arial"/>
              </a:rPr>
              <a:t> </a:t>
            </a:r>
            <a:r>
              <a:rPr dirty="0" sz="2400" spc="95">
                <a:solidFill>
                  <a:srgbClr val="161618"/>
                </a:solidFill>
                <a:latin typeface="Arial"/>
                <a:cs typeface="Arial"/>
              </a:rPr>
              <a:t>In</a:t>
            </a:r>
            <a:r>
              <a:rPr dirty="0" sz="2400" spc="-320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400" spc="-35">
                <a:solidFill>
                  <a:srgbClr val="161618"/>
                </a:solidFill>
                <a:latin typeface="Arial"/>
                <a:cs typeface="Arial"/>
              </a:rPr>
              <a:t>complex</a:t>
            </a:r>
            <a:r>
              <a:rPr dirty="0" sz="2400" spc="-60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400" spc="-35">
                <a:solidFill>
                  <a:srgbClr val="161618"/>
                </a:solidFill>
                <a:latin typeface="Arial"/>
                <a:cs typeface="Arial"/>
              </a:rPr>
              <a:t>real</a:t>
            </a:r>
            <a:r>
              <a:rPr dirty="0" sz="2400" spc="-35">
                <a:solidFill>
                  <a:srgbClr val="3F3F41"/>
                </a:solidFill>
                <a:latin typeface="Arial"/>
                <a:cs typeface="Arial"/>
              </a:rPr>
              <a:t>-</a:t>
            </a:r>
            <a:r>
              <a:rPr dirty="0" sz="2400" spc="-10">
                <a:solidFill>
                  <a:srgbClr val="161618"/>
                </a:solidFill>
                <a:latin typeface="Arial"/>
                <a:cs typeface="Arial"/>
              </a:rPr>
              <a:t>world </a:t>
            </a:r>
            <a:r>
              <a:rPr dirty="0" sz="2400" spc="-55">
                <a:solidFill>
                  <a:srgbClr val="161618"/>
                </a:solidFill>
                <a:latin typeface="Arial"/>
                <a:cs typeface="Arial"/>
              </a:rPr>
              <a:t>environments,</a:t>
            </a:r>
            <a:r>
              <a:rPr dirty="0" sz="2400" spc="-110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400" spc="114">
                <a:solidFill>
                  <a:srgbClr val="161618"/>
                </a:solidFill>
                <a:latin typeface="Arial"/>
                <a:cs typeface="Arial"/>
              </a:rPr>
              <a:t>A/8</a:t>
            </a:r>
            <a:r>
              <a:rPr dirty="0" sz="2400" spc="-260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161618"/>
                </a:solidFill>
                <a:latin typeface="Arial"/>
                <a:cs typeface="Arial"/>
              </a:rPr>
              <a:t>testing</a:t>
            </a:r>
            <a:r>
              <a:rPr dirty="0" sz="2400" spc="-140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161618"/>
                </a:solidFill>
                <a:latin typeface="Arial"/>
                <a:cs typeface="Arial"/>
              </a:rPr>
              <a:t>is often</a:t>
            </a:r>
            <a:r>
              <a:rPr dirty="0" sz="2400" spc="-85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400" spc="-20">
                <a:solidFill>
                  <a:srgbClr val="161618"/>
                </a:solidFill>
                <a:latin typeface="Arial"/>
                <a:cs typeface="Arial"/>
              </a:rPr>
              <a:t>skewed </a:t>
            </a:r>
            <a:r>
              <a:rPr dirty="0" sz="2400">
                <a:solidFill>
                  <a:srgbClr val="161618"/>
                </a:solidFill>
                <a:latin typeface="Arial"/>
                <a:cs typeface="Arial"/>
              </a:rPr>
              <a:t>by</a:t>
            </a:r>
            <a:r>
              <a:rPr dirty="0" sz="2400" spc="-245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400" spc="-20">
                <a:solidFill>
                  <a:srgbClr val="161618"/>
                </a:solidFill>
                <a:latin typeface="Arial"/>
                <a:cs typeface="Arial"/>
              </a:rPr>
              <a:t>confounding</a:t>
            </a:r>
            <a:r>
              <a:rPr dirty="0" sz="2400" spc="-114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400" spc="-45">
                <a:solidFill>
                  <a:srgbClr val="161618"/>
                </a:solidFill>
                <a:latin typeface="Arial"/>
                <a:cs typeface="Arial"/>
              </a:rPr>
              <a:t>variables</a:t>
            </a:r>
            <a:r>
              <a:rPr dirty="0" sz="2400" spc="-55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400" spc="-20">
                <a:solidFill>
                  <a:srgbClr val="161618"/>
                </a:solidFill>
                <a:latin typeface="Arial"/>
                <a:cs typeface="Arial"/>
              </a:rPr>
              <a:t>like</a:t>
            </a:r>
            <a:r>
              <a:rPr dirty="0" sz="2400" spc="-290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161618"/>
                </a:solidFill>
                <a:latin typeface="Arial"/>
                <a:cs typeface="Arial"/>
              </a:rPr>
              <a:t>seasonality, </a:t>
            </a:r>
            <a:r>
              <a:rPr dirty="0" sz="2400" spc="-50">
                <a:solidFill>
                  <a:srgbClr val="161618"/>
                </a:solidFill>
                <a:latin typeface="Arial"/>
                <a:cs typeface="Arial"/>
              </a:rPr>
              <a:t>demographics</a:t>
            </a:r>
            <a:r>
              <a:rPr dirty="0" sz="2400" spc="-50">
                <a:solidFill>
                  <a:srgbClr val="2F2F31"/>
                </a:solidFill>
                <a:latin typeface="Arial"/>
                <a:cs typeface="Arial"/>
              </a:rPr>
              <a:t>,</a:t>
            </a:r>
            <a:r>
              <a:rPr dirty="0" sz="2400" spc="-270">
                <a:solidFill>
                  <a:srgbClr val="2F2F31"/>
                </a:solidFill>
                <a:latin typeface="Arial"/>
                <a:cs typeface="Arial"/>
              </a:rPr>
              <a:t> </a:t>
            </a:r>
            <a:r>
              <a:rPr dirty="0" sz="2400" spc="-50">
                <a:solidFill>
                  <a:srgbClr val="161618"/>
                </a:solidFill>
                <a:latin typeface="Arial"/>
                <a:cs typeface="Arial"/>
              </a:rPr>
              <a:t>and</a:t>
            </a:r>
            <a:r>
              <a:rPr dirty="0" sz="2400" spc="-180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161618"/>
                </a:solidFill>
                <a:latin typeface="Arial"/>
                <a:cs typeface="Arial"/>
              </a:rPr>
              <a:t>prior</a:t>
            </a:r>
            <a:r>
              <a:rPr dirty="0" sz="2400" spc="-65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161618"/>
                </a:solidFill>
                <a:latin typeface="Arial"/>
                <a:cs typeface="Arial"/>
              </a:rPr>
              <a:t>behavior</a:t>
            </a:r>
            <a:r>
              <a:rPr dirty="0" sz="2400" spc="-10">
                <a:solidFill>
                  <a:srgbClr val="2F2F31"/>
                </a:solidFill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57527" y="5208917"/>
            <a:ext cx="5680710" cy="1095375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289560" marR="5080" indent="-277495">
              <a:lnSpc>
                <a:spcPct val="96000"/>
              </a:lnSpc>
              <a:spcBef>
                <a:spcPts val="225"/>
              </a:spcBef>
              <a:buFont typeface="Arial"/>
              <a:buChar char="•"/>
              <a:tabLst>
                <a:tab pos="295275" algn="l"/>
              </a:tabLst>
            </a:pPr>
            <a:r>
              <a:rPr dirty="0" sz="2400" spc="-80" b="1">
                <a:solidFill>
                  <a:srgbClr val="112A46"/>
                </a:solidFill>
                <a:latin typeface="Arial"/>
                <a:cs typeface="Arial"/>
              </a:rPr>
              <a:t>The</a:t>
            </a:r>
            <a:r>
              <a:rPr dirty="0" sz="2400" spc="-229" b="1">
                <a:solidFill>
                  <a:srgbClr val="112A46"/>
                </a:solidFill>
                <a:latin typeface="Arial"/>
                <a:cs typeface="Arial"/>
              </a:rPr>
              <a:t> </a:t>
            </a:r>
            <a:r>
              <a:rPr dirty="0" sz="2400" spc="-125" b="1">
                <a:solidFill>
                  <a:srgbClr val="112A46"/>
                </a:solidFill>
                <a:latin typeface="Arial"/>
                <a:cs typeface="Arial"/>
              </a:rPr>
              <a:t>Risk:</a:t>
            </a:r>
            <a:r>
              <a:rPr dirty="0" sz="2400" spc="-145" b="1">
                <a:solidFill>
                  <a:srgbClr val="112A46"/>
                </a:solidFill>
                <a:latin typeface="Arial"/>
                <a:cs typeface="Arial"/>
              </a:rPr>
              <a:t> </a:t>
            </a:r>
            <a:r>
              <a:rPr dirty="0" sz="2400" spc="-95">
                <a:solidFill>
                  <a:srgbClr val="161618"/>
                </a:solidFill>
                <a:latin typeface="Arial"/>
                <a:cs typeface="Arial"/>
              </a:rPr>
              <a:t>Relying</a:t>
            </a:r>
            <a:r>
              <a:rPr dirty="0" sz="2400">
                <a:solidFill>
                  <a:srgbClr val="161618"/>
                </a:solidFill>
                <a:latin typeface="Arial"/>
                <a:cs typeface="Arial"/>
              </a:rPr>
              <a:t> on</a:t>
            </a:r>
            <a:r>
              <a:rPr dirty="0" sz="2400" spc="-240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400" spc="-20">
                <a:solidFill>
                  <a:srgbClr val="161618"/>
                </a:solidFill>
                <a:latin typeface="Arial"/>
                <a:cs typeface="Arial"/>
              </a:rPr>
              <a:t>simple</a:t>
            </a:r>
            <a:r>
              <a:rPr dirty="0" sz="2400" spc="-140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161618"/>
                </a:solidFill>
                <a:latin typeface="Arial"/>
                <a:cs typeface="Arial"/>
              </a:rPr>
              <a:t>correlation </a:t>
            </a:r>
            <a:r>
              <a:rPr dirty="0" sz="2400" spc="-10">
                <a:solidFill>
                  <a:srgbClr val="161618"/>
                </a:solidFill>
                <a:latin typeface="Arial"/>
                <a:cs typeface="Arial"/>
              </a:rPr>
              <a:t>	</a:t>
            </a:r>
            <a:r>
              <a:rPr dirty="0" sz="2400" spc="-35">
                <a:solidFill>
                  <a:srgbClr val="161618"/>
                </a:solidFill>
                <a:latin typeface="Arial"/>
                <a:cs typeface="Arial"/>
              </a:rPr>
              <a:t>can</a:t>
            </a:r>
            <a:r>
              <a:rPr dirty="0" sz="2400" spc="-200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400" spc="-35">
                <a:solidFill>
                  <a:srgbClr val="161618"/>
                </a:solidFill>
                <a:latin typeface="Arial"/>
                <a:cs typeface="Arial"/>
              </a:rPr>
              <a:t>lead</a:t>
            </a:r>
            <a:r>
              <a:rPr dirty="0" sz="2400" spc="-180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400" spc="95">
                <a:solidFill>
                  <a:srgbClr val="161618"/>
                </a:solidFill>
                <a:latin typeface="Arial"/>
                <a:cs typeface="Arial"/>
              </a:rPr>
              <a:t>to</a:t>
            </a:r>
            <a:r>
              <a:rPr dirty="0" sz="2400" spc="-275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400" spc="-35">
                <a:solidFill>
                  <a:srgbClr val="161618"/>
                </a:solidFill>
                <a:latin typeface="Arial"/>
                <a:cs typeface="Arial"/>
              </a:rPr>
              <a:t>misleading</a:t>
            </a:r>
            <a:r>
              <a:rPr dirty="0" sz="2400" spc="-125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400" spc="-20">
                <a:solidFill>
                  <a:srgbClr val="161618"/>
                </a:solidFill>
                <a:latin typeface="Arial"/>
                <a:cs typeface="Arial"/>
              </a:rPr>
              <a:t>conclusions</a:t>
            </a:r>
            <a:r>
              <a:rPr dirty="0" sz="2400" spc="-15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400" spc="-35">
                <a:solidFill>
                  <a:srgbClr val="161618"/>
                </a:solidFill>
                <a:latin typeface="Arial"/>
                <a:cs typeface="Arial"/>
              </a:rPr>
              <a:t>about </a:t>
            </a:r>
            <a:r>
              <a:rPr dirty="0" sz="2400" spc="-35">
                <a:solidFill>
                  <a:srgbClr val="161618"/>
                </a:solidFill>
                <a:latin typeface="Arial"/>
                <a:cs typeface="Arial"/>
              </a:rPr>
              <a:t>	</a:t>
            </a:r>
            <a:r>
              <a:rPr dirty="0" sz="2400">
                <a:solidFill>
                  <a:srgbClr val="161618"/>
                </a:solidFill>
                <a:latin typeface="Arial"/>
                <a:cs typeface="Arial"/>
              </a:rPr>
              <a:t>what</a:t>
            </a:r>
            <a:r>
              <a:rPr dirty="0" sz="2400" spc="-155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400" spc="-25">
                <a:solidFill>
                  <a:srgbClr val="161618"/>
                </a:solidFill>
                <a:latin typeface="Arial"/>
                <a:cs typeface="Arial"/>
              </a:rPr>
              <a:t>actually</a:t>
            </a:r>
            <a:r>
              <a:rPr dirty="0" sz="2400" spc="-10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400" spc="-85">
                <a:solidFill>
                  <a:srgbClr val="161618"/>
                </a:solidFill>
                <a:latin typeface="Arial"/>
                <a:cs typeface="Arial"/>
              </a:rPr>
              <a:t>drove</a:t>
            </a:r>
            <a:r>
              <a:rPr dirty="0" sz="2400" spc="-114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400" spc="-50">
                <a:solidFill>
                  <a:srgbClr val="161618"/>
                </a:solidFill>
                <a:latin typeface="Arial"/>
                <a:cs typeface="Arial"/>
              </a:rPr>
              <a:t>an</a:t>
            </a:r>
            <a:r>
              <a:rPr dirty="0" sz="2400" spc="-150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161618"/>
                </a:solidFill>
                <a:latin typeface="Arial"/>
                <a:cs typeface="Arial"/>
              </a:rPr>
              <a:t>outcome</a:t>
            </a:r>
            <a:r>
              <a:rPr dirty="0" sz="2400" spc="-10">
                <a:solidFill>
                  <a:srgbClr val="2F2F31"/>
                </a:solidFill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57527" y="6689790"/>
            <a:ext cx="5751830" cy="1452880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285115" marR="5080" indent="-273050">
              <a:lnSpc>
                <a:spcPct val="96600"/>
              </a:lnSpc>
              <a:spcBef>
                <a:spcPts val="210"/>
              </a:spcBef>
              <a:buChar char="•"/>
              <a:tabLst>
                <a:tab pos="285115" algn="l"/>
                <a:tab pos="289560" algn="l"/>
              </a:tabLst>
            </a:pPr>
            <a:r>
              <a:rPr dirty="0" sz="2400">
                <a:solidFill>
                  <a:srgbClr val="112A46"/>
                </a:solidFill>
                <a:latin typeface="Arial"/>
                <a:cs typeface="Arial"/>
              </a:rPr>
              <a:t>	</a:t>
            </a:r>
            <a:r>
              <a:rPr dirty="0" sz="2400" spc="-80" b="1">
                <a:solidFill>
                  <a:srgbClr val="112A46"/>
                </a:solidFill>
                <a:latin typeface="Arial"/>
                <a:cs typeface="Arial"/>
              </a:rPr>
              <a:t>The</a:t>
            </a:r>
            <a:r>
              <a:rPr dirty="0" sz="2400" spc="-240" b="1">
                <a:solidFill>
                  <a:srgbClr val="112A46"/>
                </a:solidFill>
                <a:latin typeface="Arial"/>
                <a:cs typeface="Arial"/>
              </a:rPr>
              <a:t> </a:t>
            </a:r>
            <a:r>
              <a:rPr dirty="0" sz="2400" spc="-114" b="1">
                <a:solidFill>
                  <a:srgbClr val="112A46"/>
                </a:solidFill>
                <a:latin typeface="Arial"/>
                <a:cs typeface="Arial"/>
              </a:rPr>
              <a:t>Need:</a:t>
            </a:r>
            <a:r>
              <a:rPr dirty="0" sz="2400" spc="-85" b="1">
                <a:solidFill>
                  <a:srgbClr val="112A46"/>
                </a:solidFill>
                <a:latin typeface="Arial"/>
                <a:cs typeface="Arial"/>
              </a:rPr>
              <a:t> </a:t>
            </a:r>
            <a:r>
              <a:rPr dirty="0" sz="2400" spc="-60">
                <a:solidFill>
                  <a:srgbClr val="161618"/>
                </a:solidFill>
                <a:latin typeface="Arial"/>
                <a:cs typeface="Arial"/>
              </a:rPr>
              <a:t>Business</a:t>
            </a:r>
            <a:r>
              <a:rPr dirty="0" sz="2400" spc="-85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400" spc="-55">
                <a:solidFill>
                  <a:srgbClr val="161618"/>
                </a:solidFill>
                <a:latin typeface="Arial"/>
                <a:cs typeface="Arial"/>
              </a:rPr>
              <a:t>leaders</a:t>
            </a:r>
            <a:r>
              <a:rPr dirty="0" sz="2400" spc="-35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400" spc="-90">
                <a:solidFill>
                  <a:srgbClr val="161618"/>
                </a:solidFill>
                <a:latin typeface="Arial"/>
                <a:cs typeface="Arial"/>
              </a:rPr>
              <a:t>need</a:t>
            </a:r>
            <a:r>
              <a:rPr dirty="0" sz="2400" spc="-155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400" spc="95">
                <a:solidFill>
                  <a:srgbClr val="161618"/>
                </a:solidFill>
                <a:latin typeface="Arial"/>
                <a:cs typeface="Arial"/>
              </a:rPr>
              <a:t>to</a:t>
            </a:r>
            <a:r>
              <a:rPr dirty="0" sz="2400" spc="-175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400" spc="-20">
                <a:solidFill>
                  <a:srgbClr val="161618"/>
                </a:solidFill>
                <a:latin typeface="Arial"/>
                <a:cs typeface="Arial"/>
              </a:rPr>
              <a:t>know </a:t>
            </a:r>
            <a:r>
              <a:rPr dirty="0" sz="2400" spc="-35" i="1">
                <a:solidFill>
                  <a:srgbClr val="161618"/>
                </a:solidFill>
                <a:latin typeface="Arial"/>
                <a:cs typeface="Arial"/>
              </a:rPr>
              <a:t>why</a:t>
            </a:r>
            <a:r>
              <a:rPr dirty="0" sz="2400" spc="25" i="1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400" spc="-40">
                <a:solidFill>
                  <a:srgbClr val="161618"/>
                </a:solidFill>
                <a:latin typeface="Arial"/>
                <a:cs typeface="Arial"/>
              </a:rPr>
              <a:t>something</a:t>
            </a:r>
            <a:r>
              <a:rPr dirty="0" sz="2400" spc="-60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400" spc="-90">
                <a:solidFill>
                  <a:srgbClr val="161618"/>
                </a:solidFill>
                <a:latin typeface="Arial"/>
                <a:cs typeface="Arial"/>
              </a:rPr>
              <a:t>happened,</a:t>
            </a:r>
            <a:r>
              <a:rPr dirty="0" sz="2400" spc="-80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161618"/>
                </a:solidFill>
                <a:latin typeface="Arial"/>
                <a:cs typeface="Arial"/>
              </a:rPr>
              <a:t>not</a:t>
            </a:r>
            <a:r>
              <a:rPr dirty="0" sz="2400" spc="-204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161618"/>
                </a:solidFill>
                <a:latin typeface="Arial"/>
                <a:cs typeface="Arial"/>
              </a:rPr>
              <a:t>just</a:t>
            </a:r>
            <a:r>
              <a:rPr dirty="0" sz="2400" spc="-235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400" i="1">
                <a:solidFill>
                  <a:srgbClr val="161618"/>
                </a:solidFill>
                <a:latin typeface="Arial"/>
                <a:cs typeface="Arial"/>
              </a:rPr>
              <a:t>that</a:t>
            </a:r>
            <a:r>
              <a:rPr dirty="0" sz="2400" spc="-100" i="1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400" spc="-25">
                <a:solidFill>
                  <a:srgbClr val="161618"/>
                </a:solidFill>
                <a:latin typeface="Arial"/>
                <a:cs typeface="Arial"/>
              </a:rPr>
              <a:t>it </a:t>
            </a:r>
            <a:r>
              <a:rPr dirty="0" sz="2400" spc="-45">
                <a:solidFill>
                  <a:srgbClr val="161618"/>
                </a:solidFill>
                <a:latin typeface="Arial"/>
                <a:cs typeface="Arial"/>
              </a:rPr>
              <a:t>happened</a:t>
            </a:r>
            <a:r>
              <a:rPr dirty="0" sz="2400" spc="-45">
                <a:solidFill>
                  <a:srgbClr val="2F2F31"/>
                </a:solidFill>
                <a:latin typeface="Arial"/>
                <a:cs typeface="Arial"/>
              </a:rPr>
              <a:t>.</a:t>
            </a:r>
            <a:r>
              <a:rPr dirty="0" sz="2400" spc="-330">
                <a:solidFill>
                  <a:srgbClr val="2F2F31"/>
                </a:solidFill>
                <a:latin typeface="Arial"/>
                <a:cs typeface="Arial"/>
              </a:rPr>
              <a:t> </a:t>
            </a:r>
            <a:r>
              <a:rPr dirty="0" sz="2400" spc="-135">
                <a:solidFill>
                  <a:srgbClr val="161618"/>
                </a:solidFill>
                <a:latin typeface="Arial"/>
                <a:cs typeface="Arial"/>
              </a:rPr>
              <a:t>We</a:t>
            </a:r>
            <a:r>
              <a:rPr dirty="0" sz="2400" spc="-210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400" spc="-65">
                <a:solidFill>
                  <a:srgbClr val="161618"/>
                </a:solidFill>
                <a:latin typeface="Arial"/>
                <a:cs typeface="Arial"/>
              </a:rPr>
              <a:t>need</a:t>
            </a:r>
            <a:r>
              <a:rPr dirty="0" sz="2400" spc="-135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400" spc="95">
                <a:solidFill>
                  <a:srgbClr val="161618"/>
                </a:solidFill>
                <a:latin typeface="Arial"/>
                <a:cs typeface="Arial"/>
              </a:rPr>
              <a:t>to</a:t>
            </a:r>
            <a:r>
              <a:rPr dirty="0" sz="2400" spc="-260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161618"/>
                </a:solidFill>
                <a:latin typeface="Arial"/>
                <a:cs typeface="Arial"/>
              </a:rPr>
              <a:t>isolate</a:t>
            </a:r>
            <a:r>
              <a:rPr dirty="0" sz="2400" spc="-254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400" spc="-25">
                <a:solidFill>
                  <a:srgbClr val="161618"/>
                </a:solidFill>
                <a:latin typeface="Arial"/>
                <a:cs typeface="Arial"/>
              </a:rPr>
              <a:t>the </a:t>
            </a:r>
            <a:r>
              <a:rPr dirty="0" sz="2400" spc="-50">
                <a:solidFill>
                  <a:srgbClr val="2F2F31"/>
                </a:solidFill>
                <a:latin typeface="Arial"/>
                <a:cs typeface="Arial"/>
              </a:rPr>
              <a:t>'</a:t>
            </a:r>
            <a:r>
              <a:rPr dirty="0" sz="2400" spc="-50">
                <a:solidFill>
                  <a:srgbClr val="161618"/>
                </a:solidFill>
                <a:latin typeface="Arial"/>
                <a:cs typeface="Arial"/>
              </a:rPr>
              <a:t>Treatment</a:t>
            </a:r>
            <a:r>
              <a:rPr dirty="0" sz="2400" spc="85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161618"/>
                </a:solidFill>
                <a:latin typeface="Arial"/>
                <a:cs typeface="Arial"/>
              </a:rPr>
              <a:t>Effect'</a:t>
            </a:r>
            <a:r>
              <a:rPr dirty="0" sz="2400" spc="-110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161618"/>
                </a:solidFill>
                <a:latin typeface="Arial"/>
                <a:cs typeface="Arial"/>
              </a:rPr>
              <a:t>from</a:t>
            </a:r>
            <a:r>
              <a:rPr dirty="0" sz="2400" spc="-220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161618"/>
                </a:solidFill>
                <a:latin typeface="Arial"/>
                <a:cs typeface="Arial"/>
              </a:rPr>
              <a:t>the</a:t>
            </a:r>
            <a:r>
              <a:rPr dirty="0" sz="2400" spc="-195">
                <a:solidFill>
                  <a:srgbClr val="161618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161618"/>
                </a:solidFill>
                <a:latin typeface="Arial"/>
                <a:cs typeface="Arial"/>
              </a:rPr>
              <a:t>noise</a:t>
            </a:r>
            <a:r>
              <a:rPr dirty="0" sz="2400" spc="-10">
                <a:solidFill>
                  <a:srgbClr val="2F2F31"/>
                </a:solidFill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738148" y="5591902"/>
            <a:ext cx="104139" cy="3016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00" spc="-50">
                <a:solidFill>
                  <a:srgbClr val="979797"/>
                </a:solidFill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117008" y="5694031"/>
            <a:ext cx="163195" cy="6229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900" spc="-165">
                <a:solidFill>
                  <a:srgbClr val="BCBDBA"/>
                </a:solidFill>
                <a:latin typeface="Arial"/>
                <a:cs typeface="Arial"/>
              </a:rPr>
              <a:t>-</a:t>
            </a:r>
            <a:endParaRPr sz="39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0703859" y="2106678"/>
            <a:ext cx="1216660" cy="0"/>
          </a:xfrm>
          <a:custGeom>
            <a:avLst/>
            <a:gdLst/>
            <a:ahLst/>
            <a:cxnLst/>
            <a:rect l="l" t="t" r="r" b="b"/>
            <a:pathLst>
              <a:path w="1216659" h="0">
                <a:moveTo>
                  <a:pt x="0" y="0"/>
                </a:moveTo>
                <a:lnTo>
                  <a:pt x="369454" y="0"/>
                </a:lnTo>
              </a:path>
              <a:path w="1216659" h="0">
                <a:moveTo>
                  <a:pt x="362180" y="0"/>
                </a:moveTo>
                <a:lnTo>
                  <a:pt x="591445" y="0"/>
                </a:lnTo>
              </a:path>
              <a:path w="1216659" h="0">
                <a:moveTo>
                  <a:pt x="579396" y="0"/>
                </a:moveTo>
                <a:lnTo>
                  <a:pt x="1216242" y="0"/>
                </a:lnTo>
              </a:path>
            </a:pathLst>
          </a:custGeom>
          <a:ln w="12751">
            <a:solidFill>
              <a:srgbClr val="BCBD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$PPTXTitle"/>
          <p:cNvSpPr txBox="1">
            <a:spLocks noGrp="1"/>
          </p:cNvSpPr>
          <p:nvPr>
            <p:ph type="title"/>
          </p:nvPr>
        </p:nvSpPr>
        <p:spPr>
          <a:xfrm>
            <a:off x="9595525" y="1174816"/>
            <a:ext cx="2394585" cy="112839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baseline="14972" sz="10575" spc="-1139" i="1">
                <a:solidFill>
                  <a:srgbClr val="85B5B5"/>
                </a:solidFill>
                <a:latin typeface="Arial"/>
                <a:cs typeface="Arial"/>
              </a:rPr>
              <a:t>'</a:t>
            </a:r>
            <a:r>
              <a:rPr dirty="0" baseline="14972" sz="10575" spc="-1132" i="1">
                <a:solidFill>
                  <a:srgbClr val="BCBDBA"/>
                </a:solidFill>
                <a:latin typeface="Arial"/>
                <a:cs typeface="Arial"/>
              </a:rPr>
              <a:t>·</a:t>
            </a:r>
            <a:r>
              <a:rPr dirty="0" baseline="14972" sz="10575" spc="-1139" i="1">
                <a:solidFill>
                  <a:srgbClr val="82797C"/>
                </a:solidFill>
                <a:latin typeface="Arial"/>
                <a:cs typeface="Arial"/>
              </a:rPr>
              <a:t>,</a:t>
            </a:r>
            <a:r>
              <a:rPr dirty="0" baseline="14972" sz="10575" spc="-1117" i="1">
                <a:solidFill>
                  <a:srgbClr val="82797C"/>
                </a:solidFill>
                <a:latin typeface="Arial"/>
                <a:cs typeface="Arial"/>
              </a:rPr>
              <a:t>1</a:t>
            </a:r>
            <a:r>
              <a:rPr dirty="0" baseline="14972" sz="10575" spc="-4057" i="1">
                <a:solidFill>
                  <a:srgbClr val="82797C"/>
                </a:solidFill>
                <a:latin typeface="Arial"/>
                <a:cs typeface="Arial"/>
              </a:rPr>
              <a:t>1</a:t>
            </a:r>
            <a:r>
              <a:rPr dirty="0" sz="3900" spc="-1035" b="0">
                <a:solidFill>
                  <a:srgbClr val="BCBDBA"/>
                </a:solidFill>
                <a:latin typeface="Arial"/>
                <a:cs typeface="Arial"/>
              </a:rPr>
              <a:t>-</a:t>
            </a:r>
            <a:r>
              <a:rPr dirty="0" sz="3950" spc="-944" b="0">
                <a:solidFill>
                  <a:srgbClr val="BCBDBA"/>
                </a:solidFill>
                <a:latin typeface="Times New Roman"/>
                <a:cs typeface="Times New Roman"/>
              </a:rPr>
              <a:t>-</a:t>
            </a:r>
            <a:r>
              <a:rPr dirty="0" baseline="14972" sz="10575" spc="-5265" i="1">
                <a:solidFill>
                  <a:srgbClr val="82797C"/>
                </a:solidFill>
                <a:latin typeface="Arial"/>
                <a:cs typeface="Arial"/>
              </a:rPr>
              <a:t>h</a:t>
            </a:r>
            <a:r>
              <a:rPr dirty="0" sz="3950" spc="-430" b="0">
                <a:solidFill>
                  <a:srgbClr val="BF9791"/>
                </a:solidFill>
                <a:latin typeface="Times New Roman"/>
                <a:cs typeface="Times New Roman"/>
              </a:rPr>
              <a:t>·</a:t>
            </a:r>
            <a:r>
              <a:rPr dirty="0" sz="3350" spc="-1190" b="0">
                <a:solidFill>
                  <a:srgbClr val="BCBDBA"/>
                </a:solidFill>
                <a:latin typeface="Arial"/>
                <a:cs typeface="Arial"/>
              </a:rPr>
              <a:t>-</a:t>
            </a:r>
            <a:r>
              <a:rPr dirty="0" sz="3950" spc="-580" b="0">
                <a:solidFill>
                  <a:srgbClr val="BCBDBA"/>
                </a:solidFill>
                <a:latin typeface="Times New Roman"/>
                <a:cs typeface="Times New Roman"/>
              </a:rPr>
              <a:t>-</a:t>
            </a:r>
            <a:r>
              <a:rPr dirty="0" sz="2400" spc="-459" b="0">
                <a:solidFill>
                  <a:srgbClr val="BCBDBA"/>
                </a:solidFill>
                <a:latin typeface="Arial"/>
                <a:cs typeface="Arial"/>
              </a:rPr>
              <a:t>.</a:t>
            </a:r>
            <a:r>
              <a:rPr dirty="0" baseline="14972" sz="10575" spc="-5670" i="1">
                <a:solidFill>
                  <a:srgbClr val="82797C"/>
                </a:solidFill>
                <a:latin typeface="Arial"/>
                <a:cs typeface="Arial"/>
              </a:rPr>
              <a:t>J</a:t>
            </a:r>
            <a:r>
              <a:rPr dirty="0" sz="3900" spc="-1005" b="0">
                <a:solidFill>
                  <a:srgbClr val="BCBDBA"/>
                </a:solidFill>
                <a:latin typeface="Arial"/>
                <a:cs typeface="Arial"/>
              </a:rPr>
              <a:t>-</a:t>
            </a:r>
            <a:r>
              <a:rPr dirty="0" sz="2400" spc="-545" b="0">
                <a:solidFill>
                  <a:srgbClr val="BCBDBA"/>
                </a:solidFill>
                <a:latin typeface="Arial"/>
                <a:cs typeface="Arial"/>
              </a:rPr>
              <a:t>_</a:t>
            </a:r>
            <a:r>
              <a:rPr dirty="0" baseline="14660" sz="10800" spc="-5715">
                <a:solidFill>
                  <a:srgbClr val="82797C"/>
                </a:solidFill>
              </a:rPr>
              <a:t>z</a:t>
            </a:r>
            <a:r>
              <a:rPr dirty="0" sz="3000" spc="-195" b="0">
                <a:solidFill>
                  <a:srgbClr val="BCBDBA"/>
                </a:solidFill>
                <a:latin typeface="Times New Roman"/>
                <a:cs typeface="Times New Roman"/>
              </a:rPr>
              <a:t>..........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406504" y="2553559"/>
            <a:ext cx="349885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 spc="-90">
                <a:solidFill>
                  <a:srgbClr val="82797C"/>
                </a:solidFill>
                <a:latin typeface="Arial"/>
                <a:cs typeface="Arial"/>
              </a:rPr>
              <a:t>cre6&gt;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0915381" y="2719452"/>
            <a:ext cx="447675" cy="0"/>
          </a:xfrm>
          <a:custGeom>
            <a:avLst/>
            <a:gdLst/>
            <a:ahLst/>
            <a:cxnLst/>
            <a:rect l="l" t="t" r="r" b="b"/>
            <a:pathLst>
              <a:path w="447675" h="0">
                <a:moveTo>
                  <a:pt x="0" y="0"/>
                </a:moveTo>
                <a:lnTo>
                  <a:pt x="447678" y="0"/>
                </a:lnTo>
              </a:path>
            </a:pathLst>
          </a:custGeom>
          <a:ln w="12766">
            <a:solidFill>
              <a:srgbClr val="8279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0902681" y="2189724"/>
            <a:ext cx="694690" cy="6464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050" spc="-1105" b="1">
                <a:solidFill>
                  <a:srgbClr val="B64B49"/>
                </a:solidFill>
                <a:latin typeface="Tahoma"/>
                <a:cs typeface="Tahoma"/>
              </a:rPr>
              <a:t>ce</a:t>
            </a:r>
            <a:r>
              <a:rPr dirty="0" sz="4050" spc="-1105" b="1">
                <a:solidFill>
                  <a:srgbClr val="82797C"/>
                </a:solidFill>
                <a:latin typeface="Tahoma"/>
                <a:cs typeface="Tahoma"/>
              </a:rPr>
              <a:t>�</a:t>
            </a:r>
            <a:endParaRPr sz="4050">
              <a:latin typeface="Tahoma"/>
              <a:cs typeface="Tahoma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>
                <a:solidFill>
                  <a:srgbClr val="2A3442"/>
                </a:solidFill>
              </a:rPr>
              <a:t>Isl\</a:t>
            </a:r>
            <a:r>
              <a:rPr dirty="0" sz="1300" spc="-45">
                <a:solidFill>
                  <a:srgbClr val="2A3442"/>
                </a:solidFill>
              </a:rPr>
              <a:t> </a:t>
            </a:r>
            <a:r>
              <a:rPr dirty="0" spc="-10">
                <a:solidFill>
                  <a:srgbClr val="181A1A"/>
                </a:solidFill>
              </a:rPr>
              <a:t>N</a:t>
            </a:r>
            <a:r>
              <a:rPr dirty="0" spc="-10">
                <a:solidFill>
                  <a:srgbClr val="2A3442"/>
                </a:solidFill>
              </a:rPr>
              <a:t>otebookL</a:t>
            </a:r>
            <a:r>
              <a:rPr dirty="0" spc="-10">
                <a:solidFill>
                  <a:srgbClr val="181A1A"/>
                </a:solidFill>
              </a:rPr>
              <a:t>M</a:t>
            </a:r>
            <a:endParaRPr sz="1300"/>
          </a:p>
        </p:txBody>
      </p:sp>
      <p:sp>
        <p:nvSpPr>
          <p:cNvPr id="24" name="object 24"/>
          <p:cNvSpPr txBox="1"/>
          <p:nvPr/>
        </p:nvSpPr>
        <p:spPr>
          <a:xfrm>
            <a:off x="8750765" y="6121698"/>
            <a:ext cx="287655" cy="10293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6550" spc="-725">
                <a:solidFill>
                  <a:srgbClr val="85B5B5"/>
                </a:solidFill>
                <a:latin typeface="Arial"/>
                <a:cs typeface="Arial"/>
              </a:rPr>
              <a:t>./</a:t>
            </a:r>
            <a:endParaRPr sz="65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847502" y="4487631"/>
            <a:ext cx="5365115" cy="6305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950" spc="-125" b="1">
                <a:solidFill>
                  <a:srgbClr val="AC0E0C"/>
                </a:solidFill>
                <a:latin typeface="Arial"/>
                <a:cs typeface="Arial"/>
              </a:rPr>
              <a:t>Correlation</a:t>
            </a:r>
            <a:r>
              <a:rPr dirty="0" sz="3950" spc="-415" b="1">
                <a:solidFill>
                  <a:srgbClr val="AC0E0C"/>
                </a:solidFill>
                <a:latin typeface="Arial"/>
                <a:cs typeface="Arial"/>
              </a:rPr>
              <a:t> </a:t>
            </a:r>
            <a:r>
              <a:rPr dirty="0" sz="3650" spc="-620" b="1" i="1">
                <a:solidFill>
                  <a:srgbClr val="AC0E0C"/>
                </a:solidFill>
                <a:latin typeface="Arial"/>
                <a:cs typeface="Arial"/>
              </a:rPr>
              <a:t>':#</a:t>
            </a:r>
            <a:r>
              <a:rPr dirty="0" sz="3650" spc="335" b="1" i="1">
                <a:solidFill>
                  <a:srgbClr val="AC0E0C"/>
                </a:solidFill>
                <a:latin typeface="Arial"/>
                <a:cs typeface="Arial"/>
              </a:rPr>
              <a:t> </a:t>
            </a:r>
            <a:r>
              <a:rPr dirty="0" sz="3950" spc="-114" b="1">
                <a:solidFill>
                  <a:srgbClr val="AC0E0C"/>
                </a:solidFill>
                <a:latin typeface="Arial"/>
                <a:cs typeface="Arial"/>
              </a:rPr>
              <a:t>Causation</a:t>
            </a:r>
            <a:endParaRPr sz="39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739461" y="7136606"/>
            <a:ext cx="67310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600" spc="-90">
                <a:solidFill>
                  <a:srgbClr val="6687A3"/>
                </a:solidFill>
                <a:latin typeface="Arial"/>
                <a:cs typeface="Arial"/>
              </a:rPr>
              <a:t>•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7838" rIns="0" bIns="0" rtlCol="0" vert="horz">
            <a:spAutoFit/>
          </a:bodyPr>
          <a:lstStyle/>
          <a:p>
            <a:pPr marL="1447165">
              <a:lnSpc>
                <a:spcPct val="100000"/>
              </a:lnSpc>
              <a:spcBef>
                <a:spcPts val="120"/>
              </a:spcBef>
            </a:pPr>
            <a:r>
              <a:rPr dirty="0" sz="4400" spc="90">
                <a:solidFill>
                  <a:srgbClr val="030503"/>
                </a:solidFill>
              </a:rPr>
              <a:t>Mimicking</a:t>
            </a:r>
            <a:r>
              <a:rPr dirty="0" sz="4400" spc="105">
                <a:solidFill>
                  <a:srgbClr val="030503"/>
                </a:solidFill>
              </a:rPr>
              <a:t> </a:t>
            </a:r>
            <a:r>
              <a:rPr dirty="0" sz="4400" spc="215">
                <a:solidFill>
                  <a:srgbClr val="030503"/>
                </a:solidFill>
              </a:rPr>
              <a:t>the</a:t>
            </a:r>
            <a:r>
              <a:rPr dirty="0" sz="4400" spc="-204">
                <a:solidFill>
                  <a:srgbClr val="030503"/>
                </a:solidFill>
              </a:rPr>
              <a:t> </a:t>
            </a:r>
            <a:r>
              <a:rPr dirty="0" sz="4400">
                <a:solidFill>
                  <a:srgbClr val="030503"/>
                </a:solidFill>
              </a:rPr>
              <a:t>Gold</a:t>
            </a:r>
            <a:r>
              <a:rPr dirty="0" sz="4400" spc="-155">
                <a:solidFill>
                  <a:srgbClr val="030503"/>
                </a:solidFill>
              </a:rPr>
              <a:t> </a:t>
            </a:r>
            <a:r>
              <a:rPr dirty="0" sz="4400" spc="90">
                <a:solidFill>
                  <a:srgbClr val="030503"/>
                </a:solidFill>
              </a:rPr>
              <a:t>Standard</a:t>
            </a:r>
            <a:r>
              <a:rPr dirty="0" sz="4400" spc="-25">
                <a:solidFill>
                  <a:srgbClr val="030503"/>
                </a:solidFill>
              </a:rPr>
              <a:t> </a:t>
            </a:r>
            <a:r>
              <a:rPr dirty="0" sz="4400" spc="100">
                <a:solidFill>
                  <a:srgbClr val="030503"/>
                </a:solidFill>
              </a:rPr>
              <a:t>of</a:t>
            </a:r>
            <a:r>
              <a:rPr dirty="0" sz="4400" spc="-100">
                <a:solidFill>
                  <a:srgbClr val="030503"/>
                </a:solidFill>
              </a:rPr>
              <a:t> </a:t>
            </a:r>
            <a:r>
              <a:rPr dirty="0" sz="4400" spc="55">
                <a:solidFill>
                  <a:srgbClr val="030503"/>
                </a:solidFill>
              </a:rPr>
              <a:t>Randomization</a:t>
            </a:r>
            <a:endParaRPr sz="4400"/>
          </a:p>
        </p:txBody>
      </p:sp>
      <p:sp>
        <p:nvSpPr>
          <p:cNvPr id="11" name="object 11"/>
          <p:cNvSpPr txBox="1"/>
          <p:nvPr/>
        </p:nvSpPr>
        <p:spPr>
          <a:xfrm>
            <a:off x="16147783" y="9424700"/>
            <a:ext cx="1256030" cy="2108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45"/>
              </a:lnSpc>
            </a:pPr>
            <a:r>
              <a:rPr dirty="0" sz="1300" spc="-70">
                <a:solidFill>
                  <a:srgbClr val="28282A"/>
                </a:solidFill>
                <a:latin typeface="Arial"/>
                <a:cs typeface="Arial"/>
              </a:rPr>
              <a:t>I'S\</a:t>
            </a:r>
            <a:r>
              <a:rPr dirty="0" sz="1300" spc="-20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131313"/>
                </a:solidFill>
                <a:latin typeface="Arial"/>
                <a:cs typeface="Arial"/>
              </a:rPr>
              <a:t>NotebookLM</a:t>
            </a:r>
            <a:endParaRPr sz="13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89741" y="2170576"/>
            <a:ext cx="6647815" cy="14478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ts val="2890"/>
              </a:lnSpc>
              <a:spcBef>
                <a:spcPts val="115"/>
              </a:spcBef>
            </a:pPr>
            <a:r>
              <a:rPr dirty="0" sz="2700" spc="-60" b="1">
                <a:solidFill>
                  <a:srgbClr val="112F4D"/>
                </a:solidFill>
                <a:latin typeface="Arial"/>
                <a:cs typeface="Arial"/>
              </a:rPr>
              <a:t>The</a:t>
            </a:r>
            <a:r>
              <a:rPr dirty="0" sz="2700" spc="-215" b="1">
                <a:solidFill>
                  <a:srgbClr val="112F4D"/>
                </a:solidFill>
                <a:latin typeface="Arial"/>
                <a:cs typeface="Arial"/>
              </a:rPr>
              <a:t> </a:t>
            </a:r>
            <a:r>
              <a:rPr dirty="0" sz="2700" spc="-80" b="1">
                <a:solidFill>
                  <a:srgbClr val="112F4D"/>
                </a:solidFill>
                <a:latin typeface="Arial"/>
                <a:cs typeface="Arial"/>
              </a:rPr>
              <a:t>Ideal:</a:t>
            </a:r>
            <a:r>
              <a:rPr dirty="0" sz="2700" spc="-280" b="1">
                <a:solidFill>
                  <a:srgbClr val="112F4D"/>
                </a:solidFill>
                <a:latin typeface="Arial"/>
                <a:cs typeface="Arial"/>
              </a:rPr>
              <a:t> </a:t>
            </a:r>
            <a:r>
              <a:rPr dirty="0" sz="2700" spc="-145" b="1">
                <a:solidFill>
                  <a:srgbClr val="112F4D"/>
                </a:solidFill>
                <a:latin typeface="Arial"/>
                <a:cs typeface="Arial"/>
              </a:rPr>
              <a:t>Randomized</a:t>
            </a:r>
            <a:r>
              <a:rPr dirty="0" sz="2700" spc="60" b="1">
                <a:solidFill>
                  <a:srgbClr val="112F4D"/>
                </a:solidFill>
                <a:latin typeface="Arial"/>
                <a:cs typeface="Arial"/>
              </a:rPr>
              <a:t> </a:t>
            </a:r>
            <a:r>
              <a:rPr dirty="0" sz="2700" spc="-150" b="1">
                <a:solidFill>
                  <a:srgbClr val="112F4D"/>
                </a:solidFill>
                <a:latin typeface="Arial"/>
                <a:cs typeface="Arial"/>
              </a:rPr>
              <a:t>Control</a:t>
            </a:r>
            <a:r>
              <a:rPr dirty="0" sz="2700" spc="-195" b="1">
                <a:solidFill>
                  <a:srgbClr val="112F4D"/>
                </a:solidFill>
                <a:latin typeface="Arial"/>
                <a:cs typeface="Arial"/>
              </a:rPr>
              <a:t> </a:t>
            </a:r>
            <a:r>
              <a:rPr dirty="0" sz="2700" spc="-100" b="1">
                <a:solidFill>
                  <a:srgbClr val="112F4D"/>
                </a:solidFill>
                <a:latin typeface="Arial"/>
                <a:cs typeface="Arial"/>
              </a:rPr>
              <a:t>Trials</a:t>
            </a:r>
            <a:r>
              <a:rPr dirty="0" sz="2700" spc="-30" b="1">
                <a:solidFill>
                  <a:srgbClr val="112F4D"/>
                </a:solidFill>
                <a:latin typeface="Arial"/>
                <a:cs typeface="Arial"/>
              </a:rPr>
              <a:t> </a:t>
            </a:r>
            <a:r>
              <a:rPr dirty="0" sz="2700" spc="-120" b="1">
                <a:solidFill>
                  <a:srgbClr val="112F4D"/>
                </a:solidFill>
                <a:latin typeface="Arial"/>
                <a:cs typeface="Arial"/>
              </a:rPr>
              <a:t>(RCTs)</a:t>
            </a:r>
            <a:endParaRPr sz="2700">
              <a:latin typeface="Arial"/>
              <a:cs typeface="Arial"/>
            </a:endParaRPr>
          </a:p>
          <a:p>
            <a:pPr algn="ctr" marR="502284">
              <a:lnSpc>
                <a:spcPts val="8290"/>
              </a:lnSpc>
            </a:pPr>
            <a:r>
              <a:rPr dirty="0" sz="7200" spc="1195">
                <a:solidFill>
                  <a:srgbClr val="289C66"/>
                </a:solidFill>
                <a:latin typeface="Arial"/>
                <a:cs typeface="Arial"/>
              </a:rPr>
              <a:t>•</a:t>
            </a:r>
            <a:r>
              <a:rPr dirty="0" sz="7200" spc="1195">
                <a:solidFill>
                  <a:srgbClr val="59A559"/>
                </a:solidFill>
                <a:latin typeface="Arial"/>
                <a:cs typeface="Arial"/>
              </a:rPr>
              <a:t>••</a:t>
            </a:r>
            <a:endParaRPr sz="7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0468" y="7685551"/>
            <a:ext cx="6309360" cy="1187450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algn="ctr" marL="12065" marR="5080">
              <a:lnSpc>
                <a:spcPct val="102200"/>
              </a:lnSpc>
              <a:spcBef>
                <a:spcPts val="45"/>
              </a:spcBef>
            </a:pPr>
            <a:r>
              <a:rPr dirty="0" sz="2500">
                <a:solidFill>
                  <a:srgbClr val="131313"/>
                </a:solidFill>
                <a:latin typeface="Arial"/>
                <a:cs typeface="Arial"/>
              </a:rPr>
              <a:t>Randomization</a:t>
            </a:r>
            <a:r>
              <a:rPr dirty="0" sz="2500" spc="275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500">
                <a:solidFill>
                  <a:srgbClr val="131313"/>
                </a:solidFill>
                <a:latin typeface="Arial"/>
                <a:cs typeface="Arial"/>
              </a:rPr>
              <a:t>creates</a:t>
            </a:r>
            <a:r>
              <a:rPr dirty="0" sz="2500" spc="11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500" spc="50">
                <a:solidFill>
                  <a:srgbClr val="131313"/>
                </a:solidFill>
                <a:latin typeface="Arial"/>
                <a:cs typeface="Arial"/>
              </a:rPr>
              <a:t>groups</a:t>
            </a:r>
            <a:r>
              <a:rPr dirty="0" sz="2500" spc="-5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500">
                <a:solidFill>
                  <a:srgbClr val="131313"/>
                </a:solidFill>
                <a:latin typeface="Arial"/>
                <a:cs typeface="Arial"/>
              </a:rPr>
              <a:t>balanced</a:t>
            </a:r>
            <a:r>
              <a:rPr dirty="0" sz="2500" spc="20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500" spc="35">
                <a:solidFill>
                  <a:srgbClr val="131313"/>
                </a:solidFill>
                <a:latin typeface="Arial"/>
                <a:cs typeface="Arial"/>
              </a:rPr>
              <a:t>on </a:t>
            </a:r>
            <a:r>
              <a:rPr dirty="0" sz="2500" spc="20">
                <a:solidFill>
                  <a:srgbClr val="131313"/>
                </a:solidFill>
                <a:latin typeface="Arial"/>
                <a:cs typeface="Arial"/>
              </a:rPr>
              <a:t>baseline</a:t>
            </a:r>
            <a:r>
              <a:rPr dirty="0" sz="2500" spc="145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500" spc="20">
                <a:solidFill>
                  <a:srgbClr val="131313"/>
                </a:solidFill>
                <a:latin typeface="Arial"/>
                <a:cs typeface="Arial"/>
              </a:rPr>
              <a:t>characteristics,</a:t>
            </a:r>
            <a:r>
              <a:rPr dirty="0" sz="2500" spc="-125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500" spc="55">
                <a:solidFill>
                  <a:srgbClr val="131313"/>
                </a:solidFill>
                <a:latin typeface="Arial"/>
                <a:cs typeface="Arial"/>
              </a:rPr>
              <a:t>satisfying</a:t>
            </a:r>
            <a:r>
              <a:rPr dirty="0" sz="2500" spc="6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500" spc="70">
                <a:solidFill>
                  <a:srgbClr val="131313"/>
                </a:solidFill>
                <a:latin typeface="Arial"/>
                <a:cs typeface="Arial"/>
              </a:rPr>
              <a:t>the </a:t>
            </a:r>
            <a:r>
              <a:rPr dirty="0" sz="2500" spc="50">
                <a:solidFill>
                  <a:srgbClr val="131313"/>
                </a:solidFill>
                <a:latin typeface="Arial"/>
                <a:cs typeface="Arial"/>
              </a:rPr>
              <a:t>unconfoundedness</a:t>
            </a:r>
            <a:r>
              <a:rPr dirty="0" sz="2500" spc="-16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500" spc="-10">
                <a:solidFill>
                  <a:srgbClr val="131313"/>
                </a:solidFill>
                <a:latin typeface="Arial"/>
                <a:cs typeface="Arial"/>
              </a:rPr>
              <a:t>assumption.</a:t>
            </a:r>
            <a:endParaRPr sz="2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57896" y="2170576"/>
            <a:ext cx="6962775" cy="4394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700" spc="-60" b="1">
                <a:solidFill>
                  <a:srgbClr val="112F4D"/>
                </a:solidFill>
                <a:latin typeface="Arial"/>
                <a:cs typeface="Arial"/>
              </a:rPr>
              <a:t>The</a:t>
            </a:r>
            <a:r>
              <a:rPr dirty="0" sz="2700" spc="-225" b="1">
                <a:solidFill>
                  <a:srgbClr val="112F4D"/>
                </a:solidFill>
                <a:latin typeface="Arial"/>
                <a:cs typeface="Arial"/>
              </a:rPr>
              <a:t> </a:t>
            </a:r>
            <a:r>
              <a:rPr dirty="0" sz="2700" spc="-114" b="1">
                <a:solidFill>
                  <a:srgbClr val="112F4D"/>
                </a:solidFill>
                <a:latin typeface="Arial"/>
                <a:cs typeface="Arial"/>
              </a:rPr>
              <a:t>Reality:</a:t>
            </a:r>
            <a:r>
              <a:rPr dirty="0" sz="2700" spc="-204" b="1">
                <a:solidFill>
                  <a:srgbClr val="112F4D"/>
                </a:solidFill>
                <a:latin typeface="Arial"/>
                <a:cs typeface="Arial"/>
              </a:rPr>
              <a:t> </a:t>
            </a:r>
            <a:r>
              <a:rPr dirty="0" sz="2700" spc="-135" b="1">
                <a:solidFill>
                  <a:srgbClr val="112F4D"/>
                </a:solidFill>
                <a:latin typeface="Arial"/>
                <a:cs typeface="Arial"/>
              </a:rPr>
              <a:t>Propensity</a:t>
            </a:r>
            <a:r>
              <a:rPr dirty="0" sz="2700" spc="-10" b="1">
                <a:solidFill>
                  <a:srgbClr val="112F4D"/>
                </a:solidFill>
                <a:latin typeface="Arial"/>
                <a:cs typeface="Arial"/>
              </a:rPr>
              <a:t> </a:t>
            </a:r>
            <a:r>
              <a:rPr dirty="0" sz="2700" spc="-145" b="1">
                <a:solidFill>
                  <a:srgbClr val="112F4D"/>
                </a:solidFill>
                <a:latin typeface="Arial"/>
                <a:cs typeface="Arial"/>
              </a:rPr>
              <a:t>Score</a:t>
            </a:r>
            <a:r>
              <a:rPr dirty="0" sz="2700" spc="-155" b="1">
                <a:solidFill>
                  <a:srgbClr val="112F4D"/>
                </a:solidFill>
                <a:latin typeface="Arial"/>
                <a:cs typeface="Arial"/>
              </a:rPr>
              <a:t> </a:t>
            </a:r>
            <a:r>
              <a:rPr dirty="0" sz="2700" spc="-105" b="1">
                <a:solidFill>
                  <a:srgbClr val="112F4D"/>
                </a:solidFill>
                <a:latin typeface="Arial"/>
                <a:cs typeface="Arial"/>
              </a:rPr>
              <a:t>Matching</a:t>
            </a:r>
            <a:r>
              <a:rPr dirty="0" sz="2700" spc="25" b="1">
                <a:solidFill>
                  <a:srgbClr val="112F4D"/>
                </a:solidFill>
                <a:latin typeface="Arial"/>
                <a:cs typeface="Arial"/>
              </a:rPr>
              <a:t> </a:t>
            </a:r>
            <a:r>
              <a:rPr dirty="0" sz="2700" spc="-10" b="1">
                <a:solidFill>
                  <a:srgbClr val="112F4D"/>
                </a:solidFill>
                <a:latin typeface="Arial"/>
                <a:cs typeface="Arial"/>
              </a:rPr>
              <a:t>(PSM)</a:t>
            </a:r>
            <a:endParaRPr sz="2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092251" y="2962075"/>
            <a:ext cx="1698625" cy="97281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 marL="597535" marR="596265" indent="33655">
              <a:lnSpc>
                <a:spcPct val="100000"/>
              </a:lnSpc>
              <a:spcBef>
                <a:spcPts val="110"/>
              </a:spcBef>
            </a:pPr>
            <a:r>
              <a:rPr dirty="0" sz="2100" spc="-45">
                <a:solidFill>
                  <a:srgbClr val="28282A"/>
                </a:solidFill>
                <a:latin typeface="Arial"/>
                <a:cs typeface="Arial"/>
              </a:rPr>
              <a:t>Age </a:t>
            </a:r>
            <a:r>
              <a:rPr dirty="0" sz="2100" spc="-50">
                <a:solidFill>
                  <a:srgbClr val="131313"/>
                </a:solidFill>
                <a:latin typeface="Arial"/>
                <a:cs typeface="Arial"/>
              </a:rPr>
              <a:t>Risk</a:t>
            </a:r>
            <a:endParaRPr sz="2100">
              <a:latin typeface="Arial"/>
              <a:cs typeface="Arial"/>
            </a:endParaRPr>
          </a:p>
          <a:p>
            <a:pPr algn="ctr">
              <a:lnSpc>
                <a:spcPts val="2405"/>
              </a:lnSpc>
            </a:pPr>
            <a:r>
              <a:rPr dirty="0" sz="2100" spc="-20">
                <a:solidFill>
                  <a:srgbClr val="28282A"/>
                </a:solidFill>
                <a:latin typeface="Arial"/>
                <a:cs typeface="Arial"/>
              </a:rPr>
              <a:t>Demographics</a:t>
            </a:r>
            <a:endParaRPr sz="2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147146" y="3082077"/>
            <a:ext cx="4476750" cy="3013075"/>
          </a:xfrm>
          <a:prstGeom prst="rect">
            <a:avLst/>
          </a:prstGeom>
        </p:spPr>
        <p:txBody>
          <a:bodyPr wrap="square" lIns="0" tIns="40767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3210"/>
              </a:spcBef>
              <a:tabLst>
                <a:tab pos="2980055" algn="l"/>
                <a:tab pos="4151629" algn="l"/>
              </a:tabLst>
            </a:pPr>
            <a:r>
              <a:rPr dirty="0" sz="7200" spc="-50">
                <a:solidFill>
                  <a:srgbClr val="289C66"/>
                </a:solidFill>
                <a:latin typeface="Arial"/>
                <a:cs typeface="Arial"/>
              </a:rPr>
              <a:t>•</a:t>
            </a:r>
            <a:r>
              <a:rPr dirty="0" sz="7200">
                <a:solidFill>
                  <a:srgbClr val="289C66"/>
                </a:solidFill>
                <a:latin typeface="Arial"/>
                <a:cs typeface="Arial"/>
              </a:rPr>
              <a:t>	</a:t>
            </a:r>
            <a:r>
              <a:rPr dirty="0" sz="7200" spc="-50">
                <a:solidFill>
                  <a:srgbClr val="289C66"/>
                </a:solidFill>
                <a:latin typeface="Arial"/>
                <a:cs typeface="Arial"/>
              </a:rPr>
              <a:t>•</a:t>
            </a:r>
            <a:r>
              <a:rPr dirty="0" sz="7200">
                <a:solidFill>
                  <a:srgbClr val="289C66"/>
                </a:solidFill>
                <a:latin typeface="Arial"/>
                <a:cs typeface="Arial"/>
              </a:rPr>
              <a:t>	</a:t>
            </a:r>
            <a:r>
              <a:rPr dirty="0" sz="7200" spc="-105">
                <a:solidFill>
                  <a:srgbClr val="59A559"/>
                </a:solidFill>
                <a:latin typeface="Arial"/>
                <a:cs typeface="Arial"/>
              </a:rPr>
              <a:t>•</a:t>
            </a:r>
            <a:endParaRPr sz="7200">
              <a:latin typeface="Arial"/>
              <a:cs typeface="Arial"/>
            </a:endParaRPr>
          </a:p>
          <a:p>
            <a:pPr algn="r" marR="30480">
              <a:lnSpc>
                <a:spcPct val="100000"/>
              </a:lnSpc>
              <a:spcBef>
                <a:spcPts val="3125"/>
              </a:spcBef>
              <a:tabLst>
                <a:tab pos="1146175" algn="l"/>
              </a:tabLst>
            </a:pPr>
            <a:r>
              <a:rPr dirty="0" sz="7200" spc="-50">
                <a:solidFill>
                  <a:srgbClr val="59A559"/>
                </a:solidFill>
                <a:latin typeface="Arial"/>
                <a:cs typeface="Arial"/>
              </a:rPr>
              <a:t>•</a:t>
            </a:r>
            <a:r>
              <a:rPr dirty="0" sz="7200">
                <a:solidFill>
                  <a:srgbClr val="59A559"/>
                </a:solidFill>
                <a:latin typeface="Arial"/>
                <a:cs typeface="Arial"/>
              </a:rPr>
              <a:t>	</a:t>
            </a:r>
            <a:r>
              <a:rPr dirty="0" sz="7200" spc="-50">
                <a:solidFill>
                  <a:srgbClr val="289C66"/>
                </a:solidFill>
                <a:latin typeface="Arial"/>
                <a:cs typeface="Arial"/>
              </a:rPr>
              <a:t>•</a:t>
            </a:r>
            <a:endParaRPr sz="7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899003" y="4928063"/>
            <a:ext cx="2091689" cy="23698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35"/>
              </a:spcBef>
            </a:pPr>
            <a:r>
              <a:rPr dirty="0" baseline="39737" sz="10800">
                <a:solidFill>
                  <a:srgbClr val="59A559"/>
                </a:solidFill>
                <a:latin typeface="Arial"/>
                <a:cs typeface="Arial"/>
              </a:rPr>
              <a:t>•</a:t>
            </a:r>
            <a:r>
              <a:rPr dirty="0" baseline="39737" sz="10800" spc="-22">
                <a:solidFill>
                  <a:srgbClr val="59A559"/>
                </a:solidFill>
                <a:latin typeface="Arial"/>
                <a:cs typeface="Arial"/>
              </a:rPr>
              <a:t> </a:t>
            </a:r>
            <a:r>
              <a:rPr dirty="0" sz="7200">
                <a:solidFill>
                  <a:srgbClr val="59A559"/>
                </a:solidFill>
                <a:latin typeface="Arial"/>
                <a:cs typeface="Arial"/>
              </a:rPr>
              <a:t>•</a:t>
            </a:r>
            <a:r>
              <a:rPr dirty="0" sz="7200" spc="80">
                <a:solidFill>
                  <a:srgbClr val="59A559"/>
                </a:solidFill>
                <a:latin typeface="Arial"/>
                <a:cs typeface="Arial"/>
              </a:rPr>
              <a:t> </a:t>
            </a:r>
            <a:r>
              <a:rPr dirty="0" sz="7200">
                <a:solidFill>
                  <a:srgbClr val="59A559"/>
                </a:solidFill>
                <a:latin typeface="Arial"/>
                <a:cs typeface="Arial"/>
              </a:rPr>
              <a:t>•</a:t>
            </a:r>
            <a:r>
              <a:rPr dirty="0" sz="7200" spc="-15">
                <a:solidFill>
                  <a:srgbClr val="59A559"/>
                </a:solidFill>
                <a:latin typeface="Arial"/>
                <a:cs typeface="Arial"/>
              </a:rPr>
              <a:t> </a:t>
            </a:r>
            <a:r>
              <a:rPr dirty="0" baseline="36265" sz="10800" spc="-75">
                <a:solidFill>
                  <a:srgbClr val="59A559"/>
                </a:solidFill>
                <a:latin typeface="Arial"/>
                <a:cs typeface="Arial"/>
              </a:rPr>
              <a:t>•</a:t>
            </a:r>
            <a:endParaRPr baseline="36265" sz="10800">
              <a:latin typeface="Arial"/>
              <a:cs typeface="Arial"/>
            </a:endParaRPr>
          </a:p>
          <a:p>
            <a:pPr marL="423545">
              <a:lnSpc>
                <a:spcPct val="100000"/>
              </a:lnSpc>
              <a:spcBef>
                <a:spcPts val="7015"/>
              </a:spcBef>
            </a:pPr>
            <a:r>
              <a:rPr dirty="0" sz="2300" spc="40">
                <a:solidFill>
                  <a:srgbClr val="131313"/>
                </a:solidFill>
                <a:latin typeface="Arial"/>
                <a:cs typeface="Arial"/>
              </a:rPr>
              <a:t>Treatment</a:t>
            </a:r>
            <a:endParaRPr sz="23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975650" y="6906814"/>
            <a:ext cx="2063114" cy="3778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300">
                <a:solidFill>
                  <a:srgbClr val="131313"/>
                </a:solidFill>
                <a:latin typeface="Arial"/>
                <a:cs typeface="Arial"/>
              </a:rPr>
              <a:t>Non</a:t>
            </a:r>
            <a:r>
              <a:rPr dirty="0" sz="2300">
                <a:solidFill>
                  <a:srgbClr val="424242"/>
                </a:solidFill>
                <a:latin typeface="Arial"/>
                <a:cs typeface="Arial"/>
              </a:rPr>
              <a:t>-</a:t>
            </a:r>
            <a:r>
              <a:rPr dirty="0" sz="2300" spc="-10">
                <a:solidFill>
                  <a:srgbClr val="131313"/>
                </a:solidFill>
                <a:latin typeface="Arial"/>
                <a:cs typeface="Arial"/>
              </a:rPr>
              <a:t>Treatment</a:t>
            </a:r>
            <a:endParaRPr sz="23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399883" y="7685551"/>
            <a:ext cx="7286625" cy="11874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022985" marR="1005205" indent="13335">
              <a:lnSpc>
                <a:spcPct val="100499"/>
              </a:lnSpc>
              <a:spcBef>
                <a:spcPts val="95"/>
              </a:spcBef>
            </a:pPr>
            <a:r>
              <a:rPr dirty="0" sz="2500" spc="-40">
                <a:solidFill>
                  <a:srgbClr val="131313"/>
                </a:solidFill>
                <a:latin typeface="Arial"/>
                <a:cs typeface="Arial"/>
              </a:rPr>
              <a:t>We</a:t>
            </a:r>
            <a:r>
              <a:rPr dirty="0" sz="2500" spc="-135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500" spc="105">
                <a:solidFill>
                  <a:srgbClr val="030503"/>
                </a:solidFill>
                <a:latin typeface="Arial"/>
                <a:cs typeface="Arial"/>
              </a:rPr>
              <a:t>match</a:t>
            </a:r>
            <a:r>
              <a:rPr dirty="0" sz="2500" spc="-150">
                <a:solidFill>
                  <a:srgbClr val="030503"/>
                </a:solidFill>
                <a:latin typeface="Arial"/>
                <a:cs typeface="Arial"/>
              </a:rPr>
              <a:t> </a:t>
            </a:r>
            <a:r>
              <a:rPr dirty="0" sz="2500">
                <a:solidFill>
                  <a:srgbClr val="131313"/>
                </a:solidFill>
                <a:latin typeface="Arial"/>
                <a:cs typeface="Arial"/>
              </a:rPr>
              <a:t>treated</a:t>
            </a:r>
            <a:r>
              <a:rPr dirty="0" sz="2500" spc="-25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500" spc="60">
                <a:solidFill>
                  <a:srgbClr val="030503"/>
                </a:solidFill>
                <a:latin typeface="Arial"/>
                <a:cs typeface="Arial"/>
              </a:rPr>
              <a:t>participants</a:t>
            </a:r>
            <a:r>
              <a:rPr dirty="0" sz="2500" spc="110">
                <a:solidFill>
                  <a:srgbClr val="030503"/>
                </a:solidFill>
                <a:latin typeface="Arial"/>
                <a:cs typeface="Arial"/>
              </a:rPr>
              <a:t> </a:t>
            </a:r>
            <a:r>
              <a:rPr dirty="0" sz="2500" spc="95">
                <a:solidFill>
                  <a:srgbClr val="131313"/>
                </a:solidFill>
                <a:latin typeface="Arial"/>
                <a:cs typeface="Arial"/>
              </a:rPr>
              <a:t>with </a:t>
            </a:r>
            <a:r>
              <a:rPr dirty="0" sz="2500" spc="60">
                <a:solidFill>
                  <a:srgbClr val="131313"/>
                </a:solidFill>
                <a:latin typeface="Arial"/>
                <a:cs typeface="Arial"/>
              </a:rPr>
              <a:t>non-</a:t>
            </a:r>
            <a:r>
              <a:rPr dirty="0" sz="2500" spc="50">
                <a:solidFill>
                  <a:srgbClr val="131313"/>
                </a:solidFill>
                <a:latin typeface="Arial"/>
                <a:cs typeface="Arial"/>
              </a:rPr>
              <a:t>participants</a:t>
            </a:r>
            <a:r>
              <a:rPr dirty="0" sz="2500" spc="-25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500">
                <a:solidFill>
                  <a:srgbClr val="131313"/>
                </a:solidFill>
                <a:latin typeface="Arial"/>
                <a:cs typeface="Arial"/>
              </a:rPr>
              <a:t>who</a:t>
            </a:r>
            <a:r>
              <a:rPr dirty="0" sz="2500" spc="1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500">
                <a:solidFill>
                  <a:srgbClr val="131313"/>
                </a:solidFill>
                <a:latin typeface="Arial"/>
                <a:cs typeface="Arial"/>
              </a:rPr>
              <a:t>share</a:t>
            </a:r>
            <a:r>
              <a:rPr dirty="0" sz="2500" spc="-7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500" spc="45">
                <a:solidFill>
                  <a:srgbClr val="030503"/>
                </a:solidFill>
                <a:latin typeface="Arial"/>
                <a:cs typeface="Arial"/>
              </a:rPr>
              <a:t>identical</a:t>
            </a:r>
            <a:endParaRPr sz="25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2500" spc="60">
                <a:solidFill>
                  <a:srgbClr val="131313"/>
                </a:solidFill>
                <a:latin typeface="Arial"/>
                <a:cs typeface="Arial"/>
              </a:rPr>
              <a:t>characteristics</a:t>
            </a:r>
            <a:r>
              <a:rPr dirty="0" sz="2500" spc="-20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500" spc="60">
                <a:solidFill>
                  <a:srgbClr val="131313"/>
                </a:solidFill>
                <a:latin typeface="Arial"/>
                <a:cs typeface="Arial"/>
              </a:rPr>
              <a:t>to</a:t>
            </a:r>
            <a:r>
              <a:rPr dirty="0" sz="2500" spc="16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500">
                <a:solidFill>
                  <a:srgbClr val="131313"/>
                </a:solidFill>
                <a:latin typeface="Arial"/>
                <a:cs typeface="Arial"/>
              </a:rPr>
              <a:t>create</a:t>
            </a:r>
            <a:r>
              <a:rPr dirty="0" sz="2500" spc="75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500" spc="95">
                <a:solidFill>
                  <a:srgbClr val="131313"/>
                </a:solidFill>
                <a:latin typeface="Arial"/>
                <a:cs typeface="Arial"/>
              </a:rPr>
              <a:t>a</a:t>
            </a:r>
            <a:r>
              <a:rPr dirty="0" sz="2500" spc="-8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500">
                <a:solidFill>
                  <a:srgbClr val="131313"/>
                </a:solidFill>
                <a:latin typeface="Arial"/>
                <a:cs typeface="Arial"/>
              </a:rPr>
              <a:t>synthetic</a:t>
            </a:r>
            <a:r>
              <a:rPr dirty="0" sz="2500" spc="14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500" spc="60">
                <a:solidFill>
                  <a:srgbClr val="131313"/>
                </a:solidFill>
                <a:latin typeface="Arial"/>
                <a:cs typeface="Arial"/>
              </a:rPr>
              <a:t>control</a:t>
            </a:r>
            <a:r>
              <a:rPr dirty="0" sz="2500" spc="9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2500" spc="-10">
                <a:solidFill>
                  <a:srgbClr val="131313"/>
                </a:solidFill>
                <a:latin typeface="Arial"/>
                <a:cs typeface="Arial"/>
              </a:rPr>
              <a:t>group.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3691" y="2272638"/>
            <a:ext cx="1146322" cy="117448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99619" y="2323702"/>
            <a:ext cx="1146322" cy="109788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125547" y="2400300"/>
            <a:ext cx="1273691" cy="94469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1896282" y="8004635"/>
            <a:ext cx="4662170" cy="0"/>
          </a:xfrm>
          <a:custGeom>
            <a:avLst/>
            <a:gdLst/>
            <a:ahLst/>
            <a:cxnLst/>
            <a:rect l="l" t="t" r="r" b="b"/>
            <a:pathLst>
              <a:path w="4662169" h="0">
                <a:moveTo>
                  <a:pt x="0" y="0"/>
                </a:moveTo>
                <a:lnTo>
                  <a:pt x="4661712" y="0"/>
                </a:lnTo>
              </a:path>
            </a:pathLst>
          </a:custGeom>
          <a:ln w="3175">
            <a:solidFill>
              <a:srgbClr val="DDDD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419407" y="8004635"/>
            <a:ext cx="4687570" cy="0"/>
          </a:xfrm>
          <a:custGeom>
            <a:avLst/>
            <a:gdLst/>
            <a:ahLst/>
            <a:cxnLst/>
            <a:rect l="l" t="t" r="r" b="b"/>
            <a:pathLst>
              <a:path w="4687570" h="0">
                <a:moveTo>
                  <a:pt x="0" y="0"/>
                </a:moveTo>
                <a:lnTo>
                  <a:pt x="4687186" y="0"/>
                </a:lnTo>
              </a:path>
            </a:pathLst>
          </a:custGeom>
          <a:ln w="3175">
            <a:solidFill>
              <a:srgbClr val="DDDD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93479" y="8004635"/>
            <a:ext cx="4611370" cy="0"/>
          </a:xfrm>
          <a:custGeom>
            <a:avLst/>
            <a:gdLst/>
            <a:ahLst/>
            <a:cxnLst/>
            <a:rect l="l" t="t" r="r" b="b"/>
            <a:pathLst>
              <a:path w="4611370" h="0">
                <a:moveTo>
                  <a:pt x="0" y="0"/>
                </a:moveTo>
                <a:lnTo>
                  <a:pt x="4610764" y="0"/>
                </a:lnTo>
              </a:path>
            </a:pathLst>
          </a:custGeom>
          <a:ln w="3175">
            <a:solidFill>
              <a:srgbClr val="DDDDE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83790" rIns="0" bIns="0" rtlCol="0" vert="horz">
            <a:spAutoFit/>
          </a:bodyPr>
          <a:lstStyle/>
          <a:p>
            <a:pPr marL="46990">
              <a:lnSpc>
                <a:spcPct val="100000"/>
              </a:lnSpc>
              <a:spcBef>
                <a:spcPts val="125"/>
              </a:spcBef>
            </a:pPr>
            <a:r>
              <a:rPr dirty="0" sz="4850" spc="195"/>
              <a:t>The</a:t>
            </a:r>
            <a:r>
              <a:rPr dirty="0" sz="4850" spc="-290"/>
              <a:t> </a:t>
            </a:r>
            <a:r>
              <a:rPr dirty="0" sz="4850" spc="75"/>
              <a:t>Causal</a:t>
            </a:r>
            <a:r>
              <a:rPr dirty="0" sz="4850" spc="-75"/>
              <a:t> </a:t>
            </a:r>
            <a:r>
              <a:rPr dirty="0" sz="4850" spc="80"/>
              <a:t>Agent</a:t>
            </a:r>
            <a:r>
              <a:rPr dirty="0" sz="4850" spc="-40"/>
              <a:t> </a:t>
            </a:r>
            <a:r>
              <a:rPr dirty="0" sz="4850" spc="70"/>
              <a:t>Framework</a:t>
            </a:r>
            <a:endParaRPr sz="4850"/>
          </a:p>
        </p:txBody>
      </p:sp>
      <p:sp>
        <p:nvSpPr>
          <p:cNvPr id="14" name="object 14"/>
          <p:cNvSpPr txBox="1"/>
          <p:nvPr/>
        </p:nvSpPr>
        <p:spPr>
          <a:xfrm>
            <a:off x="16147783" y="9424700"/>
            <a:ext cx="1256030" cy="2108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45"/>
              </a:lnSpc>
            </a:pPr>
            <a:r>
              <a:rPr dirty="0" sz="1300" spc="-70">
                <a:solidFill>
                  <a:srgbClr val="28282A"/>
                </a:solidFill>
                <a:latin typeface="Arial"/>
                <a:cs typeface="Arial"/>
              </a:rPr>
              <a:t>I'S\</a:t>
            </a:r>
            <a:r>
              <a:rPr dirty="0" sz="1300" spc="-20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131313"/>
                </a:solidFill>
                <a:latin typeface="Arial"/>
                <a:cs typeface="Arial"/>
              </a:rPr>
              <a:t>NotebookLM</a:t>
            </a:r>
            <a:endParaRPr sz="13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53133" y="3471314"/>
            <a:ext cx="3738245" cy="2719705"/>
          </a:xfrm>
          <a:prstGeom prst="rect">
            <a:avLst/>
          </a:prstGeom>
        </p:spPr>
        <p:txBody>
          <a:bodyPr wrap="square" lIns="0" tIns="233045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835"/>
              </a:spcBef>
            </a:pPr>
            <a:r>
              <a:rPr dirty="0" sz="3200" spc="-10" b="1">
                <a:solidFill>
                  <a:srgbClr val="010101"/>
                </a:solidFill>
                <a:latin typeface="Arial"/>
                <a:cs typeface="Arial"/>
              </a:rPr>
              <a:t>Scope</a:t>
            </a:r>
            <a:endParaRPr sz="3200">
              <a:latin typeface="Arial"/>
              <a:cs typeface="Arial"/>
            </a:endParaRPr>
          </a:p>
          <a:p>
            <a:pPr marL="12700" marR="5080" indent="8255">
              <a:lnSpc>
                <a:spcPct val="96600"/>
              </a:lnSpc>
              <a:spcBef>
                <a:spcPts val="1435"/>
              </a:spcBef>
            </a:pPr>
            <a:r>
              <a:rPr dirty="0" sz="2450" spc="-110">
                <a:solidFill>
                  <a:srgbClr val="1A1A1C"/>
                </a:solidFill>
                <a:latin typeface="Arial"/>
                <a:cs typeface="Arial"/>
              </a:rPr>
              <a:t>An</a:t>
            </a:r>
            <a:r>
              <a:rPr dirty="0" sz="2450" spc="-160">
                <a:solidFill>
                  <a:srgbClr val="1A1A1C"/>
                </a:solidFill>
                <a:latin typeface="Arial"/>
                <a:cs typeface="Arial"/>
              </a:rPr>
              <a:t> </a:t>
            </a:r>
            <a:r>
              <a:rPr dirty="0" sz="2450" spc="-30">
                <a:solidFill>
                  <a:srgbClr val="1A1A1C"/>
                </a:solidFill>
                <a:latin typeface="Arial"/>
                <a:cs typeface="Arial"/>
              </a:rPr>
              <a:t>agentic</a:t>
            </a:r>
            <a:r>
              <a:rPr dirty="0" sz="2450" spc="-105">
                <a:solidFill>
                  <a:srgbClr val="1A1A1C"/>
                </a:solidFill>
                <a:latin typeface="Arial"/>
                <a:cs typeface="Arial"/>
              </a:rPr>
              <a:t> </a:t>
            </a:r>
            <a:r>
              <a:rPr dirty="0" sz="2450" spc="-10">
                <a:solidFill>
                  <a:srgbClr val="1A1A1C"/>
                </a:solidFill>
                <a:latin typeface="Arial"/>
                <a:cs typeface="Arial"/>
              </a:rPr>
              <a:t>framework </a:t>
            </a:r>
            <a:r>
              <a:rPr dirty="0" sz="2450" spc="-65">
                <a:solidFill>
                  <a:srgbClr val="1A1A1C"/>
                </a:solidFill>
                <a:latin typeface="Arial"/>
                <a:cs typeface="Arial"/>
              </a:rPr>
              <a:t>designed</a:t>
            </a:r>
            <a:r>
              <a:rPr dirty="0" sz="2450" spc="-70">
                <a:solidFill>
                  <a:srgbClr val="1A1A1C"/>
                </a:solidFill>
                <a:latin typeface="Arial"/>
                <a:cs typeface="Arial"/>
              </a:rPr>
              <a:t> </a:t>
            </a:r>
            <a:r>
              <a:rPr dirty="0" sz="2450" spc="75">
                <a:solidFill>
                  <a:srgbClr val="1A1A1C"/>
                </a:solidFill>
                <a:latin typeface="Arial"/>
                <a:cs typeface="Arial"/>
              </a:rPr>
              <a:t>to</a:t>
            </a:r>
            <a:r>
              <a:rPr dirty="0" sz="2450" spc="-130">
                <a:solidFill>
                  <a:srgbClr val="1A1A1C"/>
                </a:solidFill>
                <a:latin typeface="Arial"/>
                <a:cs typeface="Arial"/>
              </a:rPr>
              <a:t> </a:t>
            </a:r>
            <a:r>
              <a:rPr dirty="0" sz="2450" spc="-80">
                <a:solidFill>
                  <a:srgbClr val="1A1A1C"/>
                </a:solidFill>
                <a:latin typeface="Arial"/>
                <a:cs typeface="Arial"/>
              </a:rPr>
              <a:t>evaluate </a:t>
            </a:r>
            <a:r>
              <a:rPr dirty="0" sz="2450" spc="-30">
                <a:solidFill>
                  <a:srgbClr val="1A1A1C"/>
                </a:solidFill>
                <a:latin typeface="Arial"/>
                <a:cs typeface="Arial"/>
              </a:rPr>
              <a:t>clinical </a:t>
            </a:r>
            <a:r>
              <a:rPr dirty="0" sz="2450" spc="-65">
                <a:solidFill>
                  <a:srgbClr val="1A1A1C"/>
                </a:solidFill>
                <a:latin typeface="Arial"/>
                <a:cs typeface="Arial"/>
              </a:rPr>
              <a:t>programs,</a:t>
            </a:r>
            <a:r>
              <a:rPr dirty="0" sz="2450" spc="-90">
                <a:solidFill>
                  <a:srgbClr val="1A1A1C"/>
                </a:solidFill>
                <a:latin typeface="Arial"/>
                <a:cs typeface="Arial"/>
              </a:rPr>
              <a:t> </a:t>
            </a:r>
            <a:r>
              <a:rPr dirty="0" sz="2450" spc="-10">
                <a:solidFill>
                  <a:srgbClr val="1A1A1C"/>
                </a:solidFill>
                <a:latin typeface="Arial"/>
                <a:cs typeface="Arial"/>
              </a:rPr>
              <a:t>compliance </a:t>
            </a:r>
            <a:r>
              <a:rPr dirty="0" sz="2450" spc="-35">
                <a:solidFill>
                  <a:srgbClr val="1A1A1C"/>
                </a:solidFill>
                <a:latin typeface="Arial"/>
                <a:cs typeface="Arial"/>
              </a:rPr>
              <a:t>interventions,</a:t>
            </a:r>
            <a:r>
              <a:rPr dirty="0" sz="2450" spc="-135">
                <a:solidFill>
                  <a:srgbClr val="1A1A1C"/>
                </a:solidFill>
                <a:latin typeface="Arial"/>
                <a:cs typeface="Arial"/>
              </a:rPr>
              <a:t> </a:t>
            </a:r>
            <a:r>
              <a:rPr dirty="0" sz="2450" spc="-25">
                <a:solidFill>
                  <a:srgbClr val="1A1A1C"/>
                </a:solidFill>
                <a:latin typeface="Arial"/>
                <a:cs typeface="Arial"/>
              </a:rPr>
              <a:t>and </a:t>
            </a:r>
            <a:r>
              <a:rPr dirty="0" sz="2450" spc="-55">
                <a:solidFill>
                  <a:srgbClr val="1A1A1C"/>
                </a:solidFill>
                <a:latin typeface="Arial"/>
                <a:cs typeface="Arial"/>
              </a:rPr>
              <a:t>marketing</a:t>
            </a:r>
            <a:r>
              <a:rPr dirty="0" sz="2450" spc="-114">
                <a:solidFill>
                  <a:srgbClr val="1A1A1C"/>
                </a:solidFill>
                <a:latin typeface="Arial"/>
                <a:cs typeface="Arial"/>
              </a:rPr>
              <a:t> </a:t>
            </a:r>
            <a:r>
              <a:rPr dirty="0" sz="2450" spc="-10">
                <a:solidFill>
                  <a:srgbClr val="1A1A1C"/>
                </a:solidFill>
                <a:latin typeface="Arial"/>
                <a:cs typeface="Arial"/>
              </a:rPr>
              <a:t>campaigns.</a:t>
            </a:r>
            <a:endParaRPr sz="24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85390" y="3441874"/>
            <a:ext cx="3937000" cy="2736215"/>
          </a:xfrm>
          <a:prstGeom prst="rect">
            <a:avLst/>
          </a:prstGeom>
        </p:spPr>
        <p:txBody>
          <a:bodyPr wrap="square" lIns="0" tIns="24955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64"/>
              </a:spcBef>
            </a:pPr>
            <a:r>
              <a:rPr dirty="0" sz="3200" spc="-40" b="1">
                <a:solidFill>
                  <a:srgbClr val="010101"/>
                </a:solidFill>
                <a:latin typeface="Arial"/>
                <a:cs typeface="Arial"/>
              </a:rPr>
              <a:t>Scalability</a:t>
            </a:r>
            <a:r>
              <a:rPr dirty="0" sz="3200" spc="-150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200" spc="-75" b="1">
                <a:solidFill>
                  <a:srgbClr val="010101"/>
                </a:solidFill>
                <a:latin typeface="Arial"/>
                <a:cs typeface="Arial"/>
              </a:rPr>
              <a:t>&amp;</a:t>
            </a:r>
            <a:r>
              <a:rPr dirty="0" sz="3200" spc="-320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200" spc="-10" b="1">
                <a:solidFill>
                  <a:srgbClr val="010101"/>
                </a:solidFill>
                <a:latin typeface="Arial"/>
                <a:cs typeface="Arial"/>
              </a:rPr>
              <a:t>Metrics</a:t>
            </a:r>
            <a:endParaRPr sz="3200">
              <a:latin typeface="Arial"/>
              <a:cs typeface="Arial"/>
            </a:endParaRPr>
          </a:p>
          <a:p>
            <a:pPr marL="13970" marR="5080">
              <a:lnSpc>
                <a:spcPct val="95700"/>
              </a:lnSpc>
              <a:spcBef>
                <a:spcPts val="1560"/>
              </a:spcBef>
            </a:pPr>
            <a:r>
              <a:rPr dirty="0" sz="2450" spc="-85">
                <a:solidFill>
                  <a:srgbClr val="1A1A1C"/>
                </a:solidFill>
                <a:latin typeface="Arial"/>
                <a:cs typeface="Arial"/>
              </a:rPr>
              <a:t>Robust</a:t>
            </a:r>
            <a:r>
              <a:rPr dirty="0" sz="2450" spc="-55">
                <a:solidFill>
                  <a:srgbClr val="1A1A1C"/>
                </a:solidFill>
                <a:latin typeface="Arial"/>
                <a:cs typeface="Arial"/>
              </a:rPr>
              <a:t> </a:t>
            </a:r>
            <a:r>
              <a:rPr dirty="0" sz="2450" spc="-45">
                <a:solidFill>
                  <a:srgbClr val="2A2A2B"/>
                </a:solidFill>
                <a:latin typeface="Arial"/>
                <a:cs typeface="Arial"/>
              </a:rPr>
              <a:t>calculation</a:t>
            </a:r>
            <a:r>
              <a:rPr dirty="0" sz="2450" spc="-25">
                <a:solidFill>
                  <a:srgbClr val="2A2A2B"/>
                </a:solidFill>
                <a:latin typeface="Arial"/>
                <a:cs typeface="Arial"/>
              </a:rPr>
              <a:t> </a:t>
            </a:r>
            <a:r>
              <a:rPr dirty="0" sz="2450">
                <a:solidFill>
                  <a:srgbClr val="1A1A1C"/>
                </a:solidFill>
                <a:latin typeface="Arial"/>
                <a:cs typeface="Arial"/>
              </a:rPr>
              <a:t>of</a:t>
            </a:r>
            <a:r>
              <a:rPr dirty="0" sz="2450" spc="-114">
                <a:solidFill>
                  <a:srgbClr val="1A1A1C"/>
                </a:solidFill>
                <a:latin typeface="Arial"/>
                <a:cs typeface="Arial"/>
              </a:rPr>
              <a:t> </a:t>
            </a:r>
            <a:r>
              <a:rPr dirty="0" sz="2450" spc="-90">
                <a:solidFill>
                  <a:srgbClr val="1A1A1C"/>
                </a:solidFill>
                <a:latin typeface="Arial"/>
                <a:cs typeface="Arial"/>
              </a:rPr>
              <a:t>Average </a:t>
            </a:r>
            <a:r>
              <a:rPr dirty="0" sz="2450" spc="-70">
                <a:solidFill>
                  <a:srgbClr val="1A1A1C"/>
                </a:solidFill>
                <a:latin typeface="Arial"/>
                <a:cs typeface="Arial"/>
              </a:rPr>
              <a:t>Treatment</a:t>
            </a:r>
            <a:r>
              <a:rPr dirty="0" sz="2450" spc="-100">
                <a:solidFill>
                  <a:srgbClr val="1A1A1C"/>
                </a:solidFill>
                <a:latin typeface="Arial"/>
                <a:cs typeface="Arial"/>
              </a:rPr>
              <a:t> </a:t>
            </a:r>
            <a:r>
              <a:rPr dirty="0" sz="2450" spc="-10">
                <a:solidFill>
                  <a:srgbClr val="1A1A1C"/>
                </a:solidFill>
                <a:latin typeface="Arial"/>
                <a:cs typeface="Arial"/>
              </a:rPr>
              <a:t>Effect</a:t>
            </a:r>
            <a:r>
              <a:rPr dirty="0" sz="2450" spc="-140">
                <a:solidFill>
                  <a:srgbClr val="1A1A1C"/>
                </a:solidFill>
                <a:latin typeface="Arial"/>
                <a:cs typeface="Arial"/>
              </a:rPr>
              <a:t> </a:t>
            </a:r>
            <a:r>
              <a:rPr dirty="0" sz="2450" spc="-10">
                <a:solidFill>
                  <a:srgbClr val="1A1A1C"/>
                </a:solidFill>
                <a:latin typeface="Arial"/>
                <a:cs typeface="Arial"/>
              </a:rPr>
              <a:t>(ATE), </a:t>
            </a:r>
            <a:r>
              <a:rPr dirty="0" sz="2450" spc="-75">
                <a:solidFill>
                  <a:srgbClr val="1A1A1C"/>
                </a:solidFill>
                <a:latin typeface="Arial"/>
                <a:cs typeface="Arial"/>
              </a:rPr>
              <a:t>Heterogeneous</a:t>
            </a:r>
            <a:r>
              <a:rPr dirty="0" sz="2450" spc="-20">
                <a:solidFill>
                  <a:srgbClr val="1A1A1C"/>
                </a:solidFill>
                <a:latin typeface="Arial"/>
                <a:cs typeface="Arial"/>
              </a:rPr>
              <a:t> </a:t>
            </a:r>
            <a:r>
              <a:rPr dirty="0" sz="2450" spc="-10">
                <a:solidFill>
                  <a:srgbClr val="1A1A1C"/>
                </a:solidFill>
                <a:latin typeface="Arial"/>
                <a:cs typeface="Arial"/>
              </a:rPr>
              <a:t>Treatment Effect</a:t>
            </a:r>
            <a:r>
              <a:rPr dirty="0" sz="2450" spc="-135">
                <a:solidFill>
                  <a:srgbClr val="1A1A1C"/>
                </a:solidFill>
                <a:latin typeface="Arial"/>
                <a:cs typeface="Arial"/>
              </a:rPr>
              <a:t> (HTE), </a:t>
            </a:r>
            <a:r>
              <a:rPr dirty="0" sz="2450" spc="-50">
                <a:solidFill>
                  <a:srgbClr val="1A1A1C"/>
                </a:solidFill>
                <a:latin typeface="Arial"/>
                <a:cs typeface="Arial"/>
              </a:rPr>
              <a:t>and</a:t>
            </a:r>
            <a:r>
              <a:rPr dirty="0" sz="2450" spc="-185">
                <a:solidFill>
                  <a:srgbClr val="1A1A1C"/>
                </a:solidFill>
                <a:latin typeface="Arial"/>
                <a:cs typeface="Arial"/>
              </a:rPr>
              <a:t> </a:t>
            </a:r>
            <a:r>
              <a:rPr dirty="0" sz="2450" spc="-10">
                <a:solidFill>
                  <a:srgbClr val="010101"/>
                </a:solidFill>
                <a:latin typeface="Arial"/>
                <a:cs typeface="Arial"/>
              </a:rPr>
              <a:t>I</a:t>
            </a:r>
            <a:r>
              <a:rPr dirty="0" sz="2450" spc="-10">
                <a:solidFill>
                  <a:srgbClr val="1A1A1C"/>
                </a:solidFill>
                <a:latin typeface="Arial"/>
                <a:cs typeface="Arial"/>
              </a:rPr>
              <a:t>ndividua</a:t>
            </a:r>
            <a:r>
              <a:rPr dirty="0" sz="2450" spc="-10">
                <a:solidFill>
                  <a:srgbClr val="010101"/>
                </a:solidFill>
                <a:latin typeface="Arial"/>
                <a:cs typeface="Arial"/>
              </a:rPr>
              <a:t>l </a:t>
            </a:r>
            <a:r>
              <a:rPr dirty="0" sz="2450" spc="-70">
                <a:solidFill>
                  <a:srgbClr val="1A1A1C"/>
                </a:solidFill>
                <a:latin typeface="Arial"/>
                <a:cs typeface="Arial"/>
              </a:rPr>
              <a:t>Treatment</a:t>
            </a:r>
            <a:r>
              <a:rPr dirty="0" sz="2450" spc="-100">
                <a:solidFill>
                  <a:srgbClr val="1A1A1C"/>
                </a:solidFill>
                <a:latin typeface="Arial"/>
                <a:cs typeface="Arial"/>
              </a:rPr>
              <a:t> </a:t>
            </a:r>
            <a:r>
              <a:rPr dirty="0" sz="2450" spc="-10">
                <a:solidFill>
                  <a:srgbClr val="1A1A1C"/>
                </a:solidFill>
                <a:latin typeface="Arial"/>
                <a:cs typeface="Arial"/>
              </a:rPr>
              <a:t>Effect</a:t>
            </a:r>
            <a:r>
              <a:rPr dirty="0" sz="2450" spc="-135">
                <a:solidFill>
                  <a:srgbClr val="1A1A1C"/>
                </a:solidFill>
                <a:latin typeface="Arial"/>
                <a:cs typeface="Arial"/>
              </a:rPr>
              <a:t> </a:t>
            </a:r>
            <a:r>
              <a:rPr dirty="0" sz="2450" spc="-10">
                <a:solidFill>
                  <a:srgbClr val="1A1A1C"/>
                </a:solidFill>
                <a:latin typeface="Arial"/>
                <a:cs typeface="Arial"/>
              </a:rPr>
              <a:t>(ITE).</a:t>
            </a:r>
            <a:endParaRPr sz="24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84676" y="6440850"/>
            <a:ext cx="3747770" cy="111569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algn="just" marL="15875" marR="5080" indent="-3810">
              <a:lnSpc>
                <a:spcPts val="2810"/>
              </a:lnSpc>
              <a:spcBef>
                <a:spcPts val="315"/>
              </a:spcBef>
            </a:pPr>
            <a:r>
              <a:rPr dirty="0" sz="2450" spc="-45">
                <a:solidFill>
                  <a:srgbClr val="1A1A1C"/>
                </a:solidFill>
                <a:latin typeface="Arial"/>
                <a:cs typeface="Arial"/>
              </a:rPr>
              <a:t>Output</a:t>
            </a:r>
            <a:r>
              <a:rPr dirty="0" sz="2450" spc="-65">
                <a:solidFill>
                  <a:srgbClr val="1A1A1C"/>
                </a:solidFill>
                <a:latin typeface="Arial"/>
                <a:cs typeface="Arial"/>
              </a:rPr>
              <a:t> </a:t>
            </a:r>
            <a:r>
              <a:rPr dirty="0" sz="2450" spc="-35">
                <a:solidFill>
                  <a:srgbClr val="2A2A2B"/>
                </a:solidFill>
                <a:latin typeface="Arial"/>
                <a:cs typeface="Arial"/>
              </a:rPr>
              <a:t>inc</a:t>
            </a:r>
            <a:r>
              <a:rPr dirty="0" sz="2450" spc="-35">
                <a:solidFill>
                  <a:srgbClr val="010101"/>
                </a:solidFill>
                <a:latin typeface="Arial"/>
                <a:cs typeface="Arial"/>
              </a:rPr>
              <a:t>l</a:t>
            </a:r>
            <a:r>
              <a:rPr dirty="0" sz="2450" spc="-35">
                <a:solidFill>
                  <a:srgbClr val="1A1A1C"/>
                </a:solidFill>
                <a:latin typeface="Arial"/>
                <a:cs typeface="Arial"/>
              </a:rPr>
              <a:t>udes</a:t>
            </a:r>
            <a:r>
              <a:rPr dirty="0" sz="2450" spc="-135">
                <a:solidFill>
                  <a:srgbClr val="1A1A1C"/>
                </a:solidFill>
                <a:latin typeface="Arial"/>
                <a:cs typeface="Arial"/>
              </a:rPr>
              <a:t> </a:t>
            </a:r>
            <a:r>
              <a:rPr dirty="0" sz="2450" spc="-90">
                <a:solidFill>
                  <a:srgbClr val="1A1A1C"/>
                </a:solidFill>
                <a:latin typeface="Arial"/>
                <a:cs typeface="Arial"/>
              </a:rPr>
              <a:t>visual</a:t>
            </a:r>
            <a:r>
              <a:rPr dirty="0" sz="2450" spc="-80">
                <a:solidFill>
                  <a:srgbClr val="1A1A1C"/>
                </a:solidFill>
                <a:latin typeface="Arial"/>
                <a:cs typeface="Arial"/>
              </a:rPr>
              <a:t> </a:t>
            </a:r>
            <a:r>
              <a:rPr dirty="0" sz="2450" spc="-10">
                <a:solidFill>
                  <a:srgbClr val="1A1A1C"/>
                </a:solidFill>
                <a:latin typeface="Arial"/>
                <a:cs typeface="Arial"/>
              </a:rPr>
              <a:t>plots </a:t>
            </a:r>
            <a:r>
              <a:rPr dirty="0" sz="2450" spc="-65">
                <a:solidFill>
                  <a:srgbClr val="1A1A1C"/>
                </a:solidFill>
                <a:latin typeface="Arial"/>
                <a:cs typeface="Arial"/>
              </a:rPr>
              <a:t>and</a:t>
            </a:r>
            <a:r>
              <a:rPr dirty="0" sz="2450" spc="-105">
                <a:solidFill>
                  <a:srgbClr val="1A1A1C"/>
                </a:solidFill>
                <a:latin typeface="Arial"/>
                <a:cs typeface="Arial"/>
              </a:rPr>
              <a:t> </a:t>
            </a:r>
            <a:r>
              <a:rPr dirty="0" sz="2450" spc="-45">
                <a:solidFill>
                  <a:srgbClr val="1A1A1C"/>
                </a:solidFill>
                <a:latin typeface="Arial"/>
                <a:cs typeface="Arial"/>
              </a:rPr>
              <a:t>exportable</a:t>
            </a:r>
            <a:r>
              <a:rPr dirty="0" sz="2450" spc="-100">
                <a:solidFill>
                  <a:srgbClr val="1A1A1C"/>
                </a:solidFill>
                <a:latin typeface="Arial"/>
                <a:cs typeface="Arial"/>
              </a:rPr>
              <a:t> </a:t>
            </a:r>
            <a:r>
              <a:rPr dirty="0" sz="2450" spc="-55">
                <a:solidFill>
                  <a:srgbClr val="1A1A1C"/>
                </a:solidFill>
                <a:latin typeface="Arial"/>
                <a:cs typeface="Arial"/>
              </a:rPr>
              <a:t>Python</a:t>
            </a:r>
            <a:r>
              <a:rPr dirty="0" sz="2450" spc="-110">
                <a:solidFill>
                  <a:srgbClr val="1A1A1C"/>
                </a:solidFill>
                <a:latin typeface="Arial"/>
                <a:cs typeface="Arial"/>
              </a:rPr>
              <a:t> </a:t>
            </a:r>
            <a:r>
              <a:rPr dirty="0" sz="2450" spc="-20">
                <a:solidFill>
                  <a:srgbClr val="1A1A1C"/>
                </a:solidFill>
                <a:latin typeface="Arial"/>
                <a:cs typeface="Arial"/>
              </a:rPr>
              <a:t>code </a:t>
            </a:r>
            <a:r>
              <a:rPr dirty="0" sz="2450" spc="-10">
                <a:solidFill>
                  <a:srgbClr val="1A1A1C"/>
                </a:solidFill>
                <a:latin typeface="Arial"/>
                <a:cs typeface="Arial"/>
              </a:rPr>
              <a:t>for</a:t>
            </a:r>
            <a:r>
              <a:rPr dirty="0" sz="2450" spc="-150">
                <a:solidFill>
                  <a:srgbClr val="1A1A1C"/>
                </a:solidFill>
                <a:latin typeface="Arial"/>
                <a:cs typeface="Arial"/>
              </a:rPr>
              <a:t> </a:t>
            </a:r>
            <a:r>
              <a:rPr dirty="0" sz="2450" spc="-10">
                <a:solidFill>
                  <a:srgbClr val="1A1A1C"/>
                </a:solidFill>
                <a:latin typeface="Arial"/>
                <a:cs typeface="Arial"/>
              </a:rPr>
              <a:t>reproducibility.</a:t>
            </a:r>
            <a:endParaRPr sz="24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108567" y="3441874"/>
            <a:ext cx="3797300" cy="2378710"/>
          </a:xfrm>
          <a:prstGeom prst="rect">
            <a:avLst/>
          </a:prstGeom>
        </p:spPr>
        <p:txBody>
          <a:bodyPr wrap="square" lIns="0" tIns="24955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64"/>
              </a:spcBef>
            </a:pPr>
            <a:r>
              <a:rPr dirty="0" sz="3200" spc="-90" b="1">
                <a:solidFill>
                  <a:srgbClr val="010101"/>
                </a:solidFill>
                <a:latin typeface="Arial"/>
                <a:cs typeface="Arial"/>
              </a:rPr>
              <a:t>Easy</a:t>
            </a:r>
            <a:r>
              <a:rPr dirty="0" sz="3200" spc="-125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200" spc="85" b="1">
                <a:solidFill>
                  <a:srgbClr val="010101"/>
                </a:solidFill>
                <a:latin typeface="Arial"/>
                <a:cs typeface="Arial"/>
              </a:rPr>
              <a:t>to</a:t>
            </a:r>
            <a:r>
              <a:rPr dirty="0" sz="3200" spc="-375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3200" spc="-25" b="1">
                <a:solidFill>
                  <a:srgbClr val="010101"/>
                </a:solidFill>
                <a:latin typeface="Arial"/>
                <a:cs typeface="Arial"/>
              </a:rPr>
              <a:t>Use</a:t>
            </a:r>
            <a:endParaRPr sz="3200">
              <a:latin typeface="Arial"/>
              <a:cs typeface="Arial"/>
            </a:endParaRPr>
          </a:p>
          <a:p>
            <a:pPr marL="21590" marR="5080" indent="-2540">
              <a:lnSpc>
                <a:spcPts val="2810"/>
              </a:lnSpc>
              <a:spcBef>
                <a:spcPts val="1635"/>
              </a:spcBef>
            </a:pPr>
            <a:r>
              <a:rPr dirty="0" sz="2450" spc="-80" b="1">
                <a:solidFill>
                  <a:srgbClr val="010101"/>
                </a:solidFill>
                <a:latin typeface="Arial"/>
                <a:cs typeface="Arial"/>
              </a:rPr>
              <a:t>N</a:t>
            </a:r>
            <a:r>
              <a:rPr dirty="0" sz="2450" spc="-80" b="1">
                <a:solidFill>
                  <a:srgbClr val="1A1A1C"/>
                </a:solidFill>
                <a:latin typeface="Arial"/>
                <a:cs typeface="Arial"/>
              </a:rPr>
              <a:t>a</a:t>
            </a:r>
            <a:r>
              <a:rPr dirty="0" sz="2450" spc="-80" b="1">
                <a:solidFill>
                  <a:srgbClr val="010101"/>
                </a:solidFill>
                <a:latin typeface="Arial"/>
                <a:cs typeface="Arial"/>
              </a:rPr>
              <a:t>tu</a:t>
            </a:r>
            <a:r>
              <a:rPr dirty="0" sz="2450" spc="-80" b="1">
                <a:solidFill>
                  <a:srgbClr val="1A1A1C"/>
                </a:solidFill>
                <a:latin typeface="Arial"/>
                <a:cs typeface="Arial"/>
              </a:rPr>
              <a:t>ra</a:t>
            </a:r>
            <a:r>
              <a:rPr dirty="0" sz="2450" spc="-80" b="1">
                <a:solidFill>
                  <a:srgbClr val="010101"/>
                </a:solidFill>
                <a:latin typeface="Arial"/>
                <a:cs typeface="Arial"/>
              </a:rPr>
              <a:t>ll</a:t>
            </a:r>
            <a:r>
              <a:rPr dirty="0" sz="2450" spc="-80" b="1">
                <a:solidFill>
                  <a:srgbClr val="1A1A1C"/>
                </a:solidFill>
                <a:latin typeface="Arial"/>
                <a:cs typeface="Arial"/>
              </a:rPr>
              <a:t>a</a:t>
            </a:r>
            <a:r>
              <a:rPr dirty="0" sz="2450" spc="-80" b="1">
                <a:solidFill>
                  <a:srgbClr val="010101"/>
                </a:solidFill>
                <a:latin typeface="Arial"/>
                <a:cs typeface="Arial"/>
              </a:rPr>
              <a:t>ngu</a:t>
            </a:r>
            <a:r>
              <a:rPr dirty="0" sz="2450" spc="-80" b="1">
                <a:solidFill>
                  <a:srgbClr val="1A1A1C"/>
                </a:solidFill>
                <a:latin typeface="Arial"/>
                <a:cs typeface="Arial"/>
              </a:rPr>
              <a:t>a</a:t>
            </a:r>
            <a:r>
              <a:rPr dirty="0" sz="2450" spc="-80" b="1">
                <a:solidFill>
                  <a:srgbClr val="010101"/>
                </a:solidFill>
                <a:latin typeface="Arial"/>
                <a:cs typeface="Arial"/>
              </a:rPr>
              <a:t>g</a:t>
            </a:r>
            <a:r>
              <a:rPr dirty="0" sz="2450" spc="-80" b="1">
                <a:solidFill>
                  <a:srgbClr val="1A1A1C"/>
                </a:solidFill>
                <a:latin typeface="Arial"/>
                <a:cs typeface="Arial"/>
              </a:rPr>
              <a:t>e</a:t>
            </a:r>
            <a:r>
              <a:rPr dirty="0" sz="2450" spc="-200" b="1">
                <a:solidFill>
                  <a:srgbClr val="1A1A1C"/>
                </a:solidFill>
                <a:latin typeface="Arial"/>
                <a:cs typeface="Arial"/>
              </a:rPr>
              <a:t> </a:t>
            </a:r>
            <a:r>
              <a:rPr dirty="0" sz="2450" spc="-25">
                <a:solidFill>
                  <a:srgbClr val="2A2A2B"/>
                </a:solidFill>
                <a:latin typeface="Arial"/>
                <a:cs typeface="Arial"/>
              </a:rPr>
              <a:t>interaction </a:t>
            </a:r>
            <a:r>
              <a:rPr dirty="0" sz="2450" spc="-25">
                <a:solidFill>
                  <a:srgbClr val="1A1A1C"/>
                </a:solidFill>
                <a:latin typeface="Arial"/>
                <a:cs typeface="Arial"/>
              </a:rPr>
              <a:t>bridges</a:t>
            </a:r>
            <a:r>
              <a:rPr dirty="0" sz="2450" spc="-114">
                <a:solidFill>
                  <a:srgbClr val="1A1A1C"/>
                </a:solidFill>
                <a:latin typeface="Arial"/>
                <a:cs typeface="Arial"/>
              </a:rPr>
              <a:t> </a:t>
            </a:r>
            <a:r>
              <a:rPr dirty="0" sz="2450">
                <a:solidFill>
                  <a:srgbClr val="1A1A1C"/>
                </a:solidFill>
                <a:latin typeface="Arial"/>
                <a:cs typeface="Arial"/>
              </a:rPr>
              <a:t>the</a:t>
            </a:r>
            <a:r>
              <a:rPr dirty="0" sz="2450" spc="-114">
                <a:solidFill>
                  <a:srgbClr val="1A1A1C"/>
                </a:solidFill>
                <a:latin typeface="Arial"/>
                <a:cs typeface="Arial"/>
              </a:rPr>
              <a:t> </a:t>
            </a:r>
            <a:r>
              <a:rPr dirty="0" sz="2450" spc="-80">
                <a:solidFill>
                  <a:srgbClr val="1A1A1C"/>
                </a:solidFill>
                <a:latin typeface="Arial"/>
                <a:cs typeface="Arial"/>
              </a:rPr>
              <a:t>gap</a:t>
            </a:r>
            <a:r>
              <a:rPr dirty="0" sz="2450" spc="-145">
                <a:solidFill>
                  <a:srgbClr val="1A1A1C"/>
                </a:solidFill>
                <a:latin typeface="Arial"/>
                <a:cs typeface="Arial"/>
              </a:rPr>
              <a:t> </a:t>
            </a:r>
            <a:r>
              <a:rPr dirty="0" sz="2450" spc="-10">
                <a:solidFill>
                  <a:srgbClr val="1A1A1C"/>
                </a:solidFill>
                <a:latin typeface="Arial"/>
                <a:cs typeface="Arial"/>
              </a:rPr>
              <a:t>between </a:t>
            </a:r>
            <a:r>
              <a:rPr dirty="0" sz="2450" spc="-35">
                <a:solidFill>
                  <a:srgbClr val="010101"/>
                </a:solidFill>
                <a:latin typeface="Arial"/>
                <a:cs typeface="Arial"/>
              </a:rPr>
              <a:t>t</a:t>
            </a:r>
            <a:r>
              <a:rPr dirty="0" sz="2450" spc="-35">
                <a:solidFill>
                  <a:srgbClr val="1A1A1C"/>
                </a:solidFill>
                <a:latin typeface="Arial"/>
                <a:cs typeface="Arial"/>
              </a:rPr>
              <a:t>echnical</a:t>
            </a:r>
            <a:r>
              <a:rPr dirty="0" sz="2450" spc="-195">
                <a:solidFill>
                  <a:srgbClr val="1A1A1C"/>
                </a:solidFill>
                <a:latin typeface="Arial"/>
                <a:cs typeface="Arial"/>
              </a:rPr>
              <a:t> </a:t>
            </a:r>
            <a:r>
              <a:rPr dirty="0" sz="2450" spc="-40">
                <a:solidFill>
                  <a:srgbClr val="1A1A1C"/>
                </a:solidFill>
                <a:latin typeface="Arial"/>
                <a:cs typeface="Arial"/>
              </a:rPr>
              <a:t>data</a:t>
            </a:r>
            <a:r>
              <a:rPr dirty="0" sz="2450" spc="-65">
                <a:solidFill>
                  <a:srgbClr val="1A1A1C"/>
                </a:solidFill>
                <a:latin typeface="Arial"/>
                <a:cs typeface="Arial"/>
              </a:rPr>
              <a:t> </a:t>
            </a:r>
            <a:r>
              <a:rPr dirty="0" sz="2450" spc="-25">
                <a:solidFill>
                  <a:srgbClr val="1A1A1C"/>
                </a:solidFill>
                <a:latin typeface="Arial"/>
                <a:cs typeface="Arial"/>
              </a:rPr>
              <a:t>scientists</a:t>
            </a:r>
            <a:r>
              <a:rPr dirty="0" sz="2450" spc="-70">
                <a:solidFill>
                  <a:srgbClr val="1A1A1C"/>
                </a:solidFill>
                <a:latin typeface="Arial"/>
                <a:cs typeface="Arial"/>
              </a:rPr>
              <a:t> </a:t>
            </a:r>
            <a:r>
              <a:rPr dirty="0" sz="2450" spc="-25">
                <a:solidFill>
                  <a:srgbClr val="1A1A1C"/>
                </a:solidFill>
                <a:latin typeface="Arial"/>
                <a:cs typeface="Arial"/>
              </a:rPr>
              <a:t>and </a:t>
            </a:r>
            <a:r>
              <a:rPr dirty="0" sz="2450" spc="-60">
                <a:solidFill>
                  <a:srgbClr val="1A1A1C"/>
                </a:solidFill>
                <a:latin typeface="Arial"/>
                <a:cs typeface="Arial"/>
              </a:rPr>
              <a:t>business</a:t>
            </a:r>
            <a:r>
              <a:rPr dirty="0" sz="2450" spc="-100">
                <a:solidFill>
                  <a:srgbClr val="1A1A1C"/>
                </a:solidFill>
                <a:latin typeface="Arial"/>
                <a:cs typeface="Arial"/>
              </a:rPr>
              <a:t> </a:t>
            </a:r>
            <a:r>
              <a:rPr dirty="0" sz="2450" spc="-10">
                <a:solidFill>
                  <a:srgbClr val="1A1A1C"/>
                </a:solidFill>
                <a:latin typeface="Arial"/>
                <a:cs typeface="Arial"/>
              </a:rPr>
              <a:t>analysts.</a:t>
            </a:r>
            <a:endParaRPr sz="24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00568" y="8425987"/>
            <a:ext cx="14114780" cy="7766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737995" algn="l"/>
              </a:tabLst>
            </a:pPr>
            <a:r>
              <a:rPr dirty="0" sz="4650" spc="-705" b="1">
                <a:solidFill>
                  <a:srgbClr val="11385E"/>
                </a:solidFill>
                <a:latin typeface="Courier New"/>
                <a:cs typeface="Courier New"/>
              </a:rPr>
              <a:t>LLM</a:t>
            </a:r>
            <a:r>
              <a:rPr dirty="0" sz="4650" spc="-275" b="1">
                <a:solidFill>
                  <a:srgbClr val="11385E"/>
                </a:solidFill>
                <a:latin typeface="Courier New"/>
                <a:cs typeface="Courier New"/>
              </a:rPr>
              <a:t> </a:t>
            </a:r>
            <a:r>
              <a:rPr dirty="0" sz="3850" spc="-60" b="1">
                <a:solidFill>
                  <a:srgbClr val="67A8A7"/>
                </a:solidFill>
                <a:latin typeface="Arial"/>
                <a:cs typeface="Arial"/>
              </a:rPr>
              <a:t>&amp;</a:t>
            </a:r>
            <a:r>
              <a:rPr dirty="0" sz="3850" b="1">
                <a:solidFill>
                  <a:srgbClr val="67A8A7"/>
                </a:solidFill>
                <a:latin typeface="Arial"/>
                <a:cs typeface="Arial"/>
              </a:rPr>
              <a:t>	</a:t>
            </a:r>
            <a:r>
              <a:rPr dirty="0" sz="4650" spc="-80" b="1">
                <a:solidFill>
                  <a:srgbClr val="11385E"/>
                </a:solidFill>
                <a:latin typeface="Courier New"/>
                <a:cs typeface="Courier New"/>
              </a:rPr>
              <a:t>Agent</a:t>
            </a:r>
            <a:r>
              <a:rPr dirty="0" sz="4650" spc="-80" b="1">
                <a:solidFill>
                  <a:srgbClr val="67A8A7"/>
                </a:solidFill>
                <a:latin typeface="Courier New"/>
                <a:cs typeface="Courier New"/>
              </a:rPr>
              <a:t>+</a:t>
            </a:r>
            <a:r>
              <a:rPr dirty="0" sz="4650" spc="-1050" b="1">
                <a:solidFill>
                  <a:srgbClr val="67A8A7"/>
                </a:solidFill>
                <a:latin typeface="Courier New"/>
                <a:cs typeface="Courier New"/>
              </a:rPr>
              <a:t> </a:t>
            </a:r>
            <a:r>
              <a:rPr dirty="0" sz="4650" spc="-590" b="1">
                <a:solidFill>
                  <a:srgbClr val="11385E"/>
                </a:solidFill>
                <a:latin typeface="Courier New"/>
                <a:cs typeface="Courier New"/>
              </a:rPr>
              <a:t>CausalPipe</a:t>
            </a:r>
            <a:r>
              <a:rPr dirty="0" sz="4650" spc="250" b="1">
                <a:solidFill>
                  <a:srgbClr val="11385E"/>
                </a:solidFill>
                <a:latin typeface="Courier New"/>
                <a:cs typeface="Courier New"/>
              </a:rPr>
              <a:t> </a:t>
            </a:r>
            <a:r>
              <a:rPr dirty="0" sz="4900" spc="-969" b="1">
                <a:solidFill>
                  <a:srgbClr val="67A8A7"/>
                </a:solidFill>
                <a:latin typeface="Courier New"/>
                <a:cs typeface="Courier New"/>
              </a:rPr>
              <a:t>=</a:t>
            </a:r>
            <a:r>
              <a:rPr dirty="0" sz="4900" spc="-434" b="1">
                <a:solidFill>
                  <a:srgbClr val="67A8A7"/>
                </a:solidFill>
                <a:latin typeface="Courier New"/>
                <a:cs typeface="Courier New"/>
              </a:rPr>
              <a:t> </a:t>
            </a:r>
            <a:r>
              <a:rPr dirty="0" sz="4650" spc="-565" b="1">
                <a:solidFill>
                  <a:srgbClr val="010101"/>
                </a:solidFill>
                <a:latin typeface="Courier New"/>
                <a:cs typeface="Courier New"/>
              </a:rPr>
              <a:t>Causal</a:t>
            </a:r>
            <a:r>
              <a:rPr dirty="0" sz="4650" spc="-210" b="1">
                <a:solidFill>
                  <a:srgbClr val="010101"/>
                </a:solidFill>
                <a:latin typeface="Courier New"/>
                <a:cs typeface="Courier New"/>
              </a:rPr>
              <a:t> </a:t>
            </a:r>
            <a:r>
              <a:rPr dirty="0" sz="4650" spc="-650" b="1">
                <a:solidFill>
                  <a:srgbClr val="010101"/>
                </a:solidFill>
                <a:latin typeface="Courier New"/>
                <a:cs typeface="Courier New"/>
              </a:rPr>
              <a:t>Agent</a:t>
            </a:r>
            <a:r>
              <a:rPr dirty="0" sz="4650" spc="-25" b="1">
                <a:solidFill>
                  <a:srgbClr val="010101"/>
                </a:solidFill>
                <a:latin typeface="Courier New"/>
                <a:cs typeface="Courier New"/>
              </a:rPr>
              <a:t> </a:t>
            </a:r>
            <a:r>
              <a:rPr dirty="0" sz="4650" spc="-575" b="1">
                <a:solidFill>
                  <a:srgbClr val="010101"/>
                </a:solidFill>
                <a:latin typeface="Courier New"/>
                <a:cs typeface="Courier New"/>
              </a:rPr>
              <a:t>Framework</a:t>
            </a:r>
            <a:endParaRPr sz="46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35630" y="2732219"/>
            <a:ext cx="254738" cy="40851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21301" y="3242865"/>
            <a:ext cx="407581" cy="38298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125547" y="4851400"/>
            <a:ext cx="229264" cy="459581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6406670" y="8655708"/>
            <a:ext cx="0" cy="459740"/>
          </a:xfrm>
          <a:custGeom>
            <a:avLst/>
            <a:gdLst/>
            <a:ahLst/>
            <a:cxnLst/>
            <a:rect l="l" t="t" r="r" b="b"/>
            <a:pathLst>
              <a:path w="0" h="459740">
                <a:moveTo>
                  <a:pt x="0" y="459581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871416" y="3651381"/>
            <a:ext cx="0" cy="459740"/>
          </a:xfrm>
          <a:custGeom>
            <a:avLst/>
            <a:gdLst/>
            <a:ahLst/>
            <a:cxnLst/>
            <a:rect l="l" t="t" r="r" b="b"/>
            <a:pathLst>
              <a:path w="0" h="459739">
                <a:moveTo>
                  <a:pt x="0" y="459581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629110" y="3651381"/>
            <a:ext cx="0" cy="459740"/>
          </a:xfrm>
          <a:custGeom>
            <a:avLst/>
            <a:gdLst/>
            <a:ahLst/>
            <a:cxnLst/>
            <a:rect l="l" t="t" r="r" b="b"/>
            <a:pathLst>
              <a:path w="0" h="459739">
                <a:moveTo>
                  <a:pt x="0" y="459581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081119" y="8655708"/>
            <a:ext cx="0" cy="459740"/>
          </a:xfrm>
          <a:custGeom>
            <a:avLst/>
            <a:gdLst/>
            <a:ahLst/>
            <a:cxnLst/>
            <a:rect l="l" t="t" r="r" b="b"/>
            <a:pathLst>
              <a:path w="0" h="459740">
                <a:moveTo>
                  <a:pt x="0" y="459581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941317" y="2196041"/>
            <a:ext cx="1350645" cy="0"/>
          </a:xfrm>
          <a:custGeom>
            <a:avLst/>
            <a:gdLst/>
            <a:ahLst/>
            <a:cxnLst/>
            <a:rect l="l" t="t" r="r" b="b"/>
            <a:pathLst>
              <a:path w="1350645" h="0">
                <a:moveTo>
                  <a:pt x="0" y="0"/>
                </a:moveTo>
                <a:lnTo>
                  <a:pt x="1350113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845942" y="3664147"/>
            <a:ext cx="1809114" cy="0"/>
          </a:xfrm>
          <a:custGeom>
            <a:avLst/>
            <a:gdLst/>
            <a:ahLst/>
            <a:cxnLst/>
            <a:rect l="l" t="t" r="r" b="b"/>
            <a:pathLst>
              <a:path w="1809115" h="0">
                <a:moveTo>
                  <a:pt x="0" y="0"/>
                </a:moveTo>
                <a:lnTo>
                  <a:pt x="1808642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056253" y="5796093"/>
            <a:ext cx="1579880" cy="0"/>
          </a:xfrm>
          <a:custGeom>
            <a:avLst/>
            <a:gdLst/>
            <a:ahLst/>
            <a:cxnLst/>
            <a:rect l="l" t="t" r="r" b="b"/>
            <a:pathLst>
              <a:path w="1579879" h="0">
                <a:moveTo>
                  <a:pt x="0" y="0"/>
                </a:moveTo>
                <a:lnTo>
                  <a:pt x="1579378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915843" y="7238667"/>
            <a:ext cx="1783714" cy="0"/>
          </a:xfrm>
          <a:custGeom>
            <a:avLst/>
            <a:gdLst/>
            <a:ahLst/>
            <a:cxnLst/>
            <a:rect l="l" t="t" r="r" b="b"/>
            <a:pathLst>
              <a:path w="1783715" h="0">
                <a:moveTo>
                  <a:pt x="0" y="0"/>
                </a:moveTo>
                <a:lnTo>
                  <a:pt x="1783168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393933" y="8681241"/>
            <a:ext cx="4738370" cy="0"/>
          </a:xfrm>
          <a:custGeom>
            <a:avLst/>
            <a:gdLst/>
            <a:ahLst/>
            <a:cxnLst/>
            <a:rect l="l" t="t" r="r" b="b"/>
            <a:pathLst>
              <a:path w="4738370" h="0">
                <a:moveTo>
                  <a:pt x="0" y="0"/>
                </a:moveTo>
                <a:lnTo>
                  <a:pt x="4738134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393933" y="9089757"/>
            <a:ext cx="4712970" cy="0"/>
          </a:xfrm>
          <a:custGeom>
            <a:avLst/>
            <a:gdLst/>
            <a:ahLst/>
            <a:cxnLst/>
            <a:rect l="l" t="t" r="r" b="b"/>
            <a:pathLst>
              <a:path w="4712970" h="0">
                <a:moveTo>
                  <a:pt x="0" y="0"/>
                </a:moveTo>
                <a:lnTo>
                  <a:pt x="4712660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481035" y="434380"/>
            <a:ext cx="12623800" cy="6997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400" b="1">
                <a:solidFill>
                  <a:srgbClr val="010303"/>
                </a:solidFill>
                <a:latin typeface="Arial"/>
                <a:cs typeface="Arial"/>
              </a:rPr>
              <a:t>Under</a:t>
            </a:r>
            <a:r>
              <a:rPr dirty="0" sz="4400" spc="135" b="1">
                <a:solidFill>
                  <a:srgbClr val="010303"/>
                </a:solidFill>
                <a:latin typeface="Arial"/>
                <a:cs typeface="Arial"/>
              </a:rPr>
              <a:t> </a:t>
            </a:r>
            <a:r>
              <a:rPr dirty="0" sz="4400" spc="125" b="1">
                <a:solidFill>
                  <a:srgbClr val="010303"/>
                </a:solidFill>
                <a:latin typeface="Arial"/>
                <a:cs typeface="Arial"/>
              </a:rPr>
              <a:t>the</a:t>
            </a:r>
            <a:r>
              <a:rPr dirty="0" sz="4400" spc="-215" b="1">
                <a:solidFill>
                  <a:srgbClr val="010303"/>
                </a:solidFill>
                <a:latin typeface="Arial"/>
                <a:cs typeface="Arial"/>
              </a:rPr>
              <a:t> </a:t>
            </a:r>
            <a:r>
              <a:rPr dirty="0" sz="4400" spc="50" b="1">
                <a:solidFill>
                  <a:srgbClr val="010303"/>
                </a:solidFill>
                <a:latin typeface="Arial"/>
                <a:cs typeface="Arial"/>
              </a:rPr>
              <a:t>Hood:</a:t>
            </a:r>
            <a:r>
              <a:rPr dirty="0" sz="4400" spc="-315" b="1">
                <a:solidFill>
                  <a:srgbClr val="010303"/>
                </a:solidFill>
                <a:latin typeface="Arial"/>
                <a:cs typeface="Arial"/>
              </a:rPr>
              <a:t> </a:t>
            </a:r>
            <a:r>
              <a:rPr dirty="0" sz="4400" spc="125" b="1">
                <a:solidFill>
                  <a:srgbClr val="010303"/>
                </a:solidFill>
                <a:latin typeface="Arial"/>
                <a:cs typeface="Arial"/>
              </a:rPr>
              <a:t>The</a:t>
            </a:r>
            <a:r>
              <a:rPr dirty="0" sz="4400" spc="-200" b="1">
                <a:solidFill>
                  <a:srgbClr val="010303"/>
                </a:solidFill>
                <a:latin typeface="Arial"/>
                <a:cs typeface="Arial"/>
              </a:rPr>
              <a:t> </a:t>
            </a:r>
            <a:r>
              <a:rPr dirty="0" sz="4400" spc="114" b="1">
                <a:solidFill>
                  <a:srgbClr val="010303"/>
                </a:solidFill>
                <a:latin typeface="Arial"/>
                <a:cs typeface="Arial"/>
              </a:rPr>
              <a:t>Multi-</a:t>
            </a:r>
            <a:r>
              <a:rPr dirty="0" sz="4400" spc="145" b="1">
                <a:solidFill>
                  <a:srgbClr val="010303"/>
                </a:solidFill>
                <a:latin typeface="Arial"/>
                <a:cs typeface="Arial"/>
              </a:rPr>
              <a:t>Agent</a:t>
            </a:r>
            <a:r>
              <a:rPr dirty="0" sz="4400" spc="220" b="1">
                <a:solidFill>
                  <a:srgbClr val="010303"/>
                </a:solidFill>
                <a:latin typeface="Arial"/>
                <a:cs typeface="Arial"/>
              </a:rPr>
              <a:t> </a:t>
            </a:r>
            <a:r>
              <a:rPr dirty="0" sz="4400" spc="45" b="1">
                <a:solidFill>
                  <a:srgbClr val="010303"/>
                </a:solidFill>
                <a:latin typeface="Arial"/>
                <a:cs typeface="Arial"/>
              </a:rPr>
              <a:t>Architecture</a:t>
            </a:r>
            <a:endParaRPr sz="4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156372" y="1721241"/>
            <a:ext cx="1202055" cy="304800"/>
          </a:xfrm>
          <a:prstGeom prst="rect">
            <a:avLst/>
          </a:prstGeom>
          <a:solidFill>
            <a:srgbClr val="365D87"/>
          </a:solidFill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1750" spc="105">
                <a:solidFill>
                  <a:srgbClr val="D4EBF6"/>
                </a:solidFill>
                <a:latin typeface="Arial"/>
                <a:cs typeface="Arial"/>
              </a:rPr>
              <a:t>Input</a:t>
            </a:r>
            <a:r>
              <a:rPr dirty="0" sz="1750" spc="-185">
                <a:solidFill>
                  <a:srgbClr val="D4EBF6"/>
                </a:solidFill>
                <a:latin typeface="Arial"/>
                <a:cs typeface="Arial"/>
              </a:rPr>
              <a:t> </a:t>
            </a:r>
            <a:r>
              <a:rPr dirty="0" sz="1750" spc="40">
                <a:solidFill>
                  <a:srgbClr val="D4EBF6"/>
                </a:solidFill>
                <a:latin typeface="Arial"/>
                <a:cs typeface="Arial"/>
              </a:rPr>
              <a:t>Layer</a:t>
            </a:r>
            <a:endParaRPr sz="175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101985" y="2489662"/>
            <a:ext cx="89535" cy="0"/>
          </a:xfrm>
          <a:custGeom>
            <a:avLst/>
            <a:gdLst/>
            <a:ahLst/>
            <a:cxnLst/>
            <a:rect l="l" t="t" r="r" b="b"/>
            <a:pathLst>
              <a:path w="89534" h="0">
                <a:moveTo>
                  <a:pt x="0" y="0"/>
                </a:moveTo>
                <a:lnTo>
                  <a:pt x="89158" y="0"/>
                </a:lnTo>
              </a:path>
            </a:pathLst>
          </a:custGeom>
          <a:ln w="12766">
            <a:solidFill>
              <a:srgbClr val="697B8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283161" y="2489662"/>
            <a:ext cx="1621155" cy="0"/>
          </a:xfrm>
          <a:custGeom>
            <a:avLst/>
            <a:gdLst/>
            <a:ahLst/>
            <a:cxnLst/>
            <a:rect l="l" t="t" r="r" b="b"/>
            <a:pathLst>
              <a:path w="1621154" h="0">
                <a:moveTo>
                  <a:pt x="0" y="0"/>
                </a:moveTo>
                <a:lnTo>
                  <a:pt x="1621027" y="0"/>
                </a:lnTo>
              </a:path>
            </a:pathLst>
          </a:custGeom>
          <a:ln w="12766">
            <a:solidFill>
              <a:srgbClr val="495D7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6512945" y="1972699"/>
            <a:ext cx="2381250" cy="6305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88645" algn="l"/>
                <a:tab pos="2301875" algn="l"/>
              </a:tabLst>
            </a:pPr>
            <a:r>
              <a:rPr dirty="0" sz="3950" spc="80" b="1">
                <a:solidFill>
                  <a:srgbClr val="1C385B"/>
                </a:solidFill>
                <a:latin typeface="Arial"/>
                <a:cs typeface="Arial"/>
              </a:rPr>
              <a:t>0</a:t>
            </a:r>
            <a:r>
              <a:rPr dirty="0" sz="3950" b="1">
                <a:solidFill>
                  <a:srgbClr val="1C385B"/>
                </a:solidFill>
                <a:latin typeface="Arial"/>
                <a:cs typeface="Arial"/>
              </a:rPr>
              <a:t>	</a:t>
            </a:r>
            <a:r>
              <a:rPr dirty="0" sz="3950">
                <a:solidFill>
                  <a:srgbClr val="697B8A"/>
                </a:solidFill>
                <a:latin typeface="Arial"/>
                <a:cs typeface="Arial"/>
              </a:rPr>
              <a:t>(</a:t>
            </a:r>
            <a:r>
              <a:rPr dirty="0" sz="1500">
                <a:solidFill>
                  <a:srgbClr val="2F3131"/>
                </a:solidFill>
                <a:latin typeface="Arial"/>
                <a:cs typeface="Arial"/>
              </a:rPr>
              <a:t>User</a:t>
            </a:r>
            <a:r>
              <a:rPr dirty="0" sz="1500" spc="185">
                <a:solidFill>
                  <a:srgbClr val="2F313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F1F21"/>
                </a:solidFill>
                <a:latin typeface="Arial"/>
                <a:cs typeface="Arial"/>
              </a:rPr>
              <a:t>Question</a:t>
            </a:r>
            <a:r>
              <a:rPr dirty="0" sz="1500" spc="204">
                <a:solidFill>
                  <a:srgbClr val="1F1F21"/>
                </a:solidFill>
                <a:latin typeface="Arial"/>
                <a:cs typeface="Arial"/>
              </a:rPr>
              <a:t> </a:t>
            </a:r>
            <a:r>
              <a:rPr dirty="0" sz="1500" spc="-50">
                <a:solidFill>
                  <a:srgbClr val="495D72"/>
                </a:solidFill>
                <a:latin typeface="Arial"/>
                <a:cs typeface="Arial"/>
              </a:rPr>
              <a:t>)</a:t>
            </a:r>
            <a:r>
              <a:rPr dirty="0" sz="1500">
                <a:solidFill>
                  <a:srgbClr val="495D72"/>
                </a:solidFill>
                <a:latin typeface="Arial"/>
                <a:cs typeface="Arial"/>
              </a:rPr>
              <a:t>	</a:t>
            </a:r>
            <a:r>
              <a:rPr dirty="0" sz="1500" spc="-50">
                <a:solidFill>
                  <a:srgbClr val="495D72"/>
                </a:solidFill>
                <a:latin typeface="Arial"/>
                <a:cs typeface="Arial"/>
              </a:rPr>
              <a:t>(</a:t>
            </a:r>
            <a:endParaRPr sz="15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9153450" y="2489662"/>
            <a:ext cx="881380" cy="0"/>
          </a:xfrm>
          <a:custGeom>
            <a:avLst/>
            <a:gdLst/>
            <a:ahLst/>
            <a:cxnLst/>
            <a:rect l="l" t="t" r="r" b="b"/>
            <a:pathLst>
              <a:path w="881379" h="0">
                <a:moveTo>
                  <a:pt x="0" y="0"/>
                </a:moveTo>
                <a:lnTo>
                  <a:pt x="880885" y="0"/>
                </a:lnTo>
              </a:path>
            </a:pathLst>
          </a:custGeom>
          <a:ln w="12766">
            <a:solidFill>
              <a:srgbClr val="1F1F2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0292513" y="2489662"/>
            <a:ext cx="76835" cy="0"/>
          </a:xfrm>
          <a:custGeom>
            <a:avLst/>
            <a:gdLst/>
            <a:ahLst/>
            <a:cxnLst/>
            <a:rect l="l" t="t" r="r" b="b"/>
            <a:pathLst>
              <a:path w="76834" h="0">
                <a:moveTo>
                  <a:pt x="0" y="0"/>
                </a:moveTo>
                <a:lnTo>
                  <a:pt x="76421" y="0"/>
                </a:lnTo>
              </a:path>
            </a:pathLst>
          </a:custGeom>
          <a:ln w="12766">
            <a:solidFill>
              <a:srgbClr val="697B8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9140749" y="2285469"/>
            <a:ext cx="1227455" cy="255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51255" algn="l"/>
              </a:tabLst>
            </a:pPr>
            <a:r>
              <a:rPr dirty="0" sz="1500">
                <a:solidFill>
                  <a:srgbClr val="2F3131"/>
                </a:solidFill>
                <a:latin typeface="Arial"/>
                <a:cs typeface="Arial"/>
              </a:rPr>
              <a:t>Text</a:t>
            </a:r>
            <a:r>
              <a:rPr dirty="0" sz="1500" spc="-35">
                <a:solidFill>
                  <a:srgbClr val="2F3131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1F1F21"/>
                </a:solidFill>
                <a:latin typeface="Arial"/>
                <a:cs typeface="Arial"/>
              </a:rPr>
              <a:t>Rules</a:t>
            </a:r>
            <a:r>
              <a:rPr dirty="0" sz="1500">
                <a:solidFill>
                  <a:srgbClr val="1F1F21"/>
                </a:solidFill>
                <a:latin typeface="Arial"/>
                <a:cs typeface="Arial"/>
              </a:rPr>
              <a:t>	</a:t>
            </a:r>
            <a:r>
              <a:rPr dirty="0" sz="1500" spc="-50">
                <a:solidFill>
                  <a:srgbClr val="697B8A"/>
                </a:solidFill>
                <a:latin typeface="Arial"/>
                <a:cs typeface="Arial"/>
              </a:rPr>
              <a:t>)</a:t>
            </a:r>
            <a:endParaRPr sz="15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968885" y="3202114"/>
            <a:ext cx="1593215" cy="304800"/>
          </a:xfrm>
          <a:prstGeom prst="rect">
            <a:avLst/>
          </a:prstGeom>
          <a:solidFill>
            <a:srgbClr val="365D87"/>
          </a:solidFill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r>
              <a:rPr dirty="0" sz="1750" spc="60">
                <a:solidFill>
                  <a:srgbClr val="D4EBF6"/>
                </a:solidFill>
                <a:latin typeface="Arial"/>
                <a:cs typeface="Arial"/>
              </a:rPr>
              <a:t>Planning</a:t>
            </a:r>
            <a:r>
              <a:rPr dirty="0" sz="1750" spc="-114">
                <a:solidFill>
                  <a:srgbClr val="D4EBF6"/>
                </a:solidFill>
                <a:latin typeface="Arial"/>
                <a:cs typeface="Arial"/>
              </a:rPr>
              <a:t> </a:t>
            </a:r>
            <a:r>
              <a:rPr dirty="0" sz="1750" spc="60">
                <a:solidFill>
                  <a:srgbClr val="D4EBF6"/>
                </a:solidFill>
                <a:latin typeface="Arial"/>
                <a:cs typeface="Arial"/>
              </a:rPr>
              <a:t>Layer</a:t>
            </a:r>
            <a:endParaRPr sz="17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940038" y="3766343"/>
            <a:ext cx="1111250" cy="4699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00" spc="-75">
                <a:solidFill>
                  <a:srgbClr val="80AFAE"/>
                </a:solidFill>
                <a:latin typeface="Arial"/>
                <a:cs typeface="Arial"/>
              </a:rPr>
              <a:t>........</a:t>
            </a:r>
            <a:r>
              <a:rPr dirty="0" sz="2900" spc="-75">
                <a:solidFill>
                  <a:srgbClr val="5BB6B3"/>
                </a:solidFill>
                <a:latin typeface="Arial"/>
                <a:cs typeface="Arial"/>
              </a:rPr>
              <a:t>►</a:t>
            </a:r>
            <a:endParaRPr sz="29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084076" y="4021666"/>
            <a:ext cx="822960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-52083" sz="2400">
                <a:solidFill>
                  <a:srgbClr val="80AFAE"/>
                </a:solidFill>
                <a:latin typeface="Arial"/>
                <a:cs typeface="Arial"/>
              </a:rPr>
              <a:t>••</a:t>
            </a:r>
            <a:r>
              <a:rPr dirty="0" baseline="-52083" sz="2400" spc="-67">
                <a:solidFill>
                  <a:srgbClr val="80AFAE"/>
                </a:solidFill>
                <a:latin typeface="Arial"/>
                <a:cs typeface="Arial"/>
              </a:rPr>
              <a:t> </a:t>
            </a:r>
            <a:r>
              <a:rPr dirty="0" baseline="-35714" sz="2100">
                <a:solidFill>
                  <a:srgbClr val="80AFAE"/>
                </a:solidFill>
                <a:latin typeface="Arial"/>
                <a:cs typeface="Arial"/>
              </a:rPr>
              <a:t>••</a:t>
            </a:r>
            <a:r>
              <a:rPr dirty="0" baseline="-35714" sz="2100" spc="135">
                <a:solidFill>
                  <a:srgbClr val="80AFAE"/>
                </a:solidFill>
                <a:latin typeface="Arial"/>
                <a:cs typeface="Arial"/>
              </a:rPr>
              <a:t> </a:t>
            </a:r>
            <a:r>
              <a:rPr dirty="0" baseline="-18518" sz="2250">
                <a:solidFill>
                  <a:srgbClr val="80AFAE"/>
                </a:solidFill>
                <a:latin typeface="Arial"/>
                <a:cs typeface="Arial"/>
              </a:rPr>
              <a:t>••</a:t>
            </a:r>
            <a:r>
              <a:rPr dirty="0" baseline="-18518" sz="2250" spc="37">
                <a:solidFill>
                  <a:srgbClr val="80AFAE"/>
                </a:solidFill>
                <a:latin typeface="Arial"/>
                <a:cs typeface="Arial"/>
              </a:rPr>
              <a:t> </a:t>
            </a:r>
            <a:r>
              <a:rPr dirty="0" sz="1500" spc="-25">
                <a:solidFill>
                  <a:srgbClr val="80AFAE"/>
                </a:solidFill>
                <a:latin typeface="Arial"/>
                <a:cs typeface="Arial"/>
              </a:rPr>
              <a:t>•••</a:t>
            </a:r>
            <a:endParaRPr sz="15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295063" y="4098263"/>
            <a:ext cx="882015" cy="7727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83210">
              <a:lnSpc>
                <a:spcPts val="4220"/>
              </a:lnSpc>
              <a:spcBef>
                <a:spcPts val="120"/>
              </a:spcBef>
            </a:pPr>
            <a:r>
              <a:rPr dirty="0" sz="3900" spc="-409">
                <a:solidFill>
                  <a:srgbClr val="80AFAE"/>
                </a:solidFill>
                <a:latin typeface="Arial"/>
                <a:cs typeface="Arial"/>
              </a:rPr>
              <a:t>....</a:t>
            </a:r>
            <a:r>
              <a:rPr dirty="0" sz="3900" spc="-409">
                <a:solidFill>
                  <a:srgbClr val="80AFAE"/>
                </a:solidFill>
                <a:latin typeface="Times New Roman"/>
                <a:cs typeface="Times New Roman"/>
              </a:rPr>
              <a:t>-</a:t>
            </a:r>
            <a:r>
              <a:rPr dirty="0" sz="3900" spc="-600">
                <a:solidFill>
                  <a:srgbClr val="80AFAE"/>
                </a:solidFill>
                <a:latin typeface="Times New Roman"/>
                <a:cs typeface="Times New Roman"/>
              </a:rPr>
              <a:t>·</a:t>
            </a:r>
            <a:endParaRPr sz="3900">
              <a:latin typeface="Times New Roman"/>
              <a:cs typeface="Times New Roman"/>
            </a:endParaRPr>
          </a:p>
          <a:p>
            <a:pPr marL="38100">
              <a:lnSpc>
                <a:spcPts val="1639"/>
              </a:lnSpc>
            </a:pPr>
            <a:r>
              <a:rPr dirty="0" baseline="-59259" sz="2250" spc="-142">
                <a:solidFill>
                  <a:srgbClr val="80AFAE"/>
                </a:solidFill>
                <a:latin typeface="Arial"/>
                <a:cs typeface="Arial"/>
              </a:rPr>
              <a:t>•</a:t>
            </a:r>
            <a:r>
              <a:rPr dirty="0" baseline="-31746" sz="2625" spc="-142">
                <a:solidFill>
                  <a:srgbClr val="80AFAE"/>
                </a:solidFill>
                <a:latin typeface="Arial"/>
                <a:cs typeface="Arial"/>
              </a:rPr>
              <a:t>•</a:t>
            </a:r>
            <a:r>
              <a:rPr dirty="0" baseline="-18518" sz="2250" spc="-142">
                <a:solidFill>
                  <a:srgbClr val="80AFAE"/>
                </a:solidFill>
                <a:latin typeface="Arial"/>
                <a:cs typeface="Arial"/>
              </a:rPr>
              <a:t>•</a:t>
            </a:r>
            <a:r>
              <a:rPr dirty="0" baseline="-18518" sz="2250" spc="-157">
                <a:solidFill>
                  <a:srgbClr val="80AFAE"/>
                </a:solidFill>
                <a:latin typeface="Arial"/>
                <a:cs typeface="Arial"/>
              </a:rPr>
              <a:t> </a:t>
            </a:r>
            <a:r>
              <a:rPr dirty="0" sz="1500" spc="-50">
                <a:solidFill>
                  <a:srgbClr val="80AFAE"/>
                </a:solidFill>
                <a:latin typeface="Arial"/>
                <a:cs typeface="Arial"/>
              </a:rPr>
              <a:t>•</a:t>
            </a:r>
            <a:endParaRPr sz="15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117421" y="4857849"/>
            <a:ext cx="229235" cy="2940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baseline="-47619" sz="2100" spc="-97">
                <a:solidFill>
                  <a:srgbClr val="80AFAE"/>
                </a:solidFill>
                <a:latin typeface="Arial"/>
                <a:cs typeface="Arial"/>
              </a:rPr>
              <a:t>•</a:t>
            </a:r>
            <a:r>
              <a:rPr dirty="0" baseline="-19047" sz="2625" spc="-97">
                <a:solidFill>
                  <a:srgbClr val="80AFAE"/>
                </a:solidFill>
                <a:latin typeface="Arial"/>
                <a:cs typeface="Arial"/>
              </a:rPr>
              <a:t>•</a:t>
            </a:r>
            <a:r>
              <a:rPr dirty="0" sz="1500" spc="-65">
                <a:solidFill>
                  <a:srgbClr val="80AFAE"/>
                </a:solidFill>
                <a:latin typeface="Arial"/>
                <a:cs typeface="Arial"/>
              </a:rPr>
              <a:t>•</a:t>
            </a:r>
            <a:endParaRPr sz="15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002114" y="5132321"/>
            <a:ext cx="179070" cy="255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-55555" sz="2250" spc="-427">
                <a:solidFill>
                  <a:srgbClr val="80AFAE"/>
                </a:solidFill>
                <a:latin typeface="Arial"/>
                <a:cs typeface="Arial"/>
              </a:rPr>
              <a:t>•</a:t>
            </a:r>
            <a:r>
              <a:rPr dirty="0" baseline="-25925" sz="2250" spc="-427">
                <a:solidFill>
                  <a:srgbClr val="80AFAE"/>
                </a:solidFill>
                <a:latin typeface="Arial"/>
                <a:cs typeface="Arial"/>
              </a:rPr>
              <a:t>•</a:t>
            </a:r>
            <a:r>
              <a:rPr dirty="0" sz="1500" spc="-285">
                <a:solidFill>
                  <a:srgbClr val="80AFAE"/>
                </a:solidFill>
                <a:latin typeface="Arial"/>
                <a:cs typeface="Arial"/>
              </a:rPr>
              <a:t>•</a:t>
            </a:r>
            <a:endParaRPr sz="15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950491" y="5400410"/>
            <a:ext cx="128905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-27777" sz="2400" spc="-555">
                <a:solidFill>
                  <a:srgbClr val="80AFAE"/>
                </a:solidFill>
                <a:latin typeface="Arial"/>
                <a:cs typeface="Arial"/>
              </a:rPr>
              <a:t>•</a:t>
            </a:r>
            <a:r>
              <a:rPr dirty="0" sz="1500" spc="-370">
                <a:solidFill>
                  <a:srgbClr val="80AFAE"/>
                </a:solidFill>
                <a:latin typeface="Arial"/>
                <a:cs typeface="Arial"/>
              </a:rPr>
              <a:t>•</a:t>
            </a:r>
            <a:endParaRPr sz="15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951093" y="5719564"/>
            <a:ext cx="92075" cy="255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00" spc="-50">
                <a:solidFill>
                  <a:srgbClr val="80AFAE"/>
                </a:solidFill>
                <a:latin typeface="Arial"/>
                <a:cs typeface="Arial"/>
              </a:rPr>
              <a:t>•</a:t>
            </a:r>
            <a:endParaRPr sz="15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877784" y="3740811"/>
            <a:ext cx="1744980" cy="255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4460">
              <a:lnSpc>
                <a:spcPct val="100000"/>
              </a:lnSpc>
              <a:spcBef>
                <a:spcPts val="105"/>
              </a:spcBef>
            </a:pPr>
            <a:r>
              <a:rPr dirty="0" u="heavy" sz="1500">
                <a:solidFill>
                  <a:srgbClr val="1F1F21"/>
                </a:solidFill>
                <a:uFill>
                  <a:solidFill>
                    <a:srgbClr val="1F1F21"/>
                  </a:solidFill>
                </a:uFill>
                <a:latin typeface="Arial"/>
                <a:cs typeface="Arial"/>
              </a:rPr>
              <a:t>Supervisor</a:t>
            </a:r>
            <a:r>
              <a:rPr dirty="0" u="heavy" sz="1500" spc="180">
                <a:solidFill>
                  <a:srgbClr val="1F1F21"/>
                </a:solidFill>
                <a:uFill>
                  <a:solidFill>
                    <a:srgbClr val="1F1F21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500" spc="-10">
                <a:solidFill>
                  <a:srgbClr val="1F1F21"/>
                </a:solidFill>
                <a:uFill>
                  <a:solidFill>
                    <a:srgbClr val="1F1F21"/>
                  </a:solidFill>
                </a:uFill>
                <a:latin typeface="Arial"/>
                <a:cs typeface="Arial"/>
              </a:rPr>
              <a:t>Agent</a:t>
            </a:r>
            <a:endParaRPr sz="15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834324" y="3924855"/>
            <a:ext cx="1811655" cy="1407795"/>
          </a:xfrm>
          <a:prstGeom prst="rect">
            <a:avLst/>
          </a:prstGeom>
        </p:spPr>
        <p:txBody>
          <a:bodyPr wrap="square" lIns="0" tIns="154940" rIns="0" bIns="0" rtlCol="0" vert="horz">
            <a:spAutoFit/>
          </a:bodyPr>
          <a:lstStyle/>
          <a:p>
            <a:pPr algn="ctr" marR="53340">
              <a:lnSpc>
                <a:spcPct val="100000"/>
              </a:lnSpc>
              <a:spcBef>
                <a:spcPts val="1220"/>
              </a:spcBef>
            </a:pPr>
            <a:r>
              <a:rPr dirty="0" sz="1750" spc="55">
                <a:solidFill>
                  <a:srgbClr val="1C385B"/>
                </a:solidFill>
                <a:latin typeface="Arial"/>
                <a:cs typeface="Arial"/>
              </a:rPr>
              <a:t>�</a:t>
            </a:r>
            <a:endParaRPr sz="17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65"/>
              </a:spcBef>
              <a:tabLst>
                <a:tab pos="248920" algn="l"/>
                <a:tab pos="1718945" algn="l"/>
              </a:tabLst>
            </a:pPr>
            <a:r>
              <a:rPr dirty="0" u="heavy" sz="1500" spc="-50">
                <a:solidFill>
                  <a:srgbClr val="80AFAE"/>
                </a:solidFill>
                <a:uFill>
                  <a:solidFill>
                    <a:srgbClr val="80AFAE"/>
                  </a:solidFill>
                </a:uFill>
                <a:latin typeface="Arial"/>
                <a:cs typeface="Arial"/>
              </a:rPr>
              <a:t>(</a:t>
            </a:r>
            <a:r>
              <a:rPr dirty="0" u="none" sz="1500">
                <a:solidFill>
                  <a:srgbClr val="80AFAE"/>
                </a:solidFill>
                <a:latin typeface="Arial"/>
                <a:cs typeface="Arial"/>
              </a:rPr>
              <a:t>	</a:t>
            </a:r>
            <a:r>
              <a:rPr dirty="0" u="heavy" sz="1500">
                <a:solidFill>
                  <a:srgbClr val="2F3131"/>
                </a:solidFill>
                <a:uFill>
                  <a:solidFill>
                    <a:srgbClr val="2F3131"/>
                  </a:solidFill>
                </a:uFill>
                <a:latin typeface="Arial"/>
                <a:cs typeface="Arial"/>
              </a:rPr>
              <a:t>Task</a:t>
            </a:r>
            <a:r>
              <a:rPr dirty="0" u="heavy" sz="1500" spc="-40">
                <a:solidFill>
                  <a:srgbClr val="2F3131"/>
                </a:solidFill>
                <a:uFill>
                  <a:solidFill>
                    <a:srgbClr val="2F3131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500" spc="-10">
                <a:solidFill>
                  <a:srgbClr val="2F3131"/>
                </a:solidFill>
                <a:uFill>
                  <a:solidFill>
                    <a:srgbClr val="2F3131"/>
                  </a:solidFill>
                </a:uFill>
                <a:latin typeface="Arial"/>
                <a:cs typeface="Arial"/>
              </a:rPr>
              <a:t>Allocation</a:t>
            </a:r>
            <a:r>
              <a:rPr dirty="0" u="none" sz="1500">
                <a:solidFill>
                  <a:srgbClr val="2F3131"/>
                </a:solidFill>
                <a:latin typeface="Arial"/>
                <a:cs typeface="Arial"/>
              </a:rPr>
              <a:t>	</a:t>
            </a:r>
            <a:r>
              <a:rPr dirty="0" u="heavy" sz="1500" spc="-50">
                <a:solidFill>
                  <a:srgbClr val="80AFAE"/>
                </a:solidFill>
                <a:uFill>
                  <a:solidFill>
                    <a:srgbClr val="80AFAE"/>
                  </a:solidFill>
                </a:uFill>
                <a:latin typeface="Arial"/>
                <a:cs typeface="Arial"/>
              </a:rPr>
              <a:t>)</a:t>
            </a:r>
            <a:endParaRPr sz="1500">
              <a:latin typeface="Arial"/>
              <a:cs typeface="Arial"/>
            </a:endParaRPr>
          </a:p>
          <a:p>
            <a:pPr algn="ctr" marL="71120">
              <a:lnSpc>
                <a:spcPct val="100000"/>
              </a:lnSpc>
              <a:spcBef>
                <a:spcPts val="875"/>
              </a:spcBef>
            </a:pPr>
            <a:r>
              <a:rPr dirty="0" sz="3350" spc="-25">
                <a:solidFill>
                  <a:srgbClr val="1C385B"/>
                </a:solidFill>
                <a:latin typeface="Arial"/>
                <a:cs typeface="Arial"/>
              </a:rPr>
              <a:t>J,</a:t>
            </a:r>
            <a:endParaRPr sz="33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519872" y="3938687"/>
            <a:ext cx="472440" cy="2940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81635" algn="l"/>
              </a:tabLst>
            </a:pPr>
            <a:r>
              <a:rPr dirty="0" u="heavy" sz="1750">
                <a:solidFill>
                  <a:srgbClr val="1C385B"/>
                </a:solidFill>
                <a:uFill>
                  <a:solidFill>
                    <a:srgbClr val="1C385B"/>
                  </a:solidFill>
                </a:uFill>
                <a:latin typeface="Arial"/>
                <a:cs typeface="Arial"/>
              </a:rPr>
              <a:t>( </a:t>
            </a:r>
            <a:r>
              <a:rPr dirty="0" u="none" sz="1750">
                <a:solidFill>
                  <a:srgbClr val="1C385B"/>
                </a:solidFill>
                <a:latin typeface="Arial"/>
                <a:cs typeface="Arial"/>
              </a:rPr>
              <a:t>	</a:t>
            </a:r>
            <a:r>
              <a:rPr dirty="0" u="heavy" sz="1750" spc="-50">
                <a:solidFill>
                  <a:srgbClr val="1C385B"/>
                </a:solidFill>
                <a:uFill>
                  <a:solidFill>
                    <a:srgbClr val="1C385B"/>
                  </a:solidFill>
                </a:uFill>
                <a:latin typeface="Arial"/>
                <a:cs typeface="Arial"/>
              </a:rPr>
              <a:t>)</a:t>
            </a:r>
            <a:endParaRPr sz="175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1319586" y="3189347"/>
            <a:ext cx="1834514" cy="304800"/>
          </a:xfrm>
          <a:custGeom>
            <a:avLst/>
            <a:gdLst/>
            <a:ahLst/>
            <a:cxnLst/>
            <a:rect l="l" t="t" r="r" b="b"/>
            <a:pathLst>
              <a:path w="1834515" h="304800">
                <a:moveTo>
                  <a:pt x="1834116" y="304785"/>
                </a:moveTo>
                <a:lnTo>
                  <a:pt x="0" y="304785"/>
                </a:lnTo>
                <a:lnTo>
                  <a:pt x="0" y="0"/>
                </a:lnTo>
                <a:lnTo>
                  <a:pt x="1834116" y="0"/>
                </a:lnTo>
                <a:lnTo>
                  <a:pt x="1834116" y="304785"/>
                </a:lnTo>
                <a:close/>
              </a:path>
            </a:pathLst>
          </a:custGeom>
          <a:solidFill>
            <a:srgbClr val="365D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11306886" y="2623774"/>
            <a:ext cx="2388870" cy="13855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r" marR="5080">
              <a:lnSpc>
                <a:spcPts val="5350"/>
              </a:lnSpc>
              <a:spcBef>
                <a:spcPts val="125"/>
              </a:spcBef>
            </a:pPr>
            <a:r>
              <a:rPr dirty="0" sz="5250" spc="125" b="1">
                <a:solidFill>
                  <a:srgbClr val="1C385B"/>
                </a:solidFill>
                <a:latin typeface="Arial"/>
                <a:cs typeface="Arial"/>
              </a:rPr>
              <a:t>e</a:t>
            </a:r>
            <a:endParaRPr sz="5250">
              <a:latin typeface="Arial"/>
              <a:cs typeface="Arial"/>
            </a:endParaRPr>
          </a:p>
          <a:p>
            <a:pPr marL="12700">
              <a:lnSpc>
                <a:spcPts val="1150"/>
              </a:lnSpc>
            </a:pPr>
            <a:r>
              <a:rPr dirty="0" sz="1750" spc="80">
                <a:solidFill>
                  <a:srgbClr val="D4EBF6"/>
                </a:solidFill>
                <a:latin typeface="Arial"/>
                <a:cs typeface="Arial"/>
              </a:rPr>
              <a:t>Knowledge</a:t>
            </a:r>
            <a:r>
              <a:rPr dirty="0" sz="1750" spc="-10">
                <a:solidFill>
                  <a:srgbClr val="D4EBF6"/>
                </a:solidFill>
                <a:latin typeface="Arial"/>
                <a:cs typeface="Arial"/>
              </a:rPr>
              <a:t> </a:t>
            </a:r>
            <a:r>
              <a:rPr dirty="0" sz="1750" spc="40">
                <a:solidFill>
                  <a:srgbClr val="D4EBF6"/>
                </a:solidFill>
                <a:latin typeface="Arial"/>
                <a:cs typeface="Arial"/>
              </a:rPr>
              <a:t>Layer</a:t>
            </a:r>
            <a:endParaRPr sz="1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1750">
              <a:latin typeface="Arial"/>
              <a:cs typeface="Arial"/>
            </a:endParaRPr>
          </a:p>
          <a:p>
            <a:pPr marL="55244">
              <a:lnSpc>
                <a:spcPct val="100000"/>
              </a:lnSpc>
              <a:tabLst>
                <a:tab pos="396875" algn="l"/>
                <a:tab pos="1723389" algn="l"/>
              </a:tabLst>
            </a:pPr>
            <a:r>
              <a:rPr dirty="0" u="heavy" sz="1500" spc="-50">
                <a:solidFill>
                  <a:srgbClr val="80AFAE"/>
                </a:solidFill>
                <a:uFill>
                  <a:solidFill>
                    <a:srgbClr val="80AFAE"/>
                  </a:solidFill>
                </a:uFill>
                <a:latin typeface="Arial"/>
                <a:cs typeface="Arial"/>
              </a:rPr>
              <a:t>(</a:t>
            </a:r>
            <a:r>
              <a:rPr dirty="0" u="none" sz="1500">
                <a:solidFill>
                  <a:srgbClr val="80AFAE"/>
                </a:solidFill>
                <a:latin typeface="Arial"/>
                <a:cs typeface="Arial"/>
              </a:rPr>
              <a:t>	</a:t>
            </a:r>
            <a:r>
              <a:rPr dirty="0" u="heavy" sz="1500">
                <a:solidFill>
                  <a:srgbClr val="2F3131"/>
                </a:solidFill>
                <a:uFill>
                  <a:solidFill>
                    <a:srgbClr val="2F3131"/>
                  </a:solidFill>
                </a:uFill>
                <a:latin typeface="Arial"/>
                <a:cs typeface="Arial"/>
              </a:rPr>
              <a:t>Vector</a:t>
            </a:r>
            <a:r>
              <a:rPr dirty="0" u="heavy" sz="1500" spc="80">
                <a:solidFill>
                  <a:srgbClr val="2F3131"/>
                </a:solidFill>
                <a:uFill>
                  <a:solidFill>
                    <a:srgbClr val="2F3131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500" spc="-10">
                <a:solidFill>
                  <a:srgbClr val="2F3131"/>
                </a:solidFill>
                <a:uFill>
                  <a:solidFill>
                    <a:srgbClr val="2F3131"/>
                  </a:solidFill>
                </a:uFill>
                <a:latin typeface="Arial"/>
                <a:cs typeface="Arial"/>
              </a:rPr>
              <a:t>Store</a:t>
            </a:r>
            <a:r>
              <a:rPr dirty="0" u="none" sz="1500">
                <a:solidFill>
                  <a:srgbClr val="2F3131"/>
                </a:solidFill>
                <a:latin typeface="Arial"/>
                <a:cs typeface="Arial"/>
              </a:rPr>
              <a:t>	</a:t>
            </a:r>
            <a:r>
              <a:rPr dirty="0" u="heavy" sz="1500" spc="-50">
                <a:solidFill>
                  <a:srgbClr val="9EBDBF"/>
                </a:solidFill>
                <a:uFill>
                  <a:solidFill>
                    <a:srgbClr val="9EBDBF"/>
                  </a:solidFill>
                </a:uFill>
                <a:latin typeface="Arial"/>
                <a:cs typeface="Arial"/>
              </a:rPr>
              <a:t>)</a:t>
            </a:r>
            <a:endParaRPr sz="1500">
              <a:latin typeface="Arial"/>
              <a:cs typeface="Arial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/>
              <a:t>Isl\</a:t>
            </a:r>
            <a:r>
              <a:rPr dirty="0" sz="1300" spc="-45"/>
              <a:t> </a:t>
            </a:r>
            <a:r>
              <a:rPr dirty="0" spc="-10">
                <a:solidFill>
                  <a:srgbClr val="13161A"/>
                </a:solidFill>
              </a:rPr>
              <a:t>N</a:t>
            </a:r>
            <a:r>
              <a:rPr dirty="0" spc="-10"/>
              <a:t>otebookL</a:t>
            </a:r>
            <a:r>
              <a:rPr dirty="0" spc="-10">
                <a:solidFill>
                  <a:srgbClr val="13161A"/>
                </a:solidFill>
              </a:rPr>
              <a:t>M</a:t>
            </a:r>
            <a:endParaRPr sz="1300"/>
          </a:p>
        </p:txBody>
      </p:sp>
      <p:sp>
        <p:nvSpPr>
          <p:cNvPr id="36" name="object 36"/>
          <p:cNvSpPr txBox="1"/>
          <p:nvPr/>
        </p:nvSpPr>
        <p:spPr>
          <a:xfrm>
            <a:off x="11349714" y="4353586"/>
            <a:ext cx="1200785" cy="255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75310" algn="l"/>
              </a:tabLst>
            </a:pPr>
            <a:r>
              <a:rPr dirty="0" u="heavy" sz="1500" spc="-50">
                <a:solidFill>
                  <a:srgbClr val="80AFAE"/>
                </a:solidFill>
                <a:uFill>
                  <a:solidFill>
                    <a:srgbClr val="80AFAE"/>
                  </a:solidFill>
                </a:uFill>
                <a:latin typeface="Arial"/>
                <a:cs typeface="Arial"/>
              </a:rPr>
              <a:t>(</a:t>
            </a:r>
            <a:r>
              <a:rPr dirty="0" u="none" sz="1500">
                <a:solidFill>
                  <a:srgbClr val="80AFAE"/>
                </a:solidFill>
                <a:latin typeface="Arial"/>
                <a:cs typeface="Arial"/>
              </a:rPr>
              <a:t>	</a:t>
            </a:r>
            <a:r>
              <a:rPr dirty="0" u="none" sz="1500" spc="-55">
                <a:solidFill>
                  <a:srgbClr val="2F3131"/>
                </a:solidFill>
                <a:latin typeface="Arial"/>
                <a:cs typeface="Arial"/>
              </a:rPr>
              <a:t>SQL</a:t>
            </a:r>
            <a:r>
              <a:rPr dirty="0" u="none" sz="1500" spc="-45">
                <a:solidFill>
                  <a:srgbClr val="2F3131"/>
                </a:solidFill>
                <a:latin typeface="Arial"/>
                <a:cs typeface="Arial"/>
              </a:rPr>
              <a:t> </a:t>
            </a:r>
            <a:r>
              <a:rPr dirty="0" u="none" sz="1500" spc="-25">
                <a:solidFill>
                  <a:srgbClr val="2F3131"/>
                </a:solidFill>
                <a:latin typeface="Arial"/>
                <a:cs typeface="Arial"/>
              </a:rPr>
              <a:t>db</a:t>
            </a:r>
            <a:endParaRPr sz="15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3030987" y="4353586"/>
            <a:ext cx="86360" cy="255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heavy" sz="1500" spc="-50">
                <a:solidFill>
                  <a:srgbClr val="9EBDBF"/>
                </a:solidFill>
                <a:uFill>
                  <a:solidFill>
                    <a:srgbClr val="9EBDBF"/>
                  </a:solidFill>
                </a:uFill>
                <a:latin typeface="Arial"/>
                <a:cs typeface="Arial"/>
              </a:rPr>
              <a:t>)</a:t>
            </a:r>
            <a:endParaRPr sz="15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938430" y="5821693"/>
            <a:ext cx="153035" cy="255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500" spc="-105">
                <a:solidFill>
                  <a:srgbClr val="80AFAE"/>
                </a:solidFill>
                <a:latin typeface="Arial"/>
                <a:cs typeface="Arial"/>
              </a:rPr>
              <a:t>•</a:t>
            </a:r>
            <a:r>
              <a:rPr dirty="0" baseline="-25925" sz="2250" spc="-157">
                <a:solidFill>
                  <a:srgbClr val="80AFAE"/>
                </a:solidFill>
                <a:latin typeface="Arial"/>
                <a:cs typeface="Arial"/>
              </a:rPr>
              <a:t>•</a:t>
            </a:r>
            <a:endParaRPr baseline="-25925" sz="225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962215" y="5987653"/>
            <a:ext cx="202565" cy="3016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1750" spc="-25">
                <a:solidFill>
                  <a:srgbClr val="80AFAE"/>
                </a:solidFill>
                <a:latin typeface="Arial"/>
                <a:cs typeface="Arial"/>
              </a:rPr>
              <a:t>•</a:t>
            </a:r>
            <a:r>
              <a:rPr dirty="0" baseline="-21604" sz="2700" spc="-37">
                <a:solidFill>
                  <a:srgbClr val="80AFAE"/>
                </a:solidFill>
                <a:latin typeface="Arial"/>
                <a:cs typeface="Arial"/>
              </a:rPr>
              <a:t>•</a:t>
            </a:r>
            <a:endParaRPr baseline="-21604" sz="27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509988" y="5872757"/>
            <a:ext cx="2551430" cy="255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470785" algn="l"/>
              </a:tabLst>
            </a:pPr>
            <a:r>
              <a:rPr dirty="0" u="heavy" sz="1500" spc="50">
                <a:solidFill>
                  <a:srgbClr val="495D72"/>
                </a:solidFill>
                <a:uFill>
                  <a:solidFill>
                    <a:srgbClr val="495D72"/>
                  </a:solidFill>
                </a:uFill>
                <a:latin typeface="Arial"/>
                <a:cs typeface="Arial"/>
              </a:rPr>
              <a:t>(</a:t>
            </a:r>
            <a:r>
              <a:rPr dirty="0" u="heavy" sz="1500" spc="295">
                <a:solidFill>
                  <a:srgbClr val="495D72"/>
                </a:solidFill>
                <a:uFill>
                  <a:solidFill>
                    <a:srgbClr val="495D72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500">
                <a:solidFill>
                  <a:srgbClr val="1F1F21"/>
                </a:solidFill>
                <a:uFill>
                  <a:solidFill>
                    <a:srgbClr val="495D72"/>
                  </a:solidFill>
                </a:uFill>
                <a:latin typeface="Arial"/>
                <a:cs typeface="Arial"/>
              </a:rPr>
              <a:t>Data</a:t>
            </a:r>
            <a:r>
              <a:rPr dirty="0" u="heavy" sz="1500" spc="-50">
                <a:solidFill>
                  <a:srgbClr val="1F1F21"/>
                </a:solidFill>
                <a:uFill>
                  <a:solidFill>
                    <a:srgbClr val="495D72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500">
                <a:solidFill>
                  <a:srgbClr val="2F3131"/>
                </a:solidFill>
                <a:uFill>
                  <a:solidFill>
                    <a:srgbClr val="495D72"/>
                  </a:solidFill>
                </a:uFill>
                <a:latin typeface="Arial"/>
                <a:cs typeface="Arial"/>
              </a:rPr>
              <a:t>Preparation</a:t>
            </a:r>
            <a:r>
              <a:rPr dirty="0" u="heavy" sz="1500" spc="170">
                <a:solidFill>
                  <a:srgbClr val="2F3131"/>
                </a:solidFill>
                <a:uFill>
                  <a:solidFill>
                    <a:srgbClr val="495D72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500">
                <a:solidFill>
                  <a:srgbClr val="1F1F21"/>
                </a:solidFill>
                <a:uFill>
                  <a:solidFill>
                    <a:srgbClr val="495D72"/>
                  </a:solidFill>
                </a:uFill>
                <a:latin typeface="Arial"/>
                <a:cs typeface="Arial"/>
              </a:rPr>
              <a:t>Agent</a:t>
            </a:r>
            <a:r>
              <a:rPr dirty="0" u="heavy" sz="1500" spc="-70">
                <a:solidFill>
                  <a:srgbClr val="1F1F21"/>
                </a:solidFill>
                <a:uFill>
                  <a:solidFill>
                    <a:srgbClr val="495D72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500" spc="-50">
                <a:solidFill>
                  <a:srgbClr val="697B8A"/>
                </a:solidFill>
                <a:uFill>
                  <a:solidFill>
                    <a:srgbClr val="495D72"/>
                  </a:solidFill>
                </a:uFill>
                <a:latin typeface="Arial"/>
                <a:cs typeface="Arial"/>
              </a:rPr>
              <a:t>)</a:t>
            </a:r>
            <a:r>
              <a:rPr dirty="0" u="heavy" sz="1500">
                <a:solidFill>
                  <a:srgbClr val="697B8A"/>
                </a:solidFill>
                <a:uFill>
                  <a:solidFill>
                    <a:srgbClr val="495D72"/>
                  </a:solidFill>
                </a:uFill>
                <a:latin typeface="Arial"/>
                <a:cs typeface="Arial"/>
              </a:rPr>
              <a:t>	</a:t>
            </a:r>
            <a:r>
              <a:rPr dirty="0" u="heavy" sz="1500" spc="-50">
                <a:solidFill>
                  <a:srgbClr val="495D72"/>
                </a:solidFill>
                <a:uFill>
                  <a:solidFill>
                    <a:srgbClr val="495D72"/>
                  </a:solidFill>
                </a:uFill>
                <a:latin typeface="Arial"/>
                <a:cs typeface="Arial"/>
              </a:rPr>
              <a:t>(</a:t>
            </a:r>
            <a:endParaRPr sz="15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025900" y="6185528"/>
            <a:ext cx="252095" cy="2940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1750" spc="-45">
                <a:solidFill>
                  <a:srgbClr val="80AFAE"/>
                </a:solidFill>
                <a:latin typeface="Arial"/>
                <a:cs typeface="Arial"/>
              </a:rPr>
              <a:t>•</a:t>
            </a:r>
            <a:r>
              <a:rPr dirty="0" baseline="-22222" sz="2625" spc="-67">
                <a:solidFill>
                  <a:srgbClr val="80AFAE"/>
                </a:solidFill>
                <a:latin typeface="Arial"/>
                <a:cs typeface="Arial"/>
              </a:rPr>
              <a:t>•</a:t>
            </a:r>
            <a:r>
              <a:rPr dirty="0" baseline="-48148" sz="2250" spc="-67">
                <a:solidFill>
                  <a:srgbClr val="80AFAE"/>
                </a:solidFill>
                <a:latin typeface="Arial"/>
                <a:cs typeface="Arial"/>
              </a:rPr>
              <a:t>•</a:t>
            </a:r>
            <a:endParaRPr baseline="-48148" sz="225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2983032" y="4979127"/>
            <a:ext cx="325755" cy="638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000" spc="80" b="1">
                <a:solidFill>
                  <a:srgbClr val="1C385B"/>
                </a:solidFill>
                <a:latin typeface="Arial"/>
                <a:cs typeface="Arial"/>
              </a:rPr>
              <a:t>0</a:t>
            </a:r>
            <a:endParaRPr sz="40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250527" y="5886666"/>
            <a:ext cx="5777865" cy="88900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  <a:tabLst>
                <a:tab pos="1312545" algn="l"/>
                <a:tab pos="1516380" algn="l"/>
              </a:tabLst>
            </a:pPr>
            <a:r>
              <a:rPr dirty="0" u="heavy" sz="1500">
                <a:solidFill>
                  <a:srgbClr val="2F3131"/>
                </a:solidFill>
                <a:uFill>
                  <a:solidFill>
                    <a:srgbClr val="2F3131"/>
                  </a:solidFill>
                </a:uFill>
                <a:latin typeface="Arial"/>
                <a:cs typeface="Arial"/>
              </a:rPr>
              <a:t>Causal</a:t>
            </a:r>
            <a:r>
              <a:rPr dirty="0" u="heavy" sz="1500" spc="-85">
                <a:solidFill>
                  <a:srgbClr val="2F3131"/>
                </a:solidFill>
                <a:uFill>
                  <a:solidFill>
                    <a:srgbClr val="2F3131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500" spc="-10">
                <a:solidFill>
                  <a:srgbClr val="2F3131"/>
                </a:solidFill>
                <a:uFill>
                  <a:solidFill>
                    <a:srgbClr val="2F3131"/>
                  </a:solidFill>
                </a:uFill>
                <a:latin typeface="Arial"/>
                <a:cs typeface="Arial"/>
              </a:rPr>
              <a:t>Agent</a:t>
            </a:r>
            <a:r>
              <a:rPr dirty="0" u="none" sz="1500">
                <a:solidFill>
                  <a:srgbClr val="2F3131"/>
                </a:solidFill>
                <a:latin typeface="Arial"/>
                <a:cs typeface="Arial"/>
              </a:rPr>
              <a:t>	</a:t>
            </a:r>
            <a:r>
              <a:rPr dirty="0" u="heavy" sz="1500" spc="-50">
                <a:solidFill>
                  <a:srgbClr val="495D72"/>
                </a:solidFill>
                <a:uFill>
                  <a:solidFill>
                    <a:srgbClr val="495D72"/>
                  </a:solidFill>
                </a:uFill>
                <a:latin typeface="Arial"/>
                <a:cs typeface="Arial"/>
              </a:rPr>
              <a:t>)</a:t>
            </a:r>
            <a:r>
              <a:rPr dirty="0" u="heavy" sz="1500">
                <a:solidFill>
                  <a:srgbClr val="495D72"/>
                </a:solidFill>
                <a:uFill>
                  <a:solidFill>
                    <a:srgbClr val="495D72"/>
                  </a:solidFill>
                </a:uFill>
                <a:latin typeface="Arial"/>
                <a:cs typeface="Arial"/>
              </a:rPr>
              <a:t>	</a:t>
            </a:r>
            <a:r>
              <a:rPr dirty="0" u="heavy" sz="1500" spc="-145">
                <a:solidFill>
                  <a:srgbClr val="697B8A"/>
                </a:solidFill>
                <a:uFill>
                  <a:solidFill>
                    <a:srgbClr val="495D72"/>
                  </a:solidFill>
                </a:uFill>
                <a:latin typeface="Arial"/>
                <a:cs typeface="Arial"/>
              </a:rPr>
              <a:t>(</a:t>
            </a:r>
            <a:r>
              <a:rPr dirty="0" u="heavy" sz="1500" spc="-145">
                <a:solidFill>
                  <a:srgbClr val="495D72"/>
                </a:solidFill>
                <a:uFill>
                  <a:solidFill>
                    <a:srgbClr val="495D72"/>
                  </a:solidFill>
                </a:uFill>
                <a:latin typeface="Arial"/>
                <a:cs typeface="Arial"/>
              </a:rPr>
              <a:t>�_</a:t>
            </a:r>
            <a:r>
              <a:rPr dirty="0" u="heavy" sz="1500" spc="-145">
                <a:solidFill>
                  <a:srgbClr val="2F3131"/>
                </a:solidFill>
                <a:uFill>
                  <a:solidFill>
                    <a:srgbClr val="495D72"/>
                  </a:solidFill>
                </a:uFill>
                <a:latin typeface="Arial"/>
                <a:cs typeface="Arial"/>
              </a:rPr>
              <a:t>R</a:t>
            </a:r>
            <a:r>
              <a:rPr dirty="0" u="heavy" sz="1500" spc="-145">
                <a:solidFill>
                  <a:srgbClr val="495D72"/>
                </a:solidFill>
                <a:uFill>
                  <a:solidFill>
                    <a:srgbClr val="495D72"/>
                  </a:solidFill>
                </a:uFill>
                <a:latin typeface="Arial"/>
                <a:cs typeface="Arial"/>
              </a:rPr>
              <a:t>_</a:t>
            </a:r>
            <a:r>
              <a:rPr dirty="0" u="heavy" sz="1500" spc="-145">
                <a:solidFill>
                  <a:srgbClr val="1F1F21"/>
                </a:solidFill>
                <a:uFill>
                  <a:solidFill>
                    <a:srgbClr val="495D72"/>
                  </a:solidFill>
                </a:uFill>
                <a:latin typeface="Arial"/>
                <a:cs typeface="Arial"/>
              </a:rPr>
              <a:t>A</a:t>
            </a:r>
            <a:r>
              <a:rPr dirty="0" u="heavy" sz="1500" spc="-145">
                <a:solidFill>
                  <a:srgbClr val="495D72"/>
                </a:solidFill>
                <a:uFill>
                  <a:solidFill>
                    <a:srgbClr val="495D72"/>
                  </a:solidFill>
                </a:uFill>
                <a:latin typeface="Arial"/>
                <a:cs typeface="Arial"/>
              </a:rPr>
              <a:t>_</a:t>
            </a:r>
            <a:r>
              <a:rPr dirty="0" u="heavy" sz="1500" spc="-145">
                <a:solidFill>
                  <a:srgbClr val="2F3131"/>
                </a:solidFill>
                <a:uFill>
                  <a:solidFill>
                    <a:srgbClr val="495D72"/>
                  </a:solidFill>
                </a:uFill>
                <a:latin typeface="Arial"/>
                <a:cs typeface="Arial"/>
              </a:rPr>
              <a:t>G</a:t>
            </a:r>
            <a:r>
              <a:rPr dirty="0" u="heavy" sz="1500" spc="-145">
                <a:solidFill>
                  <a:srgbClr val="495D72"/>
                </a:solidFill>
                <a:uFill>
                  <a:solidFill>
                    <a:srgbClr val="495D72"/>
                  </a:solidFill>
                </a:uFill>
                <a:latin typeface="Arial"/>
                <a:cs typeface="Arial"/>
              </a:rPr>
              <a:t>_</a:t>
            </a:r>
            <a:r>
              <a:rPr dirty="0" u="heavy" sz="1500" spc="-145">
                <a:solidFill>
                  <a:srgbClr val="1F1F21"/>
                </a:solidFill>
                <a:uFill>
                  <a:solidFill>
                    <a:srgbClr val="495D72"/>
                  </a:solidFill>
                </a:uFill>
                <a:latin typeface="Arial"/>
                <a:cs typeface="Arial"/>
              </a:rPr>
              <a:t>A</a:t>
            </a:r>
            <a:r>
              <a:rPr dirty="0" u="heavy" sz="1500" spc="-145">
                <a:solidFill>
                  <a:srgbClr val="495D72"/>
                </a:solidFill>
                <a:uFill>
                  <a:solidFill>
                    <a:srgbClr val="495D72"/>
                  </a:solidFill>
                </a:uFill>
                <a:latin typeface="Arial"/>
                <a:cs typeface="Arial"/>
              </a:rPr>
              <a:t>_</a:t>
            </a:r>
            <a:r>
              <a:rPr dirty="0" u="heavy" sz="1500" spc="-145">
                <a:solidFill>
                  <a:srgbClr val="2F3131"/>
                </a:solidFill>
                <a:uFill>
                  <a:solidFill>
                    <a:srgbClr val="495D72"/>
                  </a:solidFill>
                </a:uFill>
                <a:latin typeface="Arial"/>
                <a:cs typeface="Arial"/>
              </a:rPr>
              <a:t>g</a:t>
            </a:r>
            <a:r>
              <a:rPr dirty="0" u="heavy" sz="1500" spc="-145">
                <a:solidFill>
                  <a:srgbClr val="495D72"/>
                </a:solidFill>
                <a:uFill>
                  <a:solidFill>
                    <a:srgbClr val="495D72"/>
                  </a:solidFill>
                </a:uFill>
                <a:latin typeface="Arial"/>
                <a:cs typeface="Arial"/>
              </a:rPr>
              <a:t>_</a:t>
            </a:r>
            <a:r>
              <a:rPr dirty="0" u="heavy" sz="1500" spc="-145">
                <a:solidFill>
                  <a:srgbClr val="2F3131"/>
                </a:solidFill>
                <a:uFill>
                  <a:solidFill>
                    <a:srgbClr val="495D72"/>
                  </a:solidFill>
                </a:uFill>
                <a:latin typeface="Arial"/>
                <a:cs typeface="Arial"/>
              </a:rPr>
              <a:t>e</a:t>
            </a:r>
            <a:r>
              <a:rPr dirty="0" u="heavy" sz="1500" spc="-145">
                <a:solidFill>
                  <a:srgbClr val="495D72"/>
                </a:solidFill>
                <a:uFill>
                  <a:solidFill>
                    <a:srgbClr val="495D72"/>
                  </a:solidFill>
                </a:uFill>
                <a:latin typeface="Arial"/>
                <a:cs typeface="Arial"/>
              </a:rPr>
              <a:t>_</a:t>
            </a:r>
            <a:r>
              <a:rPr dirty="0" u="heavy" sz="1500" spc="-145">
                <a:solidFill>
                  <a:srgbClr val="2F3131"/>
                </a:solidFill>
                <a:uFill>
                  <a:solidFill>
                    <a:srgbClr val="495D72"/>
                  </a:solidFill>
                </a:uFill>
                <a:latin typeface="Arial"/>
                <a:cs typeface="Arial"/>
              </a:rPr>
              <a:t>nt</a:t>
            </a:r>
            <a:r>
              <a:rPr dirty="0" u="heavy" sz="1500" spc="-145">
                <a:solidFill>
                  <a:srgbClr val="495D72"/>
                </a:solidFill>
                <a:uFill>
                  <a:solidFill>
                    <a:srgbClr val="495D72"/>
                  </a:solidFill>
                </a:uFill>
                <a:latin typeface="Arial"/>
                <a:cs typeface="Arial"/>
              </a:rPr>
              <a:t>_�</a:t>
            </a:r>
            <a:r>
              <a:rPr dirty="0" u="heavy" sz="1500" spc="-145">
                <a:solidFill>
                  <a:srgbClr val="697B8A"/>
                </a:solidFill>
                <a:uFill>
                  <a:solidFill>
                    <a:srgbClr val="495D72"/>
                  </a:solidFill>
                </a:uFill>
                <a:latin typeface="Arial"/>
                <a:cs typeface="Arial"/>
              </a:rPr>
              <a:t>)</a:t>
            </a:r>
            <a:r>
              <a:rPr dirty="0" u="heavy" sz="1500" spc="240">
                <a:solidFill>
                  <a:srgbClr val="697B8A"/>
                </a:solidFill>
                <a:uFill>
                  <a:solidFill>
                    <a:srgbClr val="495D72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500" spc="-305">
                <a:solidFill>
                  <a:srgbClr val="495D72"/>
                </a:solidFill>
                <a:uFill>
                  <a:solidFill>
                    <a:srgbClr val="495D72"/>
                  </a:solidFill>
                </a:uFill>
                <a:latin typeface="Arial"/>
                <a:cs typeface="Arial"/>
              </a:rPr>
              <a:t>(�</a:t>
            </a:r>
            <a:r>
              <a:rPr dirty="0" u="heavy" sz="1500" spc="-305">
                <a:solidFill>
                  <a:srgbClr val="2F3131"/>
                </a:solidFill>
                <a:uFill>
                  <a:solidFill>
                    <a:srgbClr val="495D72"/>
                  </a:solidFill>
                </a:uFill>
                <a:latin typeface="Arial"/>
                <a:cs typeface="Arial"/>
              </a:rPr>
              <a:t>T</a:t>
            </a:r>
            <a:r>
              <a:rPr dirty="0" u="heavy" sz="1500" spc="-305">
                <a:solidFill>
                  <a:srgbClr val="495D72"/>
                </a:solidFill>
                <a:uFill>
                  <a:solidFill>
                    <a:srgbClr val="495D72"/>
                  </a:solidFill>
                </a:uFill>
                <a:latin typeface="Arial"/>
                <a:cs typeface="Arial"/>
              </a:rPr>
              <a:t>_</a:t>
            </a:r>
            <a:r>
              <a:rPr dirty="0" u="heavy" sz="1500" spc="-305">
                <a:solidFill>
                  <a:srgbClr val="2F3131"/>
                </a:solidFill>
                <a:uFill>
                  <a:solidFill>
                    <a:srgbClr val="495D72"/>
                  </a:solidFill>
                </a:uFill>
                <a:latin typeface="Arial"/>
                <a:cs typeface="Arial"/>
              </a:rPr>
              <a:t>ex</a:t>
            </a:r>
            <a:r>
              <a:rPr dirty="0" u="heavy" sz="1500" spc="-305">
                <a:solidFill>
                  <a:srgbClr val="495D72"/>
                </a:solidFill>
                <a:uFill>
                  <a:solidFill>
                    <a:srgbClr val="495D72"/>
                  </a:solidFill>
                </a:uFill>
                <a:latin typeface="Arial"/>
                <a:cs typeface="Arial"/>
              </a:rPr>
              <a:t>_</a:t>
            </a:r>
            <a:r>
              <a:rPr dirty="0" u="heavy" sz="1500" spc="-305">
                <a:solidFill>
                  <a:srgbClr val="1F1F21"/>
                </a:solidFill>
                <a:uFill>
                  <a:solidFill>
                    <a:srgbClr val="495D72"/>
                  </a:solidFill>
                </a:uFill>
                <a:latin typeface="Arial"/>
                <a:cs typeface="Arial"/>
              </a:rPr>
              <a:t>t</a:t>
            </a:r>
            <a:r>
              <a:rPr dirty="0" u="heavy" sz="1500" spc="-305">
                <a:solidFill>
                  <a:srgbClr val="495D72"/>
                </a:solidFill>
                <a:uFill>
                  <a:solidFill>
                    <a:srgbClr val="495D72"/>
                  </a:solidFill>
                </a:uFill>
                <a:latin typeface="Arial"/>
                <a:cs typeface="Arial"/>
              </a:rPr>
              <a:t>_</a:t>
            </a:r>
            <a:r>
              <a:rPr dirty="0" u="heavy" sz="1500" spc="-305">
                <a:solidFill>
                  <a:srgbClr val="2F3131"/>
                </a:solidFill>
                <a:uFill>
                  <a:solidFill>
                    <a:srgbClr val="495D72"/>
                  </a:solidFill>
                </a:uFill>
                <a:latin typeface="Arial"/>
                <a:cs typeface="Arial"/>
              </a:rPr>
              <a:t>T</a:t>
            </a:r>
            <a:r>
              <a:rPr dirty="0" u="heavy" sz="1500" spc="-305">
                <a:solidFill>
                  <a:srgbClr val="495D72"/>
                </a:solidFill>
                <a:uFill>
                  <a:solidFill>
                    <a:srgbClr val="495D72"/>
                  </a:solidFill>
                </a:uFill>
                <a:latin typeface="Arial"/>
                <a:cs typeface="Arial"/>
              </a:rPr>
              <a:t>_</a:t>
            </a:r>
            <a:r>
              <a:rPr dirty="0" u="heavy" sz="1500" spc="-305">
                <a:solidFill>
                  <a:srgbClr val="1F1F21"/>
                </a:solidFill>
                <a:uFill>
                  <a:solidFill>
                    <a:srgbClr val="495D72"/>
                  </a:solidFill>
                </a:uFill>
                <a:latin typeface="Arial"/>
                <a:cs typeface="Arial"/>
              </a:rPr>
              <a:t>o</a:t>
            </a:r>
            <a:r>
              <a:rPr dirty="0" u="heavy" sz="1500" spc="-305">
                <a:solidFill>
                  <a:srgbClr val="495D72"/>
                </a:solidFill>
                <a:uFill>
                  <a:solidFill>
                    <a:srgbClr val="495D72"/>
                  </a:solidFill>
                </a:uFill>
                <a:latin typeface="Arial"/>
                <a:cs typeface="Arial"/>
              </a:rPr>
              <a:t>_</a:t>
            </a:r>
            <a:r>
              <a:rPr dirty="0" u="heavy" sz="1500" spc="-305">
                <a:solidFill>
                  <a:srgbClr val="2F3131"/>
                </a:solidFill>
                <a:uFill>
                  <a:solidFill>
                    <a:srgbClr val="495D72"/>
                  </a:solidFill>
                </a:uFill>
                <a:latin typeface="Arial"/>
                <a:cs typeface="Arial"/>
              </a:rPr>
              <a:t>O</a:t>
            </a:r>
            <a:r>
              <a:rPr dirty="0" u="heavy" sz="1500" spc="-305">
                <a:solidFill>
                  <a:srgbClr val="495D72"/>
                </a:solidFill>
                <a:uFill>
                  <a:solidFill>
                    <a:srgbClr val="495D72"/>
                  </a:solidFill>
                </a:uFill>
                <a:latin typeface="Arial"/>
                <a:cs typeface="Arial"/>
              </a:rPr>
              <a:t>_</a:t>
            </a:r>
            <a:r>
              <a:rPr dirty="0" u="heavy" sz="1500" spc="-305">
                <a:solidFill>
                  <a:srgbClr val="2F3131"/>
                </a:solidFill>
                <a:uFill>
                  <a:solidFill>
                    <a:srgbClr val="495D72"/>
                  </a:solidFill>
                </a:uFill>
                <a:latin typeface="Arial"/>
                <a:cs typeface="Arial"/>
              </a:rPr>
              <a:t>u</a:t>
            </a:r>
            <a:r>
              <a:rPr dirty="0" u="heavy" sz="1500" spc="-305">
                <a:solidFill>
                  <a:srgbClr val="495D72"/>
                </a:solidFill>
                <a:uFill>
                  <a:solidFill>
                    <a:srgbClr val="495D72"/>
                  </a:solidFill>
                </a:uFill>
                <a:latin typeface="Arial"/>
                <a:cs typeface="Arial"/>
              </a:rPr>
              <a:t>_</a:t>
            </a:r>
            <a:r>
              <a:rPr dirty="0" u="heavy" sz="1500" spc="-305">
                <a:solidFill>
                  <a:srgbClr val="2F3131"/>
                </a:solidFill>
                <a:uFill>
                  <a:solidFill>
                    <a:srgbClr val="495D72"/>
                  </a:solidFill>
                </a:uFill>
                <a:latin typeface="Arial"/>
                <a:cs typeface="Arial"/>
              </a:rPr>
              <a:t>er</a:t>
            </a:r>
            <a:r>
              <a:rPr dirty="0" u="heavy" sz="1500" spc="-305">
                <a:solidFill>
                  <a:srgbClr val="495D72"/>
                </a:solidFill>
                <a:uFill>
                  <a:solidFill>
                    <a:srgbClr val="495D72"/>
                  </a:solidFill>
                </a:uFill>
                <a:latin typeface="Arial"/>
                <a:cs typeface="Arial"/>
              </a:rPr>
              <a:t>_</a:t>
            </a:r>
            <a:r>
              <a:rPr dirty="0" u="heavy" sz="1500" spc="-305">
                <a:solidFill>
                  <a:srgbClr val="2F3131"/>
                </a:solidFill>
                <a:uFill>
                  <a:solidFill>
                    <a:srgbClr val="495D72"/>
                  </a:solidFill>
                </a:uFill>
                <a:latin typeface="Arial"/>
                <a:cs typeface="Arial"/>
              </a:rPr>
              <a:t>y</a:t>
            </a:r>
            <a:r>
              <a:rPr dirty="0" u="heavy" sz="1500" spc="-305">
                <a:solidFill>
                  <a:srgbClr val="495D72"/>
                </a:solidFill>
                <a:uFill>
                  <a:solidFill>
                    <a:srgbClr val="495D72"/>
                  </a:solidFill>
                </a:uFill>
                <a:latin typeface="Arial"/>
                <a:cs typeface="Arial"/>
              </a:rPr>
              <a:t>_</a:t>
            </a:r>
            <a:r>
              <a:rPr dirty="0" u="heavy" sz="1500" spc="-305">
                <a:solidFill>
                  <a:srgbClr val="2F3131"/>
                </a:solidFill>
                <a:uFill>
                  <a:solidFill>
                    <a:srgbClr val="495D72"/>
                  </a:solidFill>
                </a:uFill>
                <a:latin typeface="Arial"/>
                <a:cs typeface="Arial"/>
              </a:rPr>
              <a:t>A</a:t>
            </a:r>
            <a:r>
              <a:rPr dirty="0" u="heavy" sz="1500" spc="-305">
                <a:solidFill>
                  <a:srgbClr val="495D72"/>
                </a:solidFill>
                <a:uFill>
                  <a:solidFill>
                    <a:srgbClr val="495D72"/>
                  </a:solidFill>
                </a:uFill>
                <a:latin typeface="Arial"/>
                <a:cs typeface="Arial"/>
              </a:rPr>
              <a:t>_</a:t>
            </a:r>
            <a:r>
              <a:rPr dirty="0" u="heavy" sz="1500" spc="-305">
                <a:solidFill>
                  <a:srgbClr val="2F3131"/>
                </a:solidFill>
                <a:uFill>
                  <a:solidFill>
                    <a:srgbClr val="495D72"/>
                  </a:solidFill>
                </a:uFill>
                <a:latin typeface="Arial"/>
                <a:cs typeface="Arial"/>
              </a:rPr>
              <a:t>g</a:t>
            </a:r>
            <a:r>
              <a:rPr dirty="0" u="heavy" sz="1500" spc="-305">
                <a:solidFill>
                  <a:srgbClr val="495D72"/>
                </a:solidFill>
                <a:uFill>
                  <a:solidFill>
                    <a:srgbClr val="495D72"/>
                  </a:solidFill>
                </a:uFill>
                <a:latin typeface="Arial"/>
                <a:cs typeface="Arial"/>
              </a:rPr>
              <a:t>_</a:t>
            </a:r>
            <a:r>
              <a:rPr dirty="0" u="heavy" sz="1500" spc="-305">
                <a:solidFill>
                  <a:srgbClr val="2F3131"/>
                </a:solidFill>
                <a:uFill>
                  <a:solidFill>
                    <a:srgbClr val="495D72"/>
                  </a:solidFill>
                </a:uFill>
                <a:latin typeface="Arial"/>
                <a:cs typeface="Arial"/>
              </a:rPr>
              <a:t>en</a:t>
            </a:r>
            <a:r>
              <a:rPr dirty="0" u="heavy" sz="1500" spc="-305">
                <a:solidFill>
                  <a:srgbClr val="495D72"/>
                </a:solidFill>
                <a:uFill>
                  <a:solidFill>
                    <a:srgbClr val="495D72"/>
                  </a:solidFill>
                </a:uFill>
                <a:latin typeface="Arial"/>
                <a:cs typeface="Arial"/>
              </a:rPr>
              <a:t>_</a:t>
            </a:r>
            <a:r>
              <a:rPr dirty="0" u="heavy" sz="1500" spc="-305">
                <a:solidFill>
                  <a:srgbClr val="1F1F21"/>
                </a:solidFill>
                <a:uFill>
                  <a:solidFill>
                    <a:srgbClr val="495D72"/>
                  </a:solidFill>
                </a:uFill>
                <a:latin typeface="Arial"/>
                <a:cs typeface="Arial"/>
              </a:rPr>
              <a:t>t</a:t>
            </a:r>
            <a:r>
              <a:rPr dirty="0" u="heavy" sz="1500" spc="-305">
                <a:solidFill>
                  <a:srgbClr val="495D72"/>
                </a:solidFill>
                <a:uFill>
                  <a:solidFill>
                    <a:srgbClr val="495D72"/>
                  </a:solidFill>
                </a:uFill>
                <a:latin typeface="Arial"/>
                <a:cs typeface="Arial"/>
              </a:rPr>
              <a:t>�)</a:t>
            </a:r>
            <a:endParaRPr sz="1500">
              <a:latin typeface="Arial"/>
              <a:cs typeface="Arial"/>
            </a:endParaRPr>
          </a:p>
          <a:p>
            <a:pPr marL="1385570">
              <a:lnSpc>
                <a:spcPct val="100000"/>
              </a:lnSpc>
              <a:spcBef>
                <a:spcPts val="670"/>
              </a:spcBef>
            </a:pPr>
            <a:r>
              <a:rPr dirty="0" sz="3350" spc="-25">
                <a:solidFill>
                  <a:srgbClr val="1C385B"/>
                </a:solidFill>
                <a:latin typeface="Arial"/>
                <a:cs typeface="Arial"/>
              </a:rPr>
              <a:t>J,</a:t>
            </a:r>
            <a:endParaRPr sz="335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892053" y="5394027"/>
            <a:ext cx="1737360" cy="2940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750" spc="60">
                <a:solidFill>
                  <a:srgbClr val="1F1F21"/>
                </a:solidFill>
                <a:latin typeface="Arial"/>
                <a:cs typeface="Arial"/>
              </a:rPr>
              <a:t>Execution</a:t>
            </a:r>
            <a:r>
              <a:rPr dirty="0" sz="1750" spc="-50">
                <a:solidFill>
                  <a:srgbClr val="1F1F21"/>
                </a:solidFill>
                <a:latin typeface="Arial"/>
                <a:cs typeface="Arial"/>
              </a:rPr>
              <a:t> </a:t>
            </a:r>
            <a:r>
              <a:rPr dirty="0" sz="1750" spc="60">
                <a:solidFill>
                  <a:srgbClr val="1F1F21"/>
                </a:solidFill>
                <a:latin typeface="Arial"/>
                <a:cs typeface="Arial"/>
              </a:rPr>
              <a:t>Layer</a:t>
            </a:r>
            <a:endParaRPr sz="175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180430" y="6460000"/>
            <a:ext cx="212725" cy="255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500" spc="-25">
                <a:solidFill>
                  <a:srgbClr val="80AFAE"/>
                </a:solidFill>
                <a:latin typeface="Arial"/>
                <a:cs typeface="Arial"/>
              </a:rPr>
              <a:t>•</a:t>
            </a:r>
            <a:r>
              <a:rPr dirty="0" baseline="-22222" sz="2250" spc="-37">
                <a:solidFill>
                  <a:srgbClr val="80AFAE"/>
                </a:solidFill>
                <a:latin typeface="Arial"/>
                <a:cs typeface="Arial"/>
              </a:rPr>
              <a:t>•</a:t>
            </a:r>
            <a:endParaRPr baseline="-22222" sz="22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307800" y="6613194"/>
            <a:ext cx="288925" cy="255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500" spc="-25">
                <a:solidFill>
                  <a:srgbClr val="80AFAE"/>
                </a:solidFill>
                <a:latin typeface="Arial"/>
                <a:cs typeface="Arial"/>
              </a:rPr>
              <a:t>•</a:t>
            </a:r>
            <a:r>
              <a:rPr dirty="0" baseline="-22222" sz="2250" spc="-37">
                <a:solidFill>
                  <a:srgbClr val="80AFAE"/>
                </a:solidFill>
                <a:latin typeface="Arial"/>
                <a:cs typeface="Arial"/>
              </a:rPr>
              <a:t>•</a:t>
            </a:r>
            <a:r>
              <a:rPr dirty="0" baseline="-40740" sz="2250" spc="-37">
                <a:solidFill>
                  <a:srgbClr val="80AFAE"/>
                </a:solidFill>
                <a:latin typeface="Arial"/>
                <a:cs typeface="Arial"/>
              </a:rPr>
              <a:t>•</a:t>
            </a:r>
            <a:endParaRPr baseline="-40740" sz="225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536213" y="6587661"/>
            <a:ext cx="391160" cy="5924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600" spc="-55">
                <a:solidFill>
                  <a:srgbClr val="80AFAE"/>
                </a:solidFill>
                <a:latin typeface="Arial"/>
                <a:cs typeface="Arial"/>
              </a:rPr>
              <a:t>·•</a:t>
            </a:r>
            <a:r>
              <a:rPr dirty="0" sz="3700" spc="-55">
                <a:solidFill>
                  <a:srgbClr val="80AFAE"/>
                </a:solidFill>
                <a:latin typeface="Arial"/>
                <a:cs typeface="Arial"/>
              </a:rPr>
              <a:t>..</a:t>
            </a:r>
            <a:endParaRPr sz="37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880212" y="7060009"/>
            <a:ext cx="205740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spc="-80">
                <a:solidFill>
                  <a:srgbClr val="80AFAE"/>
                </a:solidFill>
                <a:latin typeface="Arial"/>
                <a:cs typeface="Arial"/>
              </a:rPr>
              <a:t>•••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148362" y="7292278"/>
            <a:ext cx="5411470" cy="1280795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90"/>
              </a:spcBef>
              <a:tabLst>
                <a:tab pos="585470" algn="l"/>
                <a:tab pos="3469640" algn="l"/>
                <a:tab pos="3891915" algn="l"/>
              </a:tabLst>
            </a:pPr>
            <a:r>
              <a:rPr dirty="0" sz="1500" spc="-145">
                <a:solidFill>
                  <a:srgbClr val="80AFAE"/>
                </a:solidFill>
                <a:latin typeface="Arial"/>
                <a:cs typeface="Arial"/>
              </a:rPr>
              <a:t>•••</a:t>
            </a:r>
            <a:r>
              <a:rPr dirty="0" sz="1500" spc="-150">
                <a:solidFill>
                  <a:srgbClr val="80AFAE"/>
                </a:solidFill>
                <a:latin typeface="Arial"/>
                <a:cs typeface="Arial"/>
              </a:rPr>
              <a:t> </a:t>
            </a:r>
            <a:r>
              <a:rPr dirty="0" sz="1500" spc="-90">
                <a:solidFill>
                  <a:srgbClr val="80AFAE"/>
                </a:solidFill>
                <a:latin typeface="Arial"/>
                <a:cs typeface="Arial"/>
              </a:rPr>
              <a:t>•</a:t>
            </a:r>
            <a:r>
              <a:rPr dirty="0" sz="1500" spc="-45">
                <a:solidFill>
                  <a:srgbClr val="80AFAE"/>
                </a:solidFill>
                <a:latin typeface="Arial"/>
                <a:cs typeface="Arial"/>
              </a:rPr>
              <a:t> </a:t>
            </a:r>
            <a:r>
              <a:rPr dirty="0" sz="1500" spc="-90">
                <a:solidFill>
                  <a:srgbClr val="80AFAE"/>
                </a:solidFill>
                <a:latin typeface="Arial"/>
                <a:cs typeface="Arial"/>
              </a:rPr>
              <a:t>•</a:t>
            </a:r>
            <a:r>
              <a:rPr dirty="0" sz="1500" spc="-145">
                <a:solidFill>
                  <a:srgbClr val="80AFAE"/>
                </a:solidFill>
                <a:latin typeface="Arial"/>
                <a:cs typeface="Arial"/>
              </a:rPr>
              <a:t> </a:t>
            </a:r>
            <a:r>
              <a:rPr dirty="0" sz="1500" spc="-50">
                <a:solidFill>
                  <a:srgbClr val="80AFAE"/>
                </a:solidFill>
                <a:latin typeface="Arial"/>
                <a:cs typeface="Arial"/>
              </a:rPr>
              <a:t>•</a:t>
            </a:r>
            <a:r>
              <a:rPr dirty="0" sz="1500">
                <a:solidFill>
                  <a:srgbClr val="80AFAE"/>
                </a:solidFill>
                <a:latin typeface="Arial"/>
                <a:cs typeface="Arial"/>
              </a:rPr>
              <a:t>	</a:t>
            </a:r>
            <a:r>
              <a:rPr dirty="0" sz="1500" spc="-90">
                <a:solidFill>
                  <a:srgbClr val="80AFAE"/>
                </a:solidFill>
                <a:latin typeface="Arial"/>
                <a:cs typeface="Arial"/>
              </a:rPr>
              <a:t>•</a:t>
            </a:r>
            <a:r>
              <a:rPr dirty="0" sz="1500" spc="-55">
                <a:solidFill>
                  <a:srgbClr val="80AFAE"/>
                </a:solidFill>
                <a:latin typeface="Arial"/>
                <a:cs typeface="Arial"/>
              </a:rPr>
              <a:t> </a:t>
            </a:r>
            <a:r>
              <a:rPr dirty="0" sz="1500" spc="-90">
                <a:solidFill>
                  <a:srgbClr val="80AFAE"/>
                </a:solidFill>
                <a:latin typeface="Arial"/>
                <a:cs typeface="Arial"/>
              </a:rPr>
              <a:t>•</a:t>
            </a:r>
            <a:r>
              <a:rPr dirty="0" sz="1500" spc="-155">
                <a:solidFill>
                  <a:srgbClr val="80AFAE"/>
                </a:solidFill>
                <a:latin typeface="Arial"/>
                <a:cs typeface="Arial"/>
              </a:rPr>
              <a:t> </a:t>
            </a:r>
            <a:r>
              <a:rPr dirty="0" sz="1500" spc="-90">
                <a:solidFill>
                  <a:srgbClr val="80AFAE"/>
                </a:solidFill>
                <a:latin typeface="Arial"/>
                <a:cs typeface="Arial"/>
              </a:rPr>
              <a:t>•</a:t>
            </a:r>
            <a:r>
              <a:rPr dirty="0" sz="1500" spc="-50">
                <a:solidFill>
                  <a:srgbClr val="80AFAE"/>
                </a:solidFill>
                <a:latin typeface="Arial"/>
                <a:cs typeface="Arial"/>
              </a:rPr>
              <a:t> </a:t>
            </a:r>
            <a:r>
              <a:rPr dirty="0" sz="1500" spc="229">
                <a:solidFill>
                  <a:srgbClr val="80AFAE"/>
                </a:solidFill>
                <a:latin typeface="Arial"/>
                <a:cs typeface="Arial"/>
              </a:rPr>
              <a:t>••••••</a:t>
            </a:r>
            <a:r>
              <a:rPr dirty="0" sz="1500" spc="35">
                <a:solidFill>
                  <a:srgbClr val="80AFAE"/>
                </a:solidFill>
                <a:latin typeface="Arial"/>
                <a:cs typeface="Arial"/>
              </a:rPr>
              <a:t> </a:t>
            </a:r>
            <a:r>
              <a:rPr dirty="0" u="heavy" sz="1500" spc="-285">
                <a:solidFill>
                  <a:srgbClr val="9EBDBF"/>
                </a:solidFill>
                <a:uFill>
                  <a:solidFill>
                    <a:srgbClr val="9EBDBF"/>
                  </a:solidFill>
                </a:uFill>
                <a:latin typeface="Arial"/>
                <a:cs typeface="Arial"/>
              </a:rPr>
              <a:t>(</a:t>
            </a:r>
            <a:r>
              <a:rPr dirty="0" u="heavy" sz="1500" spc="-285">
                <a:solidFill>
                  <a:srgbClr val="80AFAE"/>
                </a:solidFill>
                <a:uFill>
                  <a:solidFill>
                    <a:srgbClr val="9EBDBF"/>
                  </a:solidFill>
                </a:uFill>
                <a:latin typeface="Arial"/>
                <a:cs typeface="Arial"/>
              </a:rPr>
              <a:t>�_</a:t>
            </a:r>
            <a:r>
              <a:rPr dirty="0" u="heavy" sz="1500" spc="-285">
                <a:solidFill>
                  <a:srgbClr val="2F3131"/>
                </a:solidFill>
                <a:uFill>
                  <a:solidFill>
                    <a:srgbClr val="9EBDBF"/>
                  </a:solidFill>
                </a:uFill>
                <a:latin typeface="Arial"/>
                <a:cs typeface="Arial"/>
              </a:rPr>
              <a:t>H</a:t>
            </a:r>
            <a:r>
              <a:rPr dirty="0" u="heavy" sz="1500" spc="-285">
                <a:solidFill>
                  <a:srgbClr val="80AFAE"/>
                </a:solidFill>
                <a:uFill>
                  <a:solidFill>
                    <a:srgbClr val="9EBDBF"/>
                  </a:solidFill>
                </a:uFill>
                <a:latin typeface="Arial"/>
                <a:cs typeface="Arial"/>
              </a:rPr>
              <a:t>_</a:t>
            </a:r>
            <a:r>
              <a:rPr dirty="0" u="heavy" sz="1500" spc="-285">
                <a:solidFill>
                  <a:srgbClr val="2F3131"/>
                </a:solidFill>
                <a:uFill>
                  <a:solidFill>
                    <a:srgbClr val="9EBDBF"/>
                  </a:solidFill>
                </a:uFill>
                <a:latin typeface="Arial"/>
                <a:cs typeface="Arial"/>
              </a:rPr>
              <a:t>is</a:t>
            </a:r>
            <a:r>
              <a:rPr dirty="0" u="heavy" sz="1500" spc="-285">
                <a:solidFill>
                  <a:srgbClr val="80AFAE"/>
                </a:solidFill>
                <a:uFill>
                  <a:solidFill>
                    <a:srgbClr val="9EBDBF"/>
                  </a:solidFill>
                </a:uFill>
                <a:latin typeface="Arial"/>
                <a:cs typeface="Arial"/>
              </a:rPr>
              <a:t>_</a:t>
            </a:r>
            <a:r>
              <a:rPr dirty="0" u="heavy" sz="1500" spc="-285">
                <a:solidFill>
                  <a:srgbClr val="2F3131"/>
                </a:solidFill>
                <a:uFill>
                  <a:solidFill>
                    <a:srgbClr val="9EBDBF"/>
                  </a:solidFill>
                </a:uFill>
                <a:latin typeface="Arial"/>
                <a:cs typeface="Arial"/>
              </a:rPr>
              <a:t>t</a:t>
            </a:r>
            <a:r>
              <a:rPr dirty="0" u="heavy" sz="1500" spc="-285">
                <a:solidFill>
                  <a:srgbClr val="80AFAE"/>
                </a:solidFill>
                <a:uFill>
                  <a:solidFill>
                    <a:srgbClr val="9EBDBF"/>
                  </a:solidFill>
                </a:uFill>
                <a:latin typeface="Arial"/>
                <a:cs typeface="Arial"/>
              </a:rPr>
              <a:t>_</a:t>
            </a:r>
            <a:r>
              <a:rPr dirty="0" u="heavy" sz="1500" spc="-285">
                <a:solidFill>
                  <a:srgbClr val="2F3131"/>
                </a:solidFill>
                <a:uFill>
                  <a:solidFill>
                    <a:srgbClr val="9EBDBF"/>
                  </a:solidFill>
                </a:uFill>
                <a:latin typeface="Arial"/>
                <a:cs typeface="Arial"/>
              </a:rPr>
              <a:t>or</a:t>
            </a:r>
            <a:r>
              <a:rPr dirty="0" u="heavy" sz="1500" spc="-285">
                <a:solidFill>
                  <a:srgbClr val="80AFAE"/>
                </a:solidFill>
                <a:uFill>
                  <a:solidFill>
                    <a:srgbClr val="9EBDBF"/>
                  </a:solidFill>
                </a:uFill>
                <a:latin typeface="Arial"/>
                <a:cs typeface="Arial"/>
              </a:rPr>
              <a:t>_</a:t>
            </a:r>
            <a:r>
              <a:rPr dirty="0" u="heavy" sz="1500" spc="-285">
                <a:solidFill>
                  <a:srgbClr val="2F3131"/>
                </a:solidFill>
                <a:uFill>
                  <a:solidFill>
                    <a:srgbClr val="9EBDBF"/>
                  </a:solidFill>
                </a:uFill>
                <a:latin typeface="Arial"/>
                <a:cs typeface="Arial"/>
              </a:rPr>
              <a:t>y</a:t>
            </a:r>
            <a:r>
              <a:rPr dirty="0" u="heavy" sz="1500" spc="-285">
                <a:solidFill>
                  <a:srgbClr val="80AFAE"/>
                </a:solidFill>
                <a:uFill>
                  <a:solidFill>
                    <a:srgbClr val="9EBDBF"/>
                  </a:solidFill>
                </a:uFill>
                <a:latin typeface="Arial"/>
                <a:cs typeface="Arial"/>
              </a:rPr>
              <a:t>_</a:t>
            </a:r>
            <a:r>
              <a:rPr dirty="0" u="heavy" sz="1500" spc="-285">
                <a:solidFill>
                  <a:srgbClr val="1F1F21"/>
                </a:solidFill>
                <a:uFill>
                  <a:solidFill>
                    <a:srgbClr val="9EBDBF"/>
                  </a:solidFill>
                </a:uFill>
                <a:latin typeface="Arial"/>
                <a:cs typeface="Arial"/>
              </a:rPr>
              <a:t>M</a:t>
            </a:r>
            <a:r>
              <a:rPr dirty="0" u="heavy" sz="1500" spc="-285">
                <a:solidFill>
                  <a:srgbClr val="80AFAE"/>
                </a:solidFill>
                <a:uFill>
                  <a:solidFill>
                    <a:srgbClr val="9EBDBF"/>
                  </a:solidFill>
                </a:uFill>
                <a:latin typeface="Arial"/>
                <a:cs typeface="Arial"/>
              </a:rPr>
              <a:t>_</a:t>
            </a:r>
            <a:r>
              <a:rPr dirty="0" u="heavy" sz="1500" spc="-285">
                <a:solidFill>
                  <a:srgbClr val="2F3131"/>
                </a:solidFill>
                <a:uFill>
                  <a:solidFill>
                    <a:srgbClr val="9EBDBF"/>
                  </a:solidFill>
                </a:uFill>
                <a:latin typeface="Arial"/>
                <a:cs typeface="Arial"/>
              </a:rPr>
              <a:t>e</a:t>
            </a:r>
            <a:r>
              <a:rPr dirty="0" u="heavy" sz="1500" spc="-285">
                <a:solidFill>
                  <a:srgbClr val="80AFAE"/>
                </a:solidFill>
                <a:uFill>
                  <a:solidFill>
                    <a:srgbClr val="9EBDBF"/>
                  </a:solidFill>
                </a:uFill>
                <a:latin typeface="Arial"/>
                <a:cs typeface="Arial"/>
              </a:rPr>
              <a:t>_</a:t>
            </a:r>
            <a:r>
              <a:rPr dirty="0" u="heavy" sz="1500" spc="-285">
                <a:solidFill>
                  <a:srgbClr val="2F3131"/>
                </a:solidFill>
                <a:uFill>
                  <a:solidFill>
                    <a:srgbClr val="9EBDBF"/>
                  </a:solidFill>
                </a:uFill>
                <a:latin typeface="Arial"/>
                <a:cs typeface="Arial"/>
              </a:rPr>
              <a:t>m</a:t>
            </a:r>
            <a:r>
              <a:rPr dirty="0" u="heavy" sz="1500" spc="-285">
                <a:solidFill>
                  <a:srgbClr val="80AFAE"/>
                </a:solidFill>
                <a:uFill>
                  <a:solidFill>
                    <a:srgbClr val="9EBDBF"/>
                  </a:solidFill>
                </a:uFill>
                <a:latin typeface="Arial"/>
                <a:cs typeface="Arial"/>
              </a:rPr>
              <a:t>_</a:t>
            </a:r>
            <a:r>
              <a:rPr dirty="0" u="heavy" sz="1500" spc="-285">
                <a:solidFill>
                  <a:srgbClr val="2F3131"/>
                </a:solidFill>
                <a:uFill>
                  <a:solidFill>
                    <a:srgbClr val="9EBDBF"/>
                  </a:solidFill>
                </a:uFill>
                <a:latin typeface="Arial"/>
                <a:cs typeface="Arial"/>
              </a:rPr>
              <a:t>o</a:t>
            </a:r>
            <a:r>
              <a:rPr dirty="0" u="heavy" sz="1500" spc="-285">
                <a:solidFill>
                  <a:srgbClr val="80AFAE"/>
                </a:solidFill>
                <a:uFill>
                  <a:solidFill>
                    <a:srgbClr val="9EBDBF"/>
                  </a:solidFill>
                </a:uFill>
                <a:latin typeface="Arial"/>
                <a:cs typeface="Arial"/>
              </a:rPr>
              <a:t>_</a:t>
            </a:r>
            <a:r>
              <a:rPr dirty="0" u="heavy" sz="1500" spc="-285">
                <a:solidFill>
                  <a:srgbClr val="1F1F21"/>
                </a:solidFill>
                <a:uFill>
                  <a:solidFill>
                    <a:srgbClr val="9EBDBF"/>
                  </a:solidFill>
                </a:uFill>
                <a:latin typeface="Arial"/>
                <a:cs typeface="Arial"/>
              </a:rPr>
              <a:t>rv</a:t>
            </a:r>
            <a:r>
              <a:rPr dirty="0" u="heavy" sz="1500">
                <a:solidFill>
                  <a:srgbClr val="1F1F21"/>
                </a:solidFill>
                <a:uFill>
                  <a:solidFill>
                    <a:srgbClr val="9EBDBF"/>
                  </a:solidFill>
                </a:uFill>
                <a:latin typeface="Arial"/>
                <a:cs typeface="Arial"/>
              </a:rPr>
              <a:t>	</a:t>
            </a:r>
            <a:r>
              <a:rPr dirty="0" u="heavy" sz="1500">
                <a:solidFill>
                  <a:srgbClr val="80AFAE"/>
                </a:solidFill>
                <a:uFill>
                  <a:solidFill>
                    <a:srgbClr val="9EBDBF"/>
                  </a:solidFill>
                </a:uFill>
                <a:latin typeface="Arial"/>
                <a:cs typeface="Arial"/>
              </a:rPr>
              <a:t>,)</a:t>
            </a:r>
            <a:r>
              <a:rPr dirty="0" u="heavy" sz="1500" spc="200">
                <a:solidFill>
                  <a:srgbClr val="80AFAE"/>
                </a:solidFill>
                <a:uFill>
                  <a:solidFill>
                    <a:srgbClr val="9EBDBF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500" spc="-50">
                <a:solidFill>
                  <a:srgbClr val="9EBDBF"/>
                </a:solidFill>
                <a:uFill>
                  <a:solidFill>
                    <a:srgbClr val="9EBDBF"/>
                  </a:solidFill>
                </a:uFill>
                <a:latin typeface="Arial"/>
                <a:cs typeface="Arial"/>
              </a:rPr>
              <a:t>(</a:t>
            </a:r>
            <a:r>
              <a:rPr dirty="0" u="none" sz="1500">
                <a:solidFill>
                  <a:srgbClr val="9EBDBF"/>
                </a:solidFill>
                <a:latin typeface="Arial"/>
                <a:cs typeface="Arial"/>
              </a:rPr>
              <a:t>	</a:t>
            </a:r>
            <a:r>
              <a:rPr dirty="0" u="heavy" sz="1500">
                <a:solidFill>
                  <a:srgbClr val="2F3131"/>
                </a:solidFill>
                <a:uFill>
                  <a:solidFill>
                    <a:srgbClr val="2F3131"/>
                  </a:solidFill>
                </a:uFill>
                <a:latin typeface="Arial"/>
                <a:cs typeface="Arial"/>
              </a:rPr>
              <a:t>Reflect</a:t>
            </a:r>
            <a:r>
              <a:rPr dirty="0" u="heavy" sz="1500">
                <a:solidFill>
                  <a:srgbClr val="010303"/>
                </a:solidFill>
                <a:uFill>
                  <a:solidFill>
                    <a:srgbClr val="2F3131"/>
                  </a:solidFill>
                </a:uFill>
                <a:latin typeface="Arial"/>
                <a:cs typeface="Arial"/>
              </a:rPr>
              <a:t>i</a:t>
            </a:r>
            <a:r>
              <a:rPr dirty="0" u="heavy" sz="1500">
                <a:solidFill>
                  <a:srgbClr val="2F3131"/>
                </a:solidFill>
                <a:uFill>
                  <a:solidFill>
                    <a:srgbClr val="2F3131"/>
                  </a:solidFill>
                </a:uFill>
                <a:latin typeface="Arial"/>
                <a:cs typeface="Arial"/>
              </a:rPr>
              <a:t>on</a:t>
            </a:r>
            <a:r>
              <a:rPr dirty="0" u="heavy" sz="1500" spc="125">
                <a:solidFill>
                  <a:srgbClr val="2F3131"/>
                </a:solidFill>
                <a:uFill>
                  <a:solidFill>
                    <a:srgbClr val="2F3131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500" spc="-10">
                <a:solidFill>
                  <a:srgbClr val="2F3131"/>
                </a:solidFill>
                <a:uFill>
                  <a:solidFill>
                    <a:srgbClr val="2F3131"/>
                  </a:solidFill>
                </a:uFill>
                <a:latin typeface="Arial"/>
                <a:cs typeface="Arial"/>
              </a:rPr>
              <a:t>Insig</a:t>
            </a:r>
            <a:r>
              <a:rPr dirty="0" u="heavy" sz="1500" spc="-10">
                <a:solidFill>
                  <a:srgbClr val="010303"/>
                </a:solidFill>
                <a:uFill>
                  <a:solidFill>
                    <a:srgbClr val="2F3131"/>
                  </a:solidFill>
                </a:uFill>
                <a:latin typeface="Arial"/>
                <a:cs typeface="Arial"/>
              </a:rPr>
              <a:t>h</a:t>
            </a:r>
            <a:r>
              <a:rPr dirty="0" u="heavy" sz="1500" spc="-10">
                <a:solidFill>
                  <a:srgbClr val="2F3131"/>
                </a:solidFill>
                <a:uFill>
                  <a:solidFill>
                    <a:srgbClr val="2F3131"/>
                  </a:solidFill>
                </a:uFill>
                <a:latin typeface="Arial"/>
                <a:cs typeface="Arial"/>
              </a:rPr>
              <a:t>t</a:t>
            </a:r>
            <a:endParaRPr sz="1500">
              <a:latin typeface="Arial"/>
              <a:cs typeface="Arial"/>
            </a:endParaRPr>
          </a:p>
          <a:p>
            <a:pPr algn="ctr" marL="1843405">
              <a:lnSpc>
                <a:spcPct val="100000"/>
              </a:lnSpc>
              <a:spcBef>
                <a:spcPts val="869"/>
              </a:spcBef>
            </a:pPr>
            <a:r>
              <a:rPr dirty="0" sz="3350" spc="-25">
                <a:solidFill>
                  <a:srgbClr val="1C385B"/>
                </a:solidFill>
                <a:latin typeface="Arial"/>
                <a:cs typeface="Arial"/>
              </a:rPr>
              <a:t>J,</a:t>
            </a:r>
            <a:endParaRPr sz="3350">
              <a:latin typeface="Arial"/>
              <a:cs typeface="Arial"/>
            </a:endParaRPr>
          </a:p>
          <a:p>
            <a:pPr algn="ctr" marL="1808480">
              <a:lnSpc>
                <a:spcPct val="100000"/>
              </a:lnSpc>
              <a:spcBef>
                <a:spcPts val="700"/>
              </a:spcBef>
            </a:pPr>
            <a:r>
              <a:rPr dirty="0" sz="1750" spc="60">
                <a:solidFill>
                  <a:srgbClr val="1F1F21"/>
                </a:solidFill>
                <a:latin typeface="Arial"/>
                <a:cs typeface="Arial"/>
              </a:rPr>
              <a:t>Outp</a:t>
            </a:r>
            <a:r>
              <a:rPr dirty="0" sz="1750" spc="60">
                <a:solidFill>
                  <a:srgbClr val="010303"/>
                </a:solidFill>
                <a:latin typeface="Arial"/>
                <a:cs typeface="Arial"/>
              </a:rPr>
              <a:t>u</a:t>
            </a:r>
            <a:r>
              <a:rPr dirty="0" sz="1750" spc="60">
                <a:solidFill>
                  <a:srgbClr val="1F1F21"/>
                </a:solidFill>
                <a:latin typeface="Arial"/>
                <a:cs typeface="Arial"/>
              </a:rPr>
              <a:t>t</a:t>
            </a:r>
            <a:r>
              <a:rPr dirty="0" sz="1750" spc="140">
                <a:solidFill>
                  <a:srgbClr val="1F1F21"/>
                </a:solidFill>
                <a:latin typeface="Arial"/>
                <a:cs typeface="Arial"/>
              </a:rPr>
              <a:t> </a:t>
            </a:r>
            <a:r>
              <a:rPr dirty="0" sz="1750" spc="40">
                <a:solidFill>
                  <a:srgbClr val="1F1F21"/>
                </a:solidFill>
                <a:latin typeface="Arial"/>
                <a:cs typeface="Arial"/>
              </a:rPr>
              <a:t>Layer</a:t>
            </a:r>
            <a:endParaRPr sz="175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879317" y="6836601"/>
            <a:ext cx="1762760" cy="2940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750" spc="65">
                <a:solidFill>
                  <a:srgbClr val="010303"/>
                </a:solidFill>
                <a:latin typeface="Arial"/>
                <a:cs typeface="Arial"/>
              </a:rPr>
              <a:t>R</a:t>
            </a:r>
            <a:r>
              <a:rPr dirty="0" sz="1750" spc="65">
                <a:solidFill>
                  <a:srgbClr val="1F1F21"/>
                </a:solidFill>
                <a:latin typeface="Arial"/>
                <a:cs typeface="Arial"/>
              </a:rPr>
              <a:t>e</a:t>
            </a:r>
            <a:r>
              <a:rPr dirty="0" sz="1750" spc="65">
                <a:solidFill>
                  <a:srgbClr val="010303"/>
                </a:solidFill>
                <a:latin typeface="Arial"/>
                <a:cs typeface="Arial"/>
              </a:rPr>
              <a:t>fl</a:t>
            </a:r>
            <a:r>
              <a:rPr dirty="0" sz="1750" spc="65">
                <a:solidFill>
                  <a:srgbClr val="1F1F21"/>
                </a:solidFill>
                <a:latin typeface="Arial"/>
                <a:cs typeface="Arial"/>
              </a:rPr>
              <a:t>ection</a:t>
            </a:r>
            <a:r>
              <a:rPr dirty="0" sz="1750" spc="-25">
                <a:solidFill>
                  <a:srgbClr val="1F1F21"/>
                </a:solidFill>
                <a:latin typeface="Arial"/>
                <a:cs typeface="Arial"/>
              </a:rPr>
              <a:t> </a:t>
            </a:r>
            <a:r>
              <a:rPr dirty="0" sz="1750" spc="50">
                <a:solidFill>
                  <a:srgbClr val="1F1F21"/>
                </a:solidFill>
                <a:latin typeface="Arial"/>
                <a:cs typeface="Arial"/>
              </a:rPr>
              <a:t>Layer</a:t>
            </a:r>
            <a:endParaRPr sz="175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0753424" y="6242976"/>
            <a:ext cx="413384" cy="8528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5400" spc="190" b="1">
                <a:solidFill>
                  <a:srgbClr val="1C385B"/>
                </a:solidFill>
                <a:latin typeface="Arial"/>
                <a:cs typeface="Arial"/>
              </a:rPr>
              <a:t>e</a:t>
            </a:r>
            <a:endParaRPr sz="54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0685720" y="7130223"/>
            <a:ext cx="123825" cy="539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u="heavy" sz="3350" spc="-195">
                <a:solidFill>
                  <a:srgbClr val="9EBDBF"/>
                </a:solidFill>
                <a:uFill>
                  <a:solidFill>
                    <a:srgbClr val="9EBDBF"/>
                  </a:solidFill>
                </a:uFill>
                <a:latin typeface="Arial"/>
                <a:cs typeface="Arial"/>
              </a:rPr>
              <a:t>)</a:t>
            </a:r>
            <a:endParaRPr sz="335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1070011" y="7877042"/>
            <a:ext cx="409575" cy="6229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3900" spc="120" b="1">
                <a:solidFill>
                  <a:srgbClr val="1C385B"/>
                </a:solidFill>
                <a:latin typeface="Arial"/>
                <a:cs typeface="Arial"/>
              </a:rPr>
              <a:t>G</a:t>
            </a:r>
            <a:endParaRPr sz="39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413038" y="8757906"/>
            <a:ext cx="4662170" cy="255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81610">
              <a:lnSpc>
                <a:spcPct val="100000"/>
              </a:lnSpc>
              <a:spcBef>
                <a:spcPts val="105"/>
              </a:spcBef>
            </a:pPr>
            <a:r>
              <a:rPr dirty="0" sz="1500" spc="-10">
                <a:solidFill>
                  <a:srgbClr val="2F3131"/>
                </a:solidFill>
                <a:latin typeface="Arial"/>
                <a:cs typeface="Arial"/>
              </a:rPr>
              <a:t>F</a:t>
            </a:r>
            <a:r>
              <a:rPr dirty="0" sz="1500" spc="-10">
                <a:solidFill>
                  <a:srgbClr val="010303"/>
                </a:solidFill>
                <a:latin typeface="Arial"/>
                <a:cs typeface="Arial"/>
              </a:rPr>
              <a:t>i</a:t>
            </a:r>
            <a:r>
              <a:rPr dirty="0" sz="1500" spc="-10">
                <a:solidFill>
                  <a:srgbClr val="2F3131"/>
                </a:solidFill>
                <a:latin typeface="Arial"/>
                <a:cs typeface="Arial"/>
              </a:rPr>
              <a:t>nal</a:t>
            </a:r>
            <a:r>
              <a:rPr dirty="0" sz="1500" spc="-15">
                <a:solidFill>
                  <a:srgbClr val="2F313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F1F21"/>
                </a:solidFill>
                <a:latin typeface="Arial"/>
                <a:cs typeface="Arial"/>
              </a:rPr>
              <a:t>Report</a:t>
            </a:r>
            <a:r>
              <a:rPr dirty="0" sz="1500" spc="70">
                <a:solidFill>
                  <a:srgbClr val="1F1F21"/>
                </a:solidFill>
                <a:latin typeface="Arial"/>
                <a:cs typeface="Arial"/>
              </a:rPr>
              <a:t> </a:t>
            </a:r>
            <a:r>
              <a:rPr dirty="0" sz="1500" spc="90">
                <a:solidFill>
                  <a:srgbClr val="1F1F21"/>
                </a:solidFill>
                <a:latin typeface="Arial"/>
                <a:cs typeface="Arial"/>
              </a:rPr>
              <a:t>&amp;</a:t>
            </a:r>
            <a:r>
              <a:rPr dirty="0" sz="1500" spc="-110">
                <a:solidFill>
                  <a:srgbClr val="1F1F2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F3131"/>
                </a:solidFill>
                <a:latin typeface="Arial"/>
                <a:cs typeface="Arial"/>
              </a:rPr>
              <a:t>V</a:t>
            </a:r>
            <a:r>
              <a:rPr dirty="0" sz="1500">
                <a:solidFill>
                  <a:srgbClr val="010303"/>
                </a:solidFill>
                <a:latin typeface="Arial"/>
                <a:cs typeface="Arial"/>
              </a:rPr>
              <a:t>i</a:t>
            </a:r>
            <a:r>
              <a:rPr dirty="0" sz="1500">
                <a:solidFill>
                  <a:srgbClr val="1F1F21"/>
                </a:solidFill>
                <a:latin typeface="Arial"/>
                <a:cs typeface="Arial"/>
              </a:rPr>
              <a:t>sua</a:t>
            </a:r>
            <a:r>
              <a:rPr dirty="0" sz="1500">
                <a:solidFill>
                  <a:srgbClr val="010303"/>
                </a:solidFill>
                <a:latin typeface="Arial"/>
                <a:cs typeface="Arial"/>
              </a:rPr>
              <a:t>l</a:t>
            </a:r>
            <a:r>
              <a:rPr dirty="0" sz="1500" spc="-105">
                <a:solidFill>
                  <a:srgbClr val="010303"/>
                </a:solidFill>
                <a:latin typeface="Arial"/>
                <a:cs typeface="Arial"/>
              </a:rPr>
              <a:t> </a:t>
            </a:r>
            <a:r>
              <a:rPr dirty="0" sz="1500" spc="65">
                <a:solidFill>
                  <a:srgbClr val="1F1F21"/>
                </a:solidFill>
                <a:latin typeface="Arial"/>
                <a:cs typeface="Arial"/>
              </a:rPr>
              <a:t>plots</a:t>
            </a:r>
            <a:r>
              <a:rPr dirty="0" sz="1500" spc="-50">
                <a:solidFill>
                  <a:srgbClr val="1F1F21"/>
                </a:solidFill>
                <a:latin typeface="Arial"/>
                <a:cs typeface="Arial"/>
              </a:rPr>
              <a:t> </a:t>
            </a:r>
            <a:r>
              <a:rPr dirty="0" sz="1500" spc="90">
                <a:solidFill>
                  <a:srgbClr val="1F1F21"/>
                </a:solidFill>
                <a:latin typeface="Arial"/>
                <a:cs typeface="Arial"/>
              </a:rPr>
              <a:t>&amp;</a:t>
            </a:r>
            <a:r>
              <a:rPr dirty="0" sz="1500" spc="-240">
                <a:solidFill>
                  <a:srgbClr val="1F1F2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F1F21"/>
                </a:solidFill>
                <a:latin typeface="Arial"/>
                <a:cs typeface="Arial"/>
              </a:rPr>
              <a:t>Pipeline</a:t>
            </a:r>
            <a:r>
              <a:rPr dirty="0" sz="1500" spc="-170">
                <a:solidFill>
                  <a:srgbClr val="1F1F21"/>
                </a:solidFill>
                <a:latin typeface="Arial"/>
                <a:cs typeface="Arial"/>
              </a:rPr>
              <a:t> </a:t>
            </a:r>
            <a:r>
              <a:rPr dirty="0" sz="1500" spc="70">
                <a:solidFill>
                  <a:srgbClr val="2F3131"/>
                </a:solidFill>
                <a:latin typeface="Arial"/>
                <a:cs typeface="Arial"/>
              </a:rPr>
              <a:t>python</a:t>
            </a:r>
            <a:r>
              <a:rPr dirty="0" sz="1500" spc="-90">
                <a:solidFill>
                  <a:srgbClr val="2F3131"/>
                </a:solidFill>
                <a:latin typeface="Arial"/>
                <a:cs typeface="Arial"/>
              </a:rPr>
              <a:t> </a:t>
            </a:r>
            <a:r>
              <a:rPr dirty="0" sz="1500" spc="-20">
                <a:solidFill>
                  <a:srgbClr val="1F1F21"/>
                </a:solidFill>
                <a:latin typeface="Arial"/>
                <a:cs typeface="Arial"/>
              </a:rPr>
              <a:t>code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88020" y="4162027"/>
            <a:ext cx="1171796" cy="469794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01514" y="8783373"/>
            <a:ext cx="433055" cy="17872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915239" y="6689725"/>
            <a:ext cx="1350112" cy="2297906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4814555" y="3830107"/>
            <a:ext cx="0" cy="536575"/>
          </a:xfrm>
          <a:custGeom>
            <a:avLst/>
            <a:gdLst/>
            <a:ahLst/>
            <a:cxnLst/>
            <a:rect l="l" t="t" r="r" b="b"/>
            <a:pathLst>
              <a:path w="0" h="536575">
                <a:moveTo>
                  <a:pt x="0" y="536177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2685971" y="3830107"/>
            <a:ext cx="0" cy="536575"/>
          </a:xfrm>
          <a:custGeom>
            <a:avLst/>
            <a:gdLst/>
            <a:ahLst/>
            <a:cxnLst/>
            <a:rect l="l" t="t" r="r" b="b"/>
            <a:pathLst>
              <a:path w="0" h="536575">
                <a:moveTo>
                  <a:pt x="0" y="536177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4214402" y="2068379"/>
            <a:ext cx="0" cy="2783205"/>
          </a:xfrm>
          <a:custGeom>
            <a:avLst/>
            <a:gdLst/>
            <a:ahLst/>
            <a:cxnLst/>
            <a:rect l="l" t="t" r="r" b="b"/>
            <a:pathLst>
              <a:path w="0" h="2783204">
                <a:moveTo>
                  <a:pt x="0" y="2783018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865503" y="3293929"/>
            <a:ext cx="7795259" cy="0"/>
          </a:xfrm>
          <a:custGeom>
            <a:avLst/>
            <a:gdLst/>
            <a:ahLst/>
            <a:cxnLst/>
            <a:rect l="l" t="t" r="r" b="b"/>
            <a:pathLst>
              <a:path w="7795259" h="0">
                <a:moveTo>
                  <a:pt x="0" y="0"/>
                </a:moveTo>
                <a:lnTo>
                  <a:pt x="7794994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814555" y="3689679"/>
            <a:ext cx="7871459" cy="0"/>
          </a:xfrm>
          <a:custGeom>
            <a:avLst/>
            <a:gdLst/>
            <a:ahLst/>
            <a:cxnLst/>
            <a:rect l="l" t="t" r="r" b="b"/>
            <a:pathLst>
              <a:path w="7871459" h="0">
                <a:moveTo>
                  <a:pt x="0" y="0"/>
                </a:moveTo>
                <a:lnTo>
                  <a:pt x="7871416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789081" y="3830107"/>
            <a:ext cx="7922895" cy="0"/>
          </a:xfrm>
          <a:custGeom>
            <a:avLst/>
            <a:gdLst/>
            <a:ahLst/>
            <a:cxnLst/>
            <a:rect l="l" t="t" r="r" b="b"/>
            <a:pathLst>
              <a:path w="7922895" h="0">
                <a:moveTo>
                  <a:pt x="0" y="0"/>
                </a:moveTo>
                <a:lnTo>
                  <a:pt x="7922363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700226" y="4059897"/>
            <a:ext cx="866140" cy="0"/>
          </a:xfrm>
          <a:custGeom>
            <a:avLst/>
            <a:gdLst/>
            <a:ahLst/>
            <a:cxnLst/>
            <a:rect l="l" t="t" r="r" b="b"/>
            <a:pathLst>
              <a:path w="866139" h="0">
                <a:moveTo>
                  <a:pt x="0" y="0"/>
                </a:moveTo>
                <a:lnTo>
                  <a:pt x="866110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789081" y="4327986"/>
            <a:ext cx="7922895" cy="0"/>
          </a:xfrm>
          <a:custGeom>
            <a:avLst/>
            <a:gdLst/>
            <a:ahLst/>
            <a:cxnLst/>
            <a:rect l="l" t="t" r="r" b="b"/>
            <a:pathLst>
              <a:path w="7922895" h="0">
                <a:moveTo>
                  <a:pt x="0" y="0"/>
                </a:moveTo>
                <a:lnTo>
                  <a:pt x="7922363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2864288" y="5642899"/>
            <a:ext cx="484505" cy="0"/>
          </a:xfrm>
          <a:custGeom>
            <a:avLst/>
            <a:gdLst/>
            <a:ahLst/>
            <a:cxnLst/>
            <a:rect l="l" t="t" r="r" b="b"/>
            <a:pathLst>
              <a:path w="484505" h="0">
                <a:moveTo>
                  <a:pt x="0" y="0"/>
                </a:moveTo>
                <a:lnTo>
                  <a:pt x="484002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870201" y="6357803"/>
            <a:ext cx="917575" cy="0"/>
          </a:xfrm>
          <a:custGeom>
            <a:avLst/>
            <a:gdLst/>
            <a:ahLst/>
            <a:cxnLst/>
            <a:rect l="l" t="t" r="r" b="b"/>
            <a:pathLst>
              <a:path w="917575" h="0">
                <a:moveTo>
                  <a:pt x="0" y="0"/>
                </a:moveTo>
                <a:lnTo>
                  <a:pt x="917058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3653977" y="6383335"/>
            <a:ext cx="866140" cy="0"/>
          </a:xfrm>
          <a:custGeom>
            <a:avLst/>
            <a:gdLst/>
            <a:ahLst/>
            <a:cxnLst/>
            <a:rect l="l" t="t" r="r" b="b"/>
            <a:pathLst>
              <a:path w="866140" h="0">
                <a:moveTo>
                  <a:pt x="0" y="0"/>
                </a:moveTo>
                <a:lnTo>
                  <a:pt x="866110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425927" y="8821668"/>
            <a:ext cx="1376045" cy="0"/>
          </a:xfrm>
          <a:custGeom>
            <a:avLst/>
            <a:gdLst/>
            <a:ahLst/>
            <a:cxnLst/>
            <a:rect l="l" t="t" r="r" b="b"/>
            <a:pathLst>
              <a:path w="1376045" h="0">
                <a:moveTo>
                  <a:pt x="0" y="0"/>
                </a:moveTo>
                <a:lnTo>
                  <a:pt x="1375587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337073" y="8936563"/>
            <a:ext cx="1223010" cy="0"/>
          </a:xfrm>
          <a:custGeom>
            <a:avLst/>
            <a:gdLst/>
            <a:ahLst/>
            <a:cxnLst/>
            <a:rect l="l" t="t" r="r" b="b"/>
            <a:pathLst>
              <a:path w="1223010" h="0">
                <a:moveTo>
                  <a:pt x="0" y="0"/>
                </a:moveTo>
                <a:lnTo>
                  <a:pt x="1222744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425927" y="8936563"/>
            <a:ext cx="459105" cy="0"/>
          </a:xfrm>
          <a:custGeom>
            <a:avLst/>
            <a:gdLst/>
            <a:ahLst/>
            <a:cxnLst/>
            <a:rect l="l" t="t" r="r" b="b"/>
            <a:pathLst>
              <a:path w="459104" h="0">
                <a:moveTo>
                  <a:pt x="0" y="0"/>
                </a:moveTo>
                <a:lnTo>
                  <a:pt x="458529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$PPTXTitle"/>
          <p:cNvSpPr txBox="1">
            <a:spLocks noGrp="1"/>
          </p:cNvSpPr>
          <p:nvPr>
            <p:ph type="title"/>
          </p:nvPr>
        </p:nvSpPr>
        <p:spPr>
          <a:xfrm>
            <a:off x="871560" y="638637"/>
            <a:ext cx="11350625" cy="71501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500" spc="140">
                <a:solidFill>
                  <a:srgbClr val="050507"/>
                </a:solidFill>
              </a:rPr>
              <a:t>Step</a:t>
            </a:r>
            <a:r>
              <a:rPr dirty="0" sz="4500" spc="-365">
                <a:solidFill>
                  <a:srgbClr val="050507"/>
                </a:solidFill>
              </a:rPr>
              <a:t> </a:t>
            </a:r>
            <a:r>
              <a:rPr dirty="0" sz="4500">
                <a:solidFill>
                  <a:srgbClr val="050507"/>
                </a:solidFill>
              </a:rPr>
              <a:t>1:</a:t>
            </a:r>
            <a:r>
              <a:rPr dirty="0" sz="4500" spc="-455">
                <a:solidFill>
                  <a:srgbClr val="050507"/>
                </a:solidFill>
              </a:rPr>
              <a:t> </a:t>
            </a:r>
            <a:r>
              <a:rPr dirty="0" sz="4500" spc="105">
                <a:solidFill>
                  <a:srgbClr val="050507"/>
                </a:solidFill>
              </a:rPr>
              <a:t>Natural</a:t>
            </a:r>
            <a:r>
              <a:rPr dirty="0" sz="4500" spc="-110">
                <a:solidFill>
                  <a:srgbClr val="050507"/>
                </a:solidFill>
              </a:rPr>
              <a:t> </a:t>
            </a:r>
            <a:r>
              <a:rPr dirty="0" sz="4500" spc="75">
                <a:solidFill>
                  <a:srgbClr val="050507"/>
                </a:solidFill>
              </a:rPr>
              <a:t>Language</a:t>
            </a:r>
            <a:r>
              <a:rPr dirty="0" sz="4500" spc="5">
                <a:solidFill>
                  <a:srgbClr val="050507"/>
                </a:solidFill>
              </a:rPr>
              <a:t> </a:t>
            </a:r>
            <a:r>
              <a:rPr dirty="0" sz="4500" spc="140">
                <a:solidFill>
                  <a:srgbClr val="050507"/>
                </a:solidFill>
              </a:rPr>
              <a:t>Data</a:t>
            </a:r>
            <a:r>
              <a:rPr dirty="0" sz="4500" spc="-150">
                <a:solidFill>
                  <a:srgbClr val="050507"/>
                </a:solidFill>
              </a:rPr>
              <a:t> </a:t>
            </a:r>
            <a:r>
              <a:rPr dirty="0" sz="4500" spc="95">
                <a:solidFill>
                  <a:srgbClr val="050507"/>
                </a:solidFill>
              </a:rPr>
              <a:t>Ingestion</a:t>
            </a:r>
            <a:endParaRPr sz="4500"/>
          </a:p>
        </p:txBody>
      </p:sp>
      <p:sp>
        <p:nvSpPr>
          <p:cNvPr id="20" name="object 20"/>
          <p:cNvSpPr txBox="1"/>
          <p:nvPr/>
        </p:nvSpPr>
        <p:spPr>
          <a:xfrm>
            <a:off x="3449200" y="1704611"/>
            <a:ext cx="608330" cy="6616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150" spc="40">
                <a:solidFill>
                  <a:srgbClr val="B8BFC6"/>
                </a:solidFill>
                <a:latin typeface="Arial"/>
                <a:cs typeface="Arial"/>
              </a:rPr>
              <a:t>•••</a:t>
            </a:r>
            <a:endParaRPr sz="41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08373" y="3128036"/>
            <a:ext cx="2241550" cy="6896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8890">
              <a:lnSpc>
                <a:spcPct val="108900"/>
              </a:lnSpc>
              <a:spcBef>
                <a:spcPts val="95"/>
              </a:spcBef>
            </a:pPr>
            <a:r>
              <a:rPr dirty="0" sz="2000">
                <a:solidFill>
                  <a:srgbClr val="242628"/>
                </a:solidFill>
                <a:latin typeface="Arial"/>
                <a:cs typeface="Arial"/>
              </a:rPr>
              <a:t>Use</a:t>
            </a:r>
            <a:r>
              <a:rPr dirty="0" sz="2000">
                <a:solidFill>
                  <a:srgbClr val="050507"/>
                </a:solidFill>
                <a:latin typeface="Arial"/>
                <a:cs typeface="Arial"/>
              </a:rPr>
              <a:t>r</a:t>
            </a:r>
            <a:r>
              <a:rPr dirty="0" sz="2000" spc="40">
                <a:solidFill>
                  <a:srgbClr val="050507"/>
                </a:solidFill>
                <a:latin typeface="Arial"/>
                <a:cs typeface="Arial"/>
              </a:rPr>
              <a:t> </a:t>
            </a:r>
            <a:r>
              <a:rPr dirty="0" sz="2000" spc="105">
                <a:solidFill>
                  <a:srgbClr val="242628"/>
                </a:solidFill>
                <a:latin typeface="Arial"/>
                <a:cs typeface="Arial"/>
              </a:rPr>
              <a:t>types</a:t>
            </a:r>
            <a:r>
              <a:rPr dirty="0" sz="2000" spc="10">
                <a:solidFill>
                  <a:srgbClr val="242628"/>
                </a:solidFill>
                <a:latin typeface="Arial"/>
                <a:cs typeface="Arial"/>
              </a:rPr>
              <a:t> </a:t>
            </a:r>
            <a:r>
              <a:rPr dirty="0" sz="2000" spc="50">
                <a:solidFill>
                  <a:srgbClr val="3B3D3F"/>
                </a:solidFill>
                <a:latin typeface="Arial"/>
                <a:cs typeface="Arial"/>
              </a:rPr>
              <a:t>natural </a:t>
            </a:r>
            <a:r>
              <a:rPr dirty="0" sz="2000">
                <a:solidFill>
                  <a:srgbClr val="242628"/>
                </a:solidFill>
                <a:latin typeface="Arial"/>
                <a:cs typeface="Arial"/>
              </a:rPr>
              <a:t>language</a:t>
            </a:r>
            <a:r>
              <a:rPr dirty="0" sz="2000" spc="375">
                <a:solidFill>
                  <a:srgbClr val="242628"/>
                </a:solidFill>
                <a:latin typeface="Arial"/>
                <a:cs typeface="Arial"/>
              </a:rPr>
              <a:t> </a:t>
            </a:r>
            <a:r>
              <a:rPr dirty="0" sz="2000" spc="55">
                <a:solidFill>
                  <a:srgbClr val="242628"/>
                </a:solidFill>
                <a:latin typeface="Arial"/>
                <a:cs typeface="Arial"/>
              </a:rPr>
              <a:t>request.</a:t>
            </a:r>
            <a:endParaRPr sz="2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796683" y="2840797"/>
            <a:ext cx="2679700" cy="309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50">
                <a:solidFill>
                  <a:srgbClr val="050507"/>
                </a:solidFill>
                <a:latin typeface="Arial"/>
                <a:cs typeface="Arial"/>
              </a:rPr>
              <a:t>N</a:t>
            </a:r>
            <a:r>
              <a:rPr dirty="0" sz="1850" spc="50">
                <a:solidFill>
                  <a:srgbClr val="242628"/>
                </a:solidFill>
                <a:latin typeface="Arial"/>
                <a:cs typeface="Arial"/>
              </a:rPr>
              <a:t>a</a:t>
            </a:r>
            <a:r>
              <a:rPr dirty="0" sz="1850" spc="50">
                <a:solidFill>
                  <a:srgbClr val="050507"/>
                </a:solidFill>
                <a:latin typeface="Arial"/>
                <a:cs typeface="Arial"/>
              </a:rPr>
              <a:t>tu</a:t>
            </a:r>
            <a:r>
              <a:rPr dirty="0" sz="1850" spc="50">
                <a:solidFill>
                  <a:srgbClr val="242628"/>
                </a:solidFill>
                <a:latin typeface="Arial"/>
                <a:cs typeface="Arial"/>
              </a:rPr>
              <a:t>ra</a:t>
            </a:r>
            <a:r>
              <a:rPr dirty="0" sz="1850" spc="50">
                <a:solidFill>
                  <a:srgbClr val="050507"/>
                </a:solidFill>
                <a:latin typeface="Arial"/>
                <a:cs typeface="Arial"/>
              </a:rPr>
              <a:t>l</a:t>
            </a:r>
            <a:r>
              <a:rPr dirty="0" sz="1850" spc="-55">
                <a:solidFill>
                  <a:srgbClr val="050507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050507"/>
                </a:solidFill>
                <a:latin typeface="Arial"/>
                <a:cs typeface="Arial"/>
              </a:rPr>
              <a:t>L</a:t>
            </a:r>
            <a:r>
              <a:rPr dirty="0" sz="1850">
                <a:solidFill>
                  <a:srgbClr val="242628"/>
                </a:solidFill>
                <a:latin typeface="Arial"/>
                <a:cs typeface="Arial"/>
              </a:rPr>
              <a:t>a</a:t>
            </a:r>
            <a:r>
              <a:rPr dirty="0" sz="1850">
                <a:solidFill>
                  <a:srgbClr val="050507"/>
                </a:solidFill>
                <a:latin typeface="Arial"/>
                <a:cs typeface="Arial"/>
              </a:rPr>
              <a:t>n</a:t>
            </a:r>
            <a:r>
              <a:rPr dirty="0" sz="1850">
                <a:solidFill>
                  <a:srgbClr val="242628"/>
                </a:solidFill>
                <a:latin typeface="Arial"/>
                <a:cs typeface="Arial"/>
              </a:rPr>
              <a:t>g</a:t>
            </a:r>
            <a:r>
              <a:rPr dirty="0" sz="1850">
                <a:solidFill>
                  <a:srgbClr val="050507"/>
                </a:solidFill>
                <a:latin typeface="Arial"/>
                <a:cs typeface="Arial"/>
              </a:rPr>
              <a:t>u</a:t>
            </a:r>
            <a:r>
              <a:rPr dirty="0" sz="1850">
                <a:solidFill>
                  <a:srgbClr val="242628"/>
                </a:solidFill>
                <a:latin typeface="Arial"/>
                <a:cs typeface="Arial"/>
              </a:rPr>
              <a:t>age</a:t>
            </a:r>
            <a:r>
              <a:rPr dirty="0" sz="1850" spc="15">
                <a:solidFill>
                  <a:srgbClr val="242628"/>
                </a:solidFill>
                <a:latin typeface="Arial"/>
                <a:cs typeface="Arial"/>
              </a:rPr>
              <a:t> </a:t>
            </a:r>
            <a:r>
              <a:rPr dirty="0" sz="1850" spc="-20">
                <a:solidFill>
                  <a:srgbClr val="050507"/>
                </a:solidFill>
                <a:latin typeface="Arial"/>
                <a:cs typeface="Arial"/>
              </a:rPr>
              <a:t>Qu</a:t>
            </a:r>
            <a:r>
              <a:rPr dirty="0" sz="1850" spc="-20">
                <a:solidFill>
                  <a:srgbClr val="242628"/>
                </a:solidFill>
                <a:latin typeface="Arial"/>
                <a:cs typeface="Arial"/>
              </a:rPr>
              <a:t>e</a:t>
            </a:r>
            <a:r>
              <a:rPr dirty="0" sz="1850" spc="-20">
                <a:solidFill>
                  <a:srgbClr val="050507"/>
                </a:solidFill>
                <a:latin typeface="Arial"/>
                <a:cs typeface="Arial"/>
              </a:rPr>
              <a:t>r</a:t>
            </a:r>
            <a:r>
              <a:rPr dirty="0" sz="1850" spc="-20">
                <a:solidFill>
                  <a:srgbClr val="242628"/>
                </a:solidFill>
                <a:latin typeface="Arial"/>
                <a:cs typeface="Arial"/>
              </a:rPr>
              <a:t>y</a:t>
            </a:r>
            <a:endParaRPr sz="185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751475" y="3562018"/>
            <a:ext cx="51435" cy="0"/>
          </a:xfrm>
          <a:custGeom>
            <a:avLst/>
            <a:gdLst/>
            <a:ahLst/>
            <a:cxnLst/>
            <a:rect l="l" t="t" r="r" b="b"/>
            <a:pathLst>
              <a:path w="51435" h="0">
                <a:moveTo>
                  <a:pt x="0" y="0"/>
                </a:moveTo>
                <a:lnTo>
                  <a:pt x="50947" y="0"/>
                </a:lnTo>
              </a:path>
            </a:pathLst>
          </a:custGeom>
          <a:ln w="12766">
            <a:solidFill>
              <a:srgbClr val="49678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4083256" y="3006758"/>
            <a:ext cx="2346960" cy="6769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668020" algn="l"/>
              </a:tabLst>
            </a:pPr>
            <a:r>
              <a:rPr dirty="0" sz="1350">
                <a:solidFill>
                  <a:srgbClr val="545456"/>
                </a:solidFill>
                <a:latin typeface="Arial"/>
                <a:cs typeface="Arial"/>
              </a:rPr>
              <a:t>--➔	</a:t>
            </a:r>
            <a:r>
              <a:rPr dirty="0" sz="4250" spc="-200">
                <a:solidFill>
                  <a:srgbClr val="496787"/>
                </a:solidFill>
                <a:latin typeface="Arial"/>
                <a:cs typeface="Arial"/>
              </a:rPr>
              <a:t>I</a:t>
            </a:r>
            <a:r>
              <a:rPr dirty="0" sz="1600" spc="-200">
                <a:solidFill>
                  <a:srgbClr val="545456"/>
                </a:solidFill>
                <a:latin typeface="Courier New"/>
                <a:cs typeface="Courier New"/>
              </a:rPr>
              <a:t>adhere</a:t>
            </a:r>
            <a:r>
              <a:rPr dirty="0" sz="1600" spc="-605">
                <a:solidFill>
                  <a:srgbClr val="545456"/>
                </a:solidFill>
                <a:latin typeface="Courier New"/>
                <a:cs typeface="Courier New"/>
              </a:rPr>
              <a:t> </a:t>
            </a:r>
            <a:r>
              <a:rPr dirty="0" sz="1600" spc="-325">
                <a:solidFill>
                  <a:srgbClr val="3B3D3F"/>
                </a:solidFill>
                <a:latin typeface="Courier New"/>
                <a:cs typeface="Courier New"/>
              </a:rPr>
              <a:t>hea</a:t>
            </a:r>
            <a:r>
              <a:rPr dirty="0" sz="1600" spc="-325">
                <a:solidFill>
                  <a:srgbClr val="6E7070"/>
                </a:solidFill>
                <a:latin typeface="Courier New"/>
                <a:cs typeface="Courier New"/>
              </a:rPr>
              <a:t>l</a:t>
            </a:r>
            <a:r>
              <a:rPr dirty="0" sz="1600" spc="-325">
                <a:solidFill>
                  <a:srgbClr val="3B3D3F"/>
                </a:solidFill>
                <a:latin typeface="Courier New"/>
                <a:cs typeface="Courier New"/>
              </a:rPr>
              <a:t>th</a:t>
            </a:r>
            <a:r>
              <a:rPr dirty="0" sz="1600" spc="-325">
                <a:solidFill>
                  <a:srgbClr val="545456"/>
                </a:solidFill>
                <a:latin typeface="Courier New"/>
                <a:cs typeface="Courier New"/>
              </a:rPr>
              <a:t>20241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2610155" y="3689679"/>
            <a:ext cx="51435" cy="0"/>
          </a:xfrm>
          <a:custGeom>
            <a:avLst/>
            <a:gdLst/>
            <a:ahLst/>
            <a:cxnLst/>
            <a:rect l="l" t="t" r="r" b="b"/>
            <a:pathLst>
              <a:path w="51434" h="0">
                <a:moveTo>
                  <a:pt x="0" y="0"/>
                </a:moveTo>
                <a:lnTo>
                  <a:pt x="50947" y="0"/>
                </a:lnTo>
              </a:path>
            </a:pathLst>
          </a:custGeom>
          <a:ln w="12766">
            <a:solidFill>
              <a:srgbClr val="49678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12597453" y="3134419"/>
            <a:ext cx="126364" cy="6769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250" spc="-440">
                <a:solidFill>
                  <a:srgbClr val="496787"/>
                </a:solidFill>
                <a:latin typeface="Arial"/>
                <a:cs typeface="Arial"/>
              </a:rPr>
              <a:t>I</a:t>
            </a:r>
            <a:endParaRPr sz="4250">
              <a:latin typeface="Arial"/>
              <a:cs typeface="Arial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/>
              <a:t>Isl\</a:t>
            </a:r>
            <a:r>
              <a:rPr dirty="0" sz="1300" spc="-45"/>
              <a:t> </a:t>
            </a:r>
            <a:r>
              <a:rPr dirty="0" spc="-10">
                <a:solidFill>
                  <a:srgbClr val="13161A"/>
                </a:solidFill>
              </a:rPr>
              <a:t>N</a:t>
            </a:r>
            <a:r>
              <a:rPr dirty="0" spc="-10"/>
              <a:t>otebookL</a:t>
            </a:r>
            <a:r>
              <a:rPr dirty="0" spc="-10">
                <a:solidFill>
                  <a:srgbClr val="13161A"/>
                </a:solidFill>
              </a:rPr>
              <a:t>M</a:t>
            </a:r>
            <a:endParaRPr sz="1300"/>
          </a:p>
        </p:txBody>
      </p:sp>
      <p:sp>
        <p:nvSpPr>
          <p:cNvPr id="27" name="object 27"/>
          <p:cNvSpPr txBox="1"/>
          <p:nvPr/>
        </p:nvSpPr>
        <p:spPr>
          <a:xfrm>
            <a:off x="4793296" y="3919537"/>
            <a:ext cx="7886700" cy="8655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96520">
              <a:lnSpc>
                <a:spcPts val="2190"/>
              </a:lnSpc>
              <a:tabLst>
                <a:tab pos="566420" algn="l"/>
              </a:tabLst>
            </a:pPr>
            <a:r>
              <a:rPr dirty="0" sz="2400" spc="-495" b="1">
                <a:solidFill>
                  <a:srgbClr val="239A89"/>
                </a:solidFill>
                <a:latin typeface="Arial"/>
                <a:cs typeface="Arial"/>
              </a:rPr>
              <a:t>0</a:t>
            </a:r>
            <a:r>
              <a:rPr dirty="0" sz="2400" b="1">
                <a:solidFill>
                  <a:srgbClr val="239A89"/>
                </a:solidFill>
                <a:latin typeface="Arial"/>
                <a:cs typeface="Arial"/>
              </a:rPr>
              <a:t>	</a:t>
            </a:r>
            <a:r>
              <a:rPr dirty="0" sz="1600" spc="-245">
                <a:solidFill>
                  <a:srgbClr val="345E54"/>
                </a:solidFill>
                <a:latin typeface="Courier New"/>
                <a:cs typeface="Courier New"/>
              </a:rPr>
              <a:t>Matched</a:t>
            </a:r>
            <a:r>
              <a:rPr dirty="0" sz="1600" spc="-660">
                <a:solidFill>
                  <a:srgbClr val="345E54"/>
                </a:solidFill>
                <a:latin typeface="Courier New"/>
                <a:cs typeface="Courier New"/>
              </a:rPr>
              <a:t> </a:t>
            </a:r>
            <a:r>
              <a:rPr dirty="0" sz="1600" spc="-204">
                <a:solidFill>
                  <a:srgbClr val="345E54"/>
                </a:solidFill>
                <a:latin typeface="Courier New"/>
                <a:cs typeface="Courier New"/>
              </a:rPr>
              <a:t>prog</a:t>
            </a:r>
            <a:r>
              <a:rPr dirty="0" sz="1600" spc="-204">
                <a:solidFill>
                  <a:srgbClr val="4F6E6E"/>
                </a:solidFill>
                <a:latin typeface="Courier New"/>
                <a:cs typeface="Courier New"/>
              </a:rPr>
              <a:t>r</a:t>
            </a:r>
            <a:r>
              <a:rPr dirty="0" sz="1600" spc="-204">
                <a:solidFill>
                  <a:srgbClr val="345E54"/>
                </a:solidFill>
                <a:latin typeface="Courier New"/>
                <a:cs typeface="Courier New"/>
              </a:rPr>
              <a:t>am</a:t>
            </a:r>
            <a:r>
              <a:rPr dirty="0" sz="1600" spc="-795">
                <a:solidFill>
                  <a:srgbClr val="4F6E6E"/>
                </a:solidFill>
                <a:latin typeface="Courier New"/>
                <a:cs typeface="Courier New"/>
              </a:rPr>
              <a:t>:</a:t>
            </a:r>
            <a:r>
              <a:rPr dirty="0" sz="1600" spc="-215">
                <a:solidFill>
                  <a:srgbClr val="345E54"/>
                </a:solidFill>
                <a:latin typeface="Courier New"/>
                <a:cs typeface="Courier New"/>
              </a:rPr>
              <a:t>Adher</a:t>
            </a:r>
            <a:r>
              <a:rPr dirty="0" sz="1600" spc="-204">
                <a:solidFill>
                  <a:srgbClr val="345E54"/>
                </a:solidFill>
                <a:latin typeface="Courier New"/>
                <a:cs typeface="Courier New"/>
              </a:rPr>
              <a:t>e</a:t>
            </a:r>
            <a:r>
              <a:rPr dirty="0" sz="1600" spc="-665">
                <a:solidFill>
                  <a:srgbClr val="345E54"/>
                </a:solidFill>
                <a:latin typeface="Courier New"/>
                <a:cs typeface="Courier New"/>
              </a:rPr>
              <a:t> </a:t>
            </a:r>
            <a:r>
              <a:rPr dirty="0" sz="1600" spc="-350">
                <a:solidFill>
                  <a:srgbClr val="345E54"/>
                </a:solidFill>
                <a:latin typeface="Courier New"/>
                <a:cs typeface="Courier New"/>
              </a:rPr>
              <a:t>Health(ID:</a:t>
            </a:r>
            <a:r>
              <a:rPr dirty="0" sz="1600" spc="-685">
                <a:solidFill>
                  <a:srgbClr val="345E54"/>
                </a:solidFill>
                <a:latin typeface="Courier New"/>
                <a:cs typeface="Courier New"/>
              </a:rPr>
              <a:t> </a:t>
            </a:r>
            <a:r>
              <a:rPr dirty="0" sz="1600" spc="-315">
                <a:solidFill>
                  <a:srgbClr val="345E54"/>
                </a:solidFill>
                <a:latin typeface="Courier New"/>
                <a:cs typeface="Courier New"/>
              </a:rPr>
              <a:t>1</a:t>
            </a:r>
            <a:r>
              <a:rPr dirty="0" sz="1600" spc="-295">
                <a:solidFill>
                  <a:srgbClr val="345E54"/>
                </a:solidFill>
                <a:latin typeface="Courier New"/>
                <a:cs typeface="Courier New"/>
              </a:rPr>
              <a:t>1</a:t>
            </a:r>
            <a:r>
              <a:rPr dirty="0" sz="1600" spc="-300">
                <a:solidFill>
                  <a:srgbClr val="345E54"/>
                </a:solidFill>
                <a:latin typeface="Courier New"/>
                <a:cs typeface="Courier New"/>
              </a:rPr>
              <a:t>4</a:t>
            </a:r>
            <a:r>
              <a:rPr dirty="0" sz="1600" spc="-745">
                <a:solidFill>
                  <a:srgbClr val="5D8079"/>
                </a:solidFill>
                <a:latin typeface="Courier New"/>
                <a:cs typeface="Courier New"/>
              </a:rPr>
              <a:t>,</a:t>
            </a:r>
            <a:r>
              <a:rPr dirty="0" sz="1600" spc="-315">
                <a:solidFill>
                  <a:srgbClr val="345E54"/>
                </a:solidFill>
                <a:latin typeface="Courier New"/>
                <a:cs typeface="Courier New"/>
              </a:rPr>
              <a:t>Confidence</a:t>
            </a:r>
            <a:r>
              <a:rPr dirty="0" sz="1600" spc="-165">
                <a:solidFill>
                  <a:srgbClr val="345E54"/>
                </a:solidFill>
                <a:latin typeface="Courier New"/>
                <a:cs typeface="Courier New"/>
              </a:rPr>
              <a:t>:</a:t>
            </a:r>
            <a:r>
              <a:rPr dirty="0" sz="1600" spc="-305">
                <a:solidFill>
                  <a:srgbClr val="345E54"/>
                </a:solidFill>
                <a:latin typeface="Courier New"/>
                <a:cs typeface="Courier New"/>
              </a:rPr>
              <a:t>100</a:t>
            </a:r>
            <a:r>
              <a:rPr dirty="0" sz="1600" spc="-315">
                <a:solidFill>
                  <a:srgbClr val="345E54"/>
                </a:solidFill>
                <a:latin typeface="Courier New"/>
                <a:cs typeface="Courier New"/>
              </a:rPr>
              <a:t>1&lt;</a:t>
            </a:r>
            <a:r>
              <a:rPr dirty="0" sz="1600" spc="-300">
                <a:solidFill>
                  <a:srgbClr val="345E54"/>
                </a:solidFill>
                <a:latin typeface="Courier New"/>
                <a:cs typeface="Courier New"/>
              </a:rPr>
              <a:t>.</a:t>
            </a:r>
            <a:r>
              <a:rPr dirty="0" sz="1600" spc="-305">
                <a:solidFill>
                  <a:srgbClr val="4F6E6E"/>
                </a:solidFill>
                <a:latin typeface="Courier New"/>
                <a:cs typeface="Courier New"/>
              </a:rPr>
              <a:t>)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400" spc="10" b="1">
                <a:solidFill>
                  <a:srgbClr val="242628"/>
                </a:solidFill>
                <a:latin typeface="Arial"/>
                <a:cs typeface="Arial"/>
              </a:rPr>
              <a:t>Generated</a:t>
            </a:r>
            <a:r>
              <a:rPr dirty="0" sz="1400" spc="260" b="1">
                <a:solidFill>
                  <a:srgbClr val="242628"/>
                </a:solidFill>
                <a:latin typeface="Arial"/>
                <a:cs typeface="Arial"/>
              </a:rPr>
              <a:t> </a:t>
            </a:r>
            <a:r>
              <a:rPr dirty="0" sz="1400" spc="10" b="1">
                <a:solidFill>
                  <a:srgbClr val="242628"/>
                </a:solidFill>
                <a:latin typeface="Arial"/>
                <a:cs typeface="Arial"/>
              </a:rPr>
              <a:t>SQL</a:t>
            </a:r>
            <a:r>
              <a:rPr dirty="0" sz="1400" spc="5" b="1">
                <a:solidFill>
                  <a:srgbClr val="242628"/>
                </a:solidFill>
                <a:latin typeface="Arial"/>
                <a:cs typeface="Arial"/>
              </a:rPr>
              <a:t> </a:t>
            </a:r>
            <a:r>
              <a:rPr dirty="0" sz="1400" spc="40" b="1">
                <a:solidFill>
                  <a:srgbClr val="242628"/>
                </a:solidFill>
                <a:latin typeface="Arial"/>
                <a:cs typeface="Arial"/>
              </a:rPr>
              <a:t>Query</a:t>
            </a:r>
            <a:endParaRPr sz="14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961830" y="5004659"/>
            <a:ext cx="7409180" cy="13944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1889"/>
              </a:lnSpc>
              <a:spcBef>
                <a:spcPts val="105"/>
              </a:spcBef>
            </a:pPr>
            <a:r>
              <a:rPr dirty="0" sz="1600" spc="-265">
                <a:solidFill>
                  <a:srgbClr val="3B3D3F"/>
                </a:solidFill>
                <a:latin typeface="Courier New"/>
                <a:cs typeface="Courier New"/>
              </a:rPr>
              <a:t>SELECT</a:t>
            </a:r>
            <a:r>
              <a:rPr dirty="0" sz="1600" spc="-345">
                <a:solidFill>
                  <a:srgbClr val="3B3D3F"/>
                </a:solidFill>
                <a:latin typeface="Courier New"/>
                <a:cs typeface="Courier New"/>
              </a:rPr>
              <a:t> </a:t>
            </a:r>
            <a:r>
              <a:rPr dirty="0" sz="1600" spc="-260">
                <a:solidFill>
                  <a:srgbClr val="242628"/>
                </a:solidFill>
                <a:latin typeface="Courier New"/>
                <a:cs typeface="Courier New"/>
              </a:rPr>
              <a:t>pl.reach</a:t>
            </a:r>
            <a:r>
              <a:rPr dirty="0" sz="1600" spc="-260">
                <a:solidFill>
                  <a:srgbClr val="545456"/>
                </a:solidFill>
                <a:latin typeface="Courier New"/>
                <a:cs typeface="Courier New"/>
              </a:rPr>
              <a:t>_in</a:t>
            </a:r>
            <a:r>
              <a:rPr dirty="0" sz="1600" spc="-260">
                <a:solidFill>
                  <a:srgbClr val="242628"/>
                </a:solidFill>
                <a:latin typeface="Courier New"/>
                <a:cs typeface="Courier New"/>
              </a:rPr>
              <a:t>d,</a:t>
            </a:r>
            <a:r>
              <a:rPr dirty="0" sz="1600" spc="-730">
                <a:solidFill>
                  <a:srgbClr val="242628"/>
                </a:solidFill>
                <a:latin typeface="Courier New"/>
                <a:cs typeface="Courier New"/>
              </a:rPr>
              <a:t> </a:t>
            </a:r>
            <a:r>
              <a:rPr dirty="0" sz="1600" spc="-260">
                <a:solidFill>
                  <a:srgbClr val="3B3D3F"/>
                </a:solidFill>
                <a:latin typeface="Courier New"/>
                <a:cs typeface="Courier New"/>
              </a:rPr>
              <a:t>pl</a:t>
            </a:r>
            <a:r>
              <a:rPr dirty="0" sz="1600" spc="-260">
                <a:solidFill>
                  <a:srgbClr val="050507"/>
                </a:solidFill>
                <a:latin typeface="Courier New"/>
                <a:cs typeface="Courier New"/>
              </a:rPr>
              <a:t>.</a:t>
            </a:r>
            <a:r>
              <a:rPr dirty="0" sz="1600" spc="-260">
                <a:solidFill>
                  <a:srgbClr val="3B3D3F"/>
                </a:solidFill>
                <a:latin typeface="Courier New"/>
                <a:cs typeface="Courier New"/>
              </a:rPr>
              <a:t>outcome_ind,</a:t>
            </a:r>
            <a:r>
              <a:rPr dirty="0" sz="1600" spc="-630">
                <a:solidFill>
                  <a:srgbClr val="3B3D3F"/>
                </a:solidFill>
                <a:latin typeface="Courier New"/>
                <a:cs typeface="Courier New"/>
              </a:rPr>
              <a:t> </a:t>
            </a:r>
            <a:r>
              <a:rPr dirty="0" sz="1600" spc="-265">
                <a:solidFill>
                  <a:srgbClr val="3B3D3F"/>
                </a:solidFill>
                <a:latin typeface="Courier New"/>
                <a:cs typeface="Courier New"/>
              </a:rPr>
              <a:t>pl</a:t>
            </a:r>
            <a:r>
              <a:rPr dirty="0" sz="1600" spc="-265">
                <a:solidFill>
                  <a:srgbClr val="050507"/>
                </a:solidFill>
                <a:latin typeface="Courier New"/>
                <a:cs typeface="Courier New"/>
              </a:rPr>
              <a:t>.</a:t>
            </a:r>
            <a:r>
              <a:rPr dirty="0" sz="1600" spc="-265">
                <a:solidFill>
                  <a:srgbClr val="3B3D3F"/>
                </a:solidFill>
                <a:latin typeface="Courier New"/>
                <a:cs typeface="Courier New"/>
              </a:rPr>
              <a:t>stars_msr_id,</a:t>
            </a:r>
            <a:r>
              <a:rPr dirty="0" sz="1600" spc="-725">
                <a:solidFill>
                  <a:srgbClr val="3B3D3F"/>
                </a:solidFill>
                <a:latin typeface="Courier New"/>
                <a:cs typeface="Courier New"/>
              </a:rPr>
              <a:t> </a:t>
            </a:r>
            <a:r>
              <a:rPr dirty="0" sz="1600" spc="-285">
                <a:solidFill>
                  <a:srgbClr val="3B3D3F"/>
                </a:solidFill>
                <a:latin typeface="Courier New"/>
                <a:cs typeface="Courier New"/>
              </a:rPr>
              <a:t>pl.stars_outrch_msr_nm,</a:t>
            </a:r>
            <a:r>
              <a:rPr dirty="0" sz="1600" spc="-455">
                <a:solidFill>
                  <a:srgbClr val="3B3D3F"/>
                </a:solidFill>
                <a:latin typeface="Courier New"/>
                <a:cs typeface="Courier New"/>
              </a:rPr>
              <a:t> </a:t>
            </a:r>
            <a:r>
              <a:rPr dirty="0" sz="1600" spc="-20">
                <a:solidFill>
                  <a:srgbClr val="3B3D3F"/>
                </a:solidFill>
                <a:latin typeface="Courier New"/>
                <a:cs typeface="Courier New"/>
              </a:rPr>
              <a:t>st.•</a:t>
            </a:r>
            <a:endParaRPr sz="1600">
              <a:latin typeface="Courier New"/>
              <a:cs typeface="Courier New"/>
            </a:endParaRPr>
          </a:p>
          <a:p>
            <a:pPr marL="17780">
              <a:lnSpc>
                <a:spcPts val="1250"/>
              </a:lnSpc>
            </a:pPr>
            <a:r>
              <a:rPr dirty="0" sz="1250" spc="-20">
                <a:solidFill>
                  <a:srgbClr val="545456"/>
                </a:solidFill>
                <a:latin typeface="Arial"/>
                <a:cs typeface="Arial"/>
              </a:rPr>
              <a:t>FROM</a:t>
            </a:r>
            <a:endParaRPr sz="1250">
              <a:latin typeface="Arial"/>
              <a:cs typeface="Arial"/>
            </a:endParaRPr>
          </a:p>
          <a:p>
            <a:pPr marL="149225">
              <a:lnSpc>
                <a:spcPts val="1545"/>
              </a:lnSpc>
            </a:pPr>
            <a:r>
              <a:rPr dirty="0" sz="1600" spc="-250">
                <a:solidFill>
                  <a:srgbClr val="3B3D3F"/>
                </a:solidFill>
                <a:latin typeface="Courier New"/>
                <a:cs typeface="Courier New"/>
              </a:rPr>
              <a:t>(SELECT</a:t>
            </a:r>
            <a:r>
              <a:rPr dirty="0" sz="1600" spc="-315">
                <a:solidFill>
                  <a:srgbClr val="3B3D3F"/>
                </a:solidFill>
                <a:latin typeface="Courier New"/>
                <a:cs typeface="Courier New"/>
              </a:rPr>
              <a:t> </a:t>
            </a:r>
            <a:r>
              <a:rPr dirty="0" sz="1600" spc="-285">
                <a:solidFill>
                  <a:srgbClr val="3B3D3F"/>
                </a:solidFill>
                <a:latin typeface="Courier New"/>
                <a:cs typeface="Courier New"/>
              </a:rPr>
              <a:t>a.stars_pgm_year_nbr,</a:t>
            </a:r>
            <a:r>
              <a:rPr dirty="0" sz="1600" spc="-350">
                <a:solidFill>
                  <a:srgbClr val="3B3D3F"/>
                </a:solidFill>
                <a:latin typeface="Courier New"/>
                <a:cs typeface="Courier New"/>
              </a:rPr>
              <a:t> </a:t>
            </a:r>
            <a:r>
              <a:rPr dirty="0" sz="1600" spc="-285">
                <a:solidFill>
                  <a:srgbClr val="3B3D3F"/>
                </a:solidFill>
                <a:latin typeface="Courier New"/>
                <a:cs typeface="Courier New"/>
              </a:rPr>
              <a:t>a.stars_pgm_id, b.stars_msr_id,</a:t>
            </a:r>
            <a:endParaRPr sz="1600">
              <a:latin typeface="Courier New"/>
              <a:cs typeface="Courier New"/>
            </a:endParaRPr>
          </a:p>
          <a:p>
            <a:pPr marL="494030">
              <a:lnSpc>
                <a:spcPts val="1425"/>
              </a:lnSpc>
            </a:pPr>
            <a:r>
              <a:rPr dirty="0" sz="1500" spc="-220" b="1">
                <a:solidFill>
                  <a:srgbClr val="3B3D3F"/>
                </a:solidFill>
                <a:latin typeface="Courier New"/>
                <a:cs typeface="Courier New"/>
              </a:rPr>
              <a:t>a.stars_outrch_msr</a:t>
            </a:r>
            <a:r>
              <a:rPr dirty="0" sz="1500" spc="-220" b="1">
                <a:solidFill>
                  <a:srgbClr val="6E7070"/>
                </a:solidFill>
                <a:latin typeface="Courier New"/>
                <a:cs typeface="Courier New"/>
              </a:rPr>
              <a:t>_</a:t>
            </a:r>
            <a:r>
              <a:rPr dirty="0" sz="1500" spc="-220" b="1">
                <a:solidFill>
                  <a:srgbClr val="545456"/>
                </a:solidFill>
                <a:latin typeface="Courier New"/>
                <a:cs typeface="Courier New"/>
              </a:rPr>
              <a:t>nm,</a:t>
            </a:r>
            <a:r>
              <a:rPr dirty="0" sz="1500" spc="-345" b="1">
                <a:solidFill>
                  <a:srgbClr val="545456"/>
                </a:solidFill>
                <a:latin typeface="Courier New"/>
                <a:cs typeface="Courier New"/>
              </a:rPr>
              <a:t> </a:t>
            </a:r>
            <a:r>
              <a:rPr dirty="0" sz="1500" spc="-235" b="1">
                <a:solidFill>
                  <a:srgbClr val="3B3D3F"/>
                </a:solidFill>
                <a:latin typeface="Courier New"/>
                <a:cs typeface="Courier New"/>
              </a:rPr>
              <a:t>b.cms_cntrct_nbr,</a:t>
            </a:r>
            <a:r>
              <a:rPr dirty="0" sz="1500" spc="-204" b="1">
                <a:solidFill>
                  <a:srgbClr val="3B3D3F"/>
                </a:solidFill>
                <a:latin typeface="Courier New"/>
                <a:cs typeface="Courier New"/>
              </a:rPr>
              <a:t> </a:t>
            </a:r>
            <a:r>
              <a:rPr dirty="0" sz="1500" spc="-25" b="1">
                <a:solidFill>
                  <a:srgbClr val="3B3D3F"/>
                </a:solidFill>
                <a:latin typeface="Courier New"/>
                <a:cs typeface="Courier New"/>
              </a:rPr>
              <a:t>a</a:t>
            </a:r>
            <a:r>
              <a:rPr dirty="0" sz="1500" spc="-25" b="1">
                <a:solidFill>
                  <a:srgbClr val="050507"/>
                </a:solidFill>
                <a:latin typeface="Courier New"/>
                <a:cs typeface="Courier New"/>
              </a:rPr>
              <a:t>.</a:t>
            </a:r>
            <a:r>
              <a:rPr dirty="0" sz="1500" spc="-25" b="1">
                <a:solidFill>
                  <a:srgbClr val="545456"/>
                </a:solidFill>
                <a:latin typeface="Courier New"/>
                <a:cs typeface="Courier New"/>
              </a:rPr>
              <a:t>mci</a:t>
            </a:r>
            <a:r>
              <a:rPr dirty="0" sz="1500" spc="-25" b="1">
                <a:solidFill>
                  <a:srgbClr val="242628"/>
                </a:solidFill>
                <a:latin typeface="Courier New"/>
                <a:cs typeface="Courier New"/>
              </a:rPr>
              <a:t>d,</a:t>
            </a:r>
            <a:endParaRPr sz="1500">
              <a:latin typeface="Courier New"/>
              <a:cs typeface="Courier New"/>
            </a:endParaRPr>
          </a:p>
          <a:p>
            <a:pPr marL="489584">
              <a:lnSpc>
                <a:spcPts val="1500"/>
              </a:lnSpc>
              <a:tabLst>
                <a:tab pos="3918585" algn="l"/>
              </a:tabLst>
            </a:pPr>
            <a:r>
              <a:rPr dirty="0" sz="1600" spc="-285">
                <a:solidFill>
                  <a:srgbClr val="545456"/>
                </a:solidFill>
                <a:latin typeface="Courier New"/>
                <a:cs typeface="Courier New"/>
              </a:rPr>
              <a:t>CAST(NAX(CASE</a:t>
            </a:r>
            <a:r>
              <a:rPr dirty="0" sz="1600" spc="-330">
                <a:solidFill>
                  <a:srgbClr val="545456"/>
                </a:solidFill>
                <a:latin typeface="Courier New"/>
                <a:cs typeface="Courier New"/>
              </a:rPr>
              <a:t> </a:t>
            </a:r>
            <a:r>
              <a:rPr dirty="0" sz="1600" spc="-250">
                <a:solidFill>
                  <a:srgbClr val="3B3D3F"/>
                </a:solidFill>
                <a:latin typeface="Courier New"/>
                <a:cs typeface="Courier New"/>
              </a:rPr>
              <a:t>WHEN</a:t>
            </a:r>
            <a:r>
              <a:rPr dirty="0" sz="1600" spc="-430">
                <a:solidFill>
                  <a:srgbClr val="3B3D3F"/>
                </a:solidFill>
                <a:latin typeface="Courier New"/>
                <a:cs typeface="Courier New"/>
              </a:rPr>
              <a:t> </a:t>
            </a:r>
            <a:r>
              <a:rPr dirty="0" sz="1600" spc="-260">
                <a:solidFill>
                  <a:srgbClr val="242628"/>
                </a:solidFill>
                <a:latin typeface="Courier New"/>
                <a:cs typeface="Courier New"/>
              </a:rPr>
              <a:t>rspns_mbr_</a:t>
            </a:r>
            <a:r>
              <a:rPr dirty="0" sz="1600" spc="-260">
                <a:solidFill>
                  <a:srgbClr val="545456"/>
                </a:solidFill>
                <a:latin typeface="Courier New"/>
                <a:cs typeface="Courier New"/>
              </a:rPr>
              <a:t>rslt</a:t>
            </a:r>
            <a:r>
              <a:rPr dirty="0" sz="1600" spc="-260">
                <a:solidFill>
                  <a:srgbClr val="242628"/>
                </a:solidFill>
                <a:latin typeface="Courier New"/>
                <a:cs typeface="Courier New"/>
              </a:rPr>
              <a:t>_</a:t>
            </a:r>
            <a:r>
              <a:rPr dirty="0" sz="1600" spc="-260">
                <a:solidFill>
                  <a:srgbClr val="545456"/>
                </a:solidFill>
                <a:latin typeface="Courier New"/>
                <a:cs typeface="Courier New"/>
              </a:rPr>
              <a:t>tx</a:t>
            </a:r>
            <a:r>
              <a:rPr dirty="0" sz="1600" spc="-994">
                <a:solidFill>
                  <a:srgbClr val="545456"/>
                </a:solidFill>
                <a:latin typeface="Courier New"/>
                <a:cs typeface="Courier New"/>
              </a:rPr>
              <a:t>t</a:t>
            </a:r>
            <a:r>
              <a:rPr dirty="0" sz="1650" spc="-265">
                <a:solidFill>
                  <a:srgbClr val="545456"/>
                </a:solidFill>
                <a:latin typeface="Arial"/>
                <a:cs typeface="Arial"/>
              </a:rPr>
              <a:t>=</a:t>
            </a:r>
            <a:r>
              <a:rPr dirty="0" sz="1650">
                <a:solidFill>
                  <a:srgbClr val="545456"/>
                </a:solidFill>
                <a:latin typeface="Arial"/>
                <a:cs typeface="Arial"/>
              </a:rPr>
              <a:t>	</a:t>
            </a:r>
            <a:r>
              <a:rPr dirty="0" sz="1600" spc="-275">
                <a:solidFill>
                  <a:srgbClr val="545456"/>
                </a:solidFill>
                <a:latin typeface="Courier New"/>
                <a:cs typeface="Courier New"/>
              </a:rPr>
              <a:t>'SUCCESS'</a:t>
            </a:r>
            <a:r>
              <a:rPr dirty="0" sz="1600" spc="-305">
                <a:solidFill>
                  <a:srgbClr val="545456"/>
                </a:solidFill>
                <a:latin typeface="Courier New"/>
                <a:cs typeface="Courier New"/>
              </a:rPr>
              <a:t> </a:t>
            </a:r>
            <a:r>
              <a:rPr dirty="0" sz="1600" spc="-254">
                <a:solidFill>
                  <a:srgbClr val="242628"/>
                </a:solidFill>
                <a:latin typeface="Courier New"/>
                <a:cs typeface="Courier New"/>
              </a:rPr>
              <a:t>THEN</a:t>
            </a:r>
            <a:r>
              <a:rPr dirty="0" sz="1600" spc="-420">
                <a:solidFill>
                  <a:srgbClr val="242628"/>
                </a:solidFill>
                <a:latin typeface="Courier New"/>
                <a:cs typeface="Courier New"/>
              </a:rPr>
              <a:t> </a:t>
            </a:r>
            <a:r>
              <a:rPr dirty="0" sz="1600">
                <a:solidFill>
                  <a:srgbClr val="3B3D3F"/>
                </a:solidFill>
                <a:latin typeface="Courier New"/>
                <a:cs typeface="Courier New"/>
              </a:rPr>
              <a:t>l</a:t>
            </a:r>
            <a:r>
              <a:rPr dirty="0" sz="1600" spc="-459">
                <a:solidFill>
                  <a:srgbClr val="3B3D3F"/>
                </a:solidFill>
                <a:latin typeface="Courier New"/>
                <a:cs typeface="Courier New"/>
              </a:rPr>
              <a:t> </a:t>
            </a:r>
            <a:r>
              <a:rPr dirty="0" sz="1600" spc="-275">
                <a:solidFill>
                  <a:srgbClr val="545456"/>
                </a:solidFill>
                <a:latin typeface="Courier New"/>
                <a:cs typeface="Courier New"/>
              </a:rPr>
              <a:t>ELSE</a:t>
            </a:r>
            <a:r>
              <a:rPr dirty="0" sz="1600" spc="-425">
                <a:solidFill>
                  <a:srgbClr val="545456"/>
                </a:solidFill>
                <a:latin typeface="Courier New"/>
                <a:cs typeface="Courier New"/>
              </a:rPr>
              <a:t> </a:t>
            </a:r>
            <a:r>
              <a:rPr dirty="0" sz="1600" spc="-150">
                <a:solidFill>
                  <a:srgbClr val="3B3D3F"/>
                </a:solidFill>
                <a:latin typeface="Courier New"/>
                <a:cs typeface="Courier New"/>
              </a:rPr>
              <a:t>O</a:t>
            </a:r>
            <a:r>
              <a:rPr dirty="0" sz="1600" spc="-350">
                <a:solidFill>
                  <a:srgbClr val="3B3D3F"/>
                </a:solidFill>
                <a:latin typeface="Courier New"/>
                <a:cs typeface="Courier New"/>
              </a:rPr>
              <a:t> </a:t>
            </a:r>
            <a:r>
              <a:rPr dirty="0" sz="1600" spc="-240">
                <a:solidFill>
                  <a:srgbClr val="545456"/>
                </a:solidFill>
                <a:latin typeface="Courier New"/>
                <a:cs typeface="Courier New"/>
              </a:rPr>
              <a:t>ENO)</a:t>
            </a:r>
            <a:r>
              <a:rPr dirty="0" sz="1600" spc="-525">
                <a:solidFill>
                  <a:srgbClr val="545456"/>
                </a:solidFill>
                <a:latin typeface="Courier New"/>
                <a:cs typeface="Courier New"/>
              </a:rPr>
              <a:t> </a:t>
            </a:r>
            <a:r>
              <a:rPr dirty="0" sz="1600" spc="-165">
                <a:solidFill>
                  <a:srgbClr val="3B3D3F"/>
                </a:solidFill>
                <a:latin typeface="Courier New"/>
                <a:cs typeface="Courier New"/>
              </a:rPr>
              <a:t>AS</a:t>
            </a:r>
            <a:r>
              <a:rPr dirty="0" sz="1600" spc="-625">
                <a:solidFill>
                  <a:srgbClr val="3B3D3F"/>
                </a:solidFill>
                <a:latin typeface="Courier New"/>
                <a:cs typeface="Courier New"/>
              </a:rPr>
              <a:t> </a:t>
            </a:r>
            <a:r>
              <a:rPr dirty="0" sz="1600" spc="-275">
                <a:solidFill>
                  <a:srgbClr val="545456"/>
                </a:solidFill>
                <a:latin typeface="Courier New"/>
                <a:cs typeface="Courier New"/>
              </a:rPr>
              <a:t>INTEGER)</a:t>
            </a:r>
            <a:endParaRPr sz="1600">
              <a:latin typeface="Courier New"/>
              <a:cs typeface="Courier New"/>
            </a:endParaRPr>
          </a:p>
          <a:p>
            <a:pPr marL="499109">
              <a:lnSpc>
                <a:spcPts val="1455"/>
              </a:lnSpc>
            </a:pPr>
            <a:r>
              <a:rPr dirty="0" sz="1600" spc="-220">
                <a:solidFill>
                  <a:srgbClr val="3B3D3F"/>
                </a:solidFill>
                <a:latin typeface="Courier New"/>
                <a:cs typeface="Courier New"/>
              </a:rPr>
              <a:t>AS</a:t>
            </a:r>
            <a:r>
              <a:rPr dirty="0" sz="1600" spc="-465">
                <a:solidFill>
                  <a:srgbClr val="3B3D3F"/>
                </a:solidFill>
                <a:latin typeface="Courier New"/>
                <a:cs typeface="Courier New"/>
              </a:rPr>
              <a:t> </a:t>
            </a:r>
            <a:r>
              <a:rPr dirty="0" sz="1600" spc="-295">
                <a:solidFill>
                  <a:srgbClr val="3B3D3F"/>
                </a:solidFill>
                <a:latin typeface="Courier New"/>
                <a:cs typeface="Courier New"/>
              </a:rPr>
              <a:t>reach_ind,</a:t>
            </a:r>
            <a:endParaRPr sz="1600">
              <a:latin typeface="Courier New"/>
              <a:cs typeface="Courier New"/>
            </a:endParaRPr>
          </a:p>
          <a:p>
            <a:pPr marL="489584">
              <a:lnSpc>
                <a:spcPts val="1714"/>
              </a:lnSpc>
            </a:pPr>
            <a:r>
              <a:rPr dirty="0" sz="1600" spc="-270">
                <a:solidFill>
                  <a:srgbClr val="545456"/>
                </a:solidFill>
                <a:latin typeface="Courier New"/>
                <a:cs typeface="Courier New"/>
              </a:rPr>
              <a:t>CAST(</a:t>
            </a:r>
            <a:r>
              <a:rPr dirty="0" sz="1600" spc="-270">
                <a:solidFill>
                  <a:srgbClr val="242628"/>
                </a:solidFill>
                <a:latin typeface="Courier New"/>
                <a:cs typeface="Courier New"/>
              </a:rPr>
              <a:t>NAX</a:t>
            </a:r>
            <a:r>
              <a:rPr dirty="0" sz="1600" spc="-270">
                <a:solidFill>
                  <a:srgbClr val="545456"/>
                </a:solidFill>
                <a:latin typeface="Courier New"/>
                <a:cs typeface="Courier New"/>
              </a:rPr>
              <a:t>(b</a:t>
            </a:r>
            <a:r>
              <a:rPr dirty="0" sz="1600" spc="-270">
                <a:solidFill>
                  <a:srgbClr val="242628"/>
                </a:solidFill>
                <a:latin typeface="Courier New"/>
                <a:cs typeface="Courier New"/>
              </a:rPr>
              <a:t>.f</a:t>
            </a:r>
            <a:r>
              <a:rPr dirty="0" sz="1600" spc="-270">
                <a:solidFill>
                  <a:srgbClr val="545456"/>
                </a:solidFill>
                <a:latin typeface="Courier New"/>
                <a:cs typeface="Courier New"/>
              </a:rPr>
              <a:t>n</a:t>
            </a:r>
            <a:r>
              <a:rPr dirty="0" sz="1600" spc="-270">
                <a:solidFill>
                  <a:srgbClr val="242628"/>
                </a:solidFill>
                <a:latin typeface="Courier New"/>
                <a:cs typeface="Courier New"/>
              </a:rPr>
              <a:t>l</a:t>
            </a:r>
            <a:r>
              <a:rPr dirty="0" sz="1600" spc="-270">
                <a:solidFill>
                  <a:srgbClr val="545456"/>
                </a:solidFill>
                <a:latin typeface="Courier New"/>
                <a:cs typeface="Courier New"/>
              </a:rPr>
              <a:t>_nmrtr_c</a:t>
            </a:r>
            <a:r>
              <a:rPr dirty="0" sz="1600" spc="-270">
                <a:solidFill>
                  <a:srgbClr val="242628"/>
                </a:solidFill>
                <a:latin typeface="Courier New"/>
                <a:cs typeface="Courier New"/>
              </a:rPr>
              <a:t>nt)</a:t>
            </a:r>
            <a:r>
              <a:rPr dirty="0" sz="1600" spc="-600">
                <a:solidFill>
                  <a:srgbClr val="242628"/>
                </a:solidFill>
                <a:latin typeface="Courier New"/>
                <a:cs typeface="Courier New"/>
              </a:rPr>
              <a:t> </a:t>
            </a:r>
            <a:r>
              <a:rPr dirty="0" sz="1600" spc="-220">
                <a:solidFill>
                  <a:srgbClr val="3B3D3F"/>
                </a:solidFill>
                <a:latin typeface="Courier New"/>
                <a:cs typeface="Courier New"/>
              </a:rPr>
              <a:t>AS</a:t>
            </a:r>
            <a:r>
              <a:rPr dirty="0" sz="1600" spc="-484">
                <a:solidFill>
                  <a:srgbClr val="3B3D3F"/>
                </a:solidFill>
                <a:latin typeface="Courier New"/>
                <a:cs typeface="Courier New"/>
              </a:rPr>
              <a:t> </a:t>
            </a:r>
            <a:r>
              <a:rPr dirty="0" sz="1600" spc="-245">
                <a:solidFill>
                  <a:srgbClr val="242628"/>
                </a:solidFill>
                <a:latin typeface="Courier New"/>
                <a:cs typeface="Courier New"/>
              </a:rPr>
              <a:t>IN</a:t>
            </a:r>
            <a:r>
              <a:rPr dirty="0" sz="1600" spc="-245">
                <a:solidFill>
                  <a:srgbClr val="545456"/>
                </a:solidFill>
                <a:latin typeface="Courier New"/>
                <a:cs typeface="Courier New"/>
              </a:rPr>
              <a:t>TE</a:t>
            </a:r>
            <a:r>
              <a:rPr dirty="0" sz="1600" spc="-245">
                <a:solidFill>
                  <a:srgbClr val="242628"/>
                </a:solidFill>
                <a:latin typeface="Courier New"/>
                <a:cs typeface="Courier New"/>
              </a:rPr>
              <a:t>GER)</a:t>
            </a:r>
            <a:r>
              <a:rPr dirty="0" sz="1600" spc="-595">
                <a:solidFill>
                  <a:srgbClr val="242628"/>
                </a:solidFill>
                <a:latin typeface="Courier New"/>
                <a:cs typeface="Courier New"/>
              </a:rPr>
              <a:t> </a:t>
            </a:r>
            <a:r>
              <a:rPr dirty="0" sz="1600" spc="-220">
                <a:solidFill>
                  <a:srgbClr val="3B3D3F"/>
                </a:solidFill>
                <a:latin typeface="Courier New"/>
                <a:cs typeface="Courier New"/>
              </a:rPr>
              <a:t>AS</a:t>
            </a:r>
            <a:r>
              <a:rPr dirty="0" sz="1600" spc="-520">
                <a:solidFill>
                  <a:srgbClr val="3B3D3F"/>
                </a:solidFill>
                <a:latin typeface="Courier New"/>
                <a:cs typeface="Courier New"/>
              </a:rPr>
              <a:t> </a:t>
            </a:r>
            <a:r>
              <a:rPr dirty="0" sz="1600" spc="-285">
                <a:solidFill>
                  <a:srgbClr val="3B3D3F"/>
                </a:solidFill>
                <a:latin typeface="Courier New"/>
                <a:cs typeface="Courier New"/>
              </a:rPr>
              <a:t>outcome_ind...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2729641" y="5502538"/>
            <a:ext cx="11493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heavy" sz="1400" spc="-50">
                <a:solidFill>
                  <a:srgbClr val="3B3D3F"/>
                </a:solidFill>
                <a:uFill>
                  <a:solidFill>
                    <a:srgbClr val="3B3D3F"/>
                  </a:solidFill>
                </a:uFill>
                <a:latin typeface="Times New Roman"/>
                <a:cs typeface="Times New Roman"/>
              </a:rPr>
              <a:t>(</a:t>
            </a:r>
            <a:r>
              <a:rPr dirty="0" u="heavy" sz="1400" spc="500">
                <a:solidFill>
                  <a:srgbClr val="3B3D3F"/>
                </a:solidFill>
                <a:uFill>
                  <a:solidFill>
                    <a:srgbClr val="3B3D3F"/>
                  </a:solidFill>
                </a:uFill>
                <a:latin typeface="Times New Roman"/>
                <a:cs typeface="Times New Roman"/>
              </a:rPr>
              <a:t> 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604087" y="5119555"/>
            <a:ext cx="2896235" cy="10217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5715">
              <a:lnSpc>
                <a:spcPct val="108900"/>
              </a:lnSpc>
              <a:spcBef>
                <a:spcPts val="95"/>
              </a:spcBef>
            </a:pPr>
            <a:r>
              <a:rPr dirty="0" sz="2000" spc="50">
                <a:solidFill>
                  <a:srgbClr val="242628"/>
                </a:solidFill>
                <a:latin typeface="Arial"/>
                <a:cs typeface="Arial"/>
              </a:rPr>
              <a:t>Text-</a:t>
            </a:r>
            <a:r>
              <a:rPr dirty="0" sz="2000">
                <a:solidFill>
                  <a:srgbClr val="242628"/>
                </a:solidFill>
                <a:latin typeface="Arial"/>
                <a:cs typeface="Arial"/>
              </a:rPr>
              <a:t>to-</a:t>
            </a:r>
            <a:r>
              <a:rPr dirty="0" sz="2000" spc="65">
                <a:solidFill>
                  <a:srgbClr val="242628"/>
                </a:solidFill>
                <a:latin typeface="Arial"/>
                <a:cs typeface="Arial"/>
              </a:rPr>
              <a:t>Query</a:t>
            </a:r>
            <a:r>
              <a:rPr dirty="0" sz="2000" spc="470">
                <a:solidFill>
                  <a:srgbClr val="242628"/>
                </a:solidFill>
                <a:latin typeface="Arial"/>
                <a:cs typeface="Arial"/>
              </a:rPr>
              <a:t> </a:t>
            </a:r>
            <a:r>
              <a:rPr dirty="0" sz="2000" spc="45">
                <a:solidFill>
                  <a:srgbClr val="242628"/>
                </a:solidFill>
                <a:latin typeface="Arial"/>
                <a:cs typeface="Arial"/>
              </a:rPr>
              <a:t>Agent </a:t>
            </a:r>
            <a:r>
              <a:rPr dirty="0" sz="2000" spc="65">
                <a:solidFill>
                  <a:srgbClr val="242628"/>
                </a:solidFill>
                <a:latin typeface="Arial"/>
                <a:cs typeface="Arial"/>
              </a:rPr>
              <a:t>generates</a:t>
            </a:r>
            <a:r>
              <a:rPr dirty="0" sz="2000" spc="-65">
                <a:solidFill>
                  <a:srgbClr val="242628"/>
                </a:solidFill>
                <a:latin typeface="Arial"/>
                <a:cs typeface="Arial"/>
              </a:rPr>
              <a:t> </a:t>
            </a:r>
            <a:r>
              <a:rPr dirty="0" sz="2000" spc="105">
                <a:solidFill>
                  <a:srgbClr val="242628"/>
                </a:solidFill>
                <a:latin typeface="Arial"/>
                <a:cs typeface="Arial"/>
              </a:rPr>
              <a:t>and</a:t>
            </a:r>
            <a:r>
              <a:rPr dirty="0" sz="2000" spc="-55">
                <a:solidFill>
                  <a:srgbClr val="242628"/>
                </a:solidFill>
                <a:latin typeface="Arial"/>
                <a:cs typeface="Arial"/>
              </a:rPr>
              <a:t> </a:t>
            </a:r>
            <a:r>
              <a:rPr dirty="0" sz="2000" spc="40">
                <a:solidFill>
                  <a:srgbClr val="242628"/>
                </a:solidFill>
                <a:latin typeface="Arial"/>
                <a:cs typeface="Arial"/>
              </a:rPr>
              <a:t>validates </a:t>
            </a:r>
            <a:r>
              <a:rPr dirty="0" sz="2000">
                <a:solidFill>
                  <a:srgbClr val="242628"/>
                </a:solidFill>
                <a:latin typeface="Arial"/>
                <a:cs typeface="Arial"/>
              </a:rPr>
              <a:t>Snowflake</a:t>
            </a:r>
            <a:r>
              <a:rPr dirty="0" sz="2000" spc="475">
                <a:solidFill>
                  <a:srgbClr val="242628"/>
                </a:solidFill>
                <a:latin typeface="Arial"/>
                <a:cs typeface="Arial"/>
              </a:rPr>
              <a:t> </a:t>
            </a:r>
            <a:r>
              <a:rPr dirty="0" sz="2000" spc="-20">
                <a:solidFill>
                  <a:srgbClr val="242628"/>
                </a:solidFill>
                <a:latin typeface="Arial"/>
                <a:cs typeface="Arial"/>
              </a:rPr>
              <a:t>SQL.</a:t>
            </a:r>
            <a:endParaRPr sz="20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801575" y="6753622"/>
            <a:ext cx="118046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60" b="1">
                <a:solidFill>
                  <a:srgbClr val="242628"/>
                </a:solidFill>
                <a:latin typeface="Arial"/>
                <a:cs typeface="Arial"/>
              </a:rPr>
              <a:t>Data</a:t>
            </a:r>
            <a:r>
              <a:rPr dirty="0" sz="1400" spc="-80" b="1">
                <a:solidFill>
                  <a:srgbClr val="242628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242628"/>
                </a:solidFill>
                <a:latin typeface="Arial"/>
                <a:cs typeface="Arial"/>
              </a:rPr>
              <a:t>Previe</a:t>
            </a:r>
            <a:r>
              <a:rPr dirty="0" sz="1400" spc="-10" b="1">
                <a:solidFill>
                  <a:srgbClr val="050507"/>
                </a:solidFill>
                <a:latin typeface="Arial"/>
                <a:cs typeface="Arial"/>
              </a:rPr>
              <a:t>w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32" name="object 32"/>
          <p:cNvGraphicFramePr>
            <a:graphicFrameLocks noGrp="1"/>
          </p:cNvGraphicFramePr>
          <p:nvPr/>
        </p:nvGraphicFramePr>
        <p:xfrm>
          <a:off x="4889948" y="7247346"/>
          <a:ext cx="7767955" cy="17005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8070"/>
                <a:gridCol w="1476375"/>
                <a:gridCol w="1345565"/>
                <a:gridCol w="2014219"/>
                <a:gridCol w="1787525"/>
              </a:tblGrid>
              <a:tr h="325755">
                <a:tc>
                  <a:txBody>
                    <a:bodyPr/>
                    <a:lstStyle/>
                    <a:p>
                      <a:pPr marL="34290">
                        <a:lnSpc>
                          <a:spcPts val="1660"/>
                        </a:lnSpc>
                      </a:pPr>
                      <a:r>
                        <a:rPr dirty="0" sz="1600" spc="-345">
                          <a:solidFill>
                            <a:srgbClr val="3B3D3F"/>
                          </a:solidFill>
                          <a:latin typeface="Courier New"/>
                          <a:cs typeface="Courier New"/>
                        </a:rPr>
                        <a:t>reach_ind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06705">
                        <a:lnSpc>
                          <a:spcPts val="1660"/>
                        </a:lnSpc>
                      </a:pPr>
                      <a:r>
                        <a:rPr dirty="0" sz="1600" spc="-275">
                          <a:solidFill>
                            <a:srgbClr val="3B3D3F"/>
                          </a:solidFill>
                          <a:latin typeface="Courier New"/>
                          <a:cs typeface="Courier New"/>
                        </a:rPr>
                        <a:t>outcome_ind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9113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300" spc="-10" b="1">
                          <a:solidFill>
                            <a:srgbClr val="242628"/>
                          </a:solidFill>
                          <a:latin typeface="Arial"/>
                          <a:cs typeface="Arial"/>
                        </a:rPr>
                        <a:t>stars_msr_id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300" spc="-10" b="1">
                          <a:solidFill>
                            <a:srgbClr val="3B3D3F"/>
                          </a:solidFill>
                          <a:latin typeface="Arial"/>
                          <a:cs typeface="Arial"/>
                        </a:rPr>
                        <a:t>stars</a:t>
                      </a:r>
                      <a:r>
                        <a:rPr dirty="0" sz="1300" spc="-10" b="1">
                          <a:solidFill>
                            <a:srgbClr val="050507"/>
                          </a:solidFill>
                          <a:latin typeface="Arial"/>
                          <a:cs typeface="Arial"/>
                        </a:rPr>
                        <a:t>_</a:t>
                      </a:r>
                      <a:r>
                        <a:rPr dirty="0" sz="1300" spc="-10" b="1">
                          <a:solidFill>
                            <a:srgbClr val="242628"/>
                          </a:solidFill>
                          <a:latin typeface="Arial"/>
                          <a:cs typeface="Arial"/>
                        </a:rPr>
                        <a:t>outrch</a:t>
                      </a:r>
                      <a:r>
                        <a:rPr dirty="0" sz="1300" spc="-10" b="1">
                          <a:solidFill>
                            <a:srgbClr val="050507"/>
                          </a:solidFill>
                          <a:latin typeface="Arial"/>
                          <a:cs typeface="Arial"/>
                        </a:rPr>
                        <a:t>_</a:t>
                      </a:r>
                      <a:r>
                        <a:rPr dirty="0" sz="1300" spc="-10" b="1">
                          <a:solidFill>
                            <a:srgbClr val="242628"/>
                          </a:solidFill>
                          <a:latin typeface="Arial"/>
                          <a:cs typeface="Arial"/>
                        </a:rPr>
                        <a:t>msr</a:t>
                      </a:r>
                      <a:r>
                        <a:rPr dirty="0" sz="1300" spc="-10" b="1">
                          <a:solidFill>
                            <a:srgbClr val="050507"/>
                          </a:solidFill>
                          <a:latin typeface="Arial"/>
                          <a:cs typeface="Arial"/>
                        </a:rPr>
                        <a:t>_</a:t>
                      </a:r>
                      <a:r>
                        <a:rPr dirty="0" sz="1300" spc="-10" b="1">
                          <a:solidFill>
                            <a:srgbClr val="242628"/>
                          </a:solidFill>
                          <a:latin typeface="Arial"/>
                          <a:cs typeface="Arial"/>
                        </a:rPr>
                        <a:t>nm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300" spc="-10" b="1">
                          <a:solidFill>
                            <a:srgbClr val="3B3D3F"/>
                          </a:solidFill>
                          <a:latin typeface="Arial"/>
                          <a:cs typeface="Arial"/>
                        </a:rPr>
                        <a:t>load</a:t>
                      </a:r>
                      <a:r>
                        <a:rPr dirty="0" sz="1300" spc="-10" b="1">
                          <a:solidFill>
                            <a:srgbClr val="050507"/>
                          </a:solidFill>
                          <a:latin typeface="Arial"/>
                          <a:cs typeface="Arial"/>
                        </a:rPr>
                        <a:t>_</a:t>
                      </a:r>
                      <a:r>
                        <a:rPr dirty="0" sz="1300" spc="-10" b="1">
                          <a:solidFill>
                            <a:srgbClr val="242628"/>
                          </a:solidFill>
                          <a:latin typeface="Arial"/>
                          <a:cs typeface="Arial"/>
                        </a:rPr>
                        <a:t>dtm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4445"/>
                </a:tc>
              </a:tr>
              <a:tr h="40830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400" spc="-315">
                          <a:solidFill>
                            <a:srgbClr val="545456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99695"/>
                </a:tc>
                <a:tc>
                  <a:txBody>
                    <a:bodyPr/>
                    <a:lstStyle/>
                    <a:p>
                      <a:pPr marL="31369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400" spc="-50">
                          <a:solidFill>
                            <a:srgbClr val="3B3D3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99695"/>
                </a:tc>
                <a:tc>
                  <a:txBody>
                    <a:bodyPr/>
                    <a:lstStyle/>
                    <a:p>
                      <a:pPr marL="18732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dirty="0" sz="1350" spc="-25">
                          <a:solidFill>
                            <a:srgbClr val="3B3D3F"/>
                          </a:solidFill>
                          <a:latin typeface="Arial"/>
                          <a:cs typeface="Arial"/>
                        </a:rPr>
                        <a:t>34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93345"/>
                </a:tc>
                <a:tc>
                  <a:txBody>
                    <a:bodyPr/>
                    <a:lstStyle/>
                    <a:p>
                      <a:pPr marL="18669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300" spc="-20">
                          <a:solidFill>
                            <a:srgbClr val="3B3D3F"/>
                          </a:solidFill>
                          <a:latin typeface="Arial"/>
                          <a:cs typeface="Arial"/>
                        </a:rPr>
                        <a:t>MSR..HYPERTENSION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99695"/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600" spc="-254">
                          <a:solidFill>
                            <a:srgbClr val="545456"/>
                          </a:solidFill>
                          <a:latin typeface="Courier New"/>
                          <a:cs typeface="Courier New"/>
                        </a:rPr>
                        <a:t>2025-02-</a:t>
                      </a:r>
                      <a:r>
                        <a:rPr dirty="0" sz="1600" spc="-315">
                          <a:solidFill>
                            <a:srgbClr val="242628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1600" spc="-315">
                          <a:solidFill>
                            <a:srgbClr val="545456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r>
                        <a:rPr dirty="0" sz="1600" spc="-315">
                          <a:solidFill>
                            <a:srgbClr val="3B3D3F"/>
                          </a:solidFill>
                          <a:latin typeface="Courier New"/>
                          <a:cs typeface="Courier New"/>
                        </a:rPr>
                        <a:t>14</a:t>
                      </a:r>
                      <a:r>
                        <a:rPr dirty="0" sz="1600" spc="-315">
                          <a:solidFill>
                            <a:srgbClr val="807E7E"/>
                          </a:solidFill>
                          <a:latin typeface="Courier New"/>
                          <a:cs typeface="Courier New"/>
                        </a:rPr>
                        <a:t>:</a:t>
                      </a:r>
                      <a:r>
                        <a:rPr dirty="0" sz="1600" spc="-315">
                          <a:solidFill>
                            <a:srgbClr val="545456"/>
                          </a:solidFill>
                          <a:latin typeface="Courier New"/>
                          <a:cs typeface="Courier New"/>
                        </a:rPr>
                        <a:t>45</a:t>
                      </a:r>
                      <a:r>
                        <a:rPr dirty="0" sz="1600" spc="-315">
                          <a:solidFill>
                            <a:srgbClr val="242628"/>
                          </a:solidFill>
                          <a:latin typeface="Courier New"/>
                          <a:cs typeface="Courier New"/>
                        </a:rPr>
                        <a:t>:1</a:t>
                      </a:r>
                      <a:r>
                        <a:rPr dirty="0" sz="1600" spc="-315">
                          <a:solidFill>
                            <a:srgbClr val="545456"/>
                          </a:solidFill>
                          <a:latin typeface="Courier New"/>
                          <a:cs typeface="Courier New"/>
                        </a:rPr>
                        <a:t>5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61594"/>
                </a:tc>
              </a:tr>
              <a:tr h="38925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1350" spc="-305">
                          <a:solidFill>
                            <a:srgbClr val="3B3D3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80645"/>
                </a:tc>
                <a:tc>
                  <a:txBody>
                    <a:bodyPr/>
                    <a:lstStyle/>
                    <a:p>
                      <a:pPr marL="31369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1350" spc="-50">
                          <a:solidFill>
                            <a:srgbClr val="3B3D3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80645"/>
                </a:tc>
                <a:tc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300" spc="-25">
                          <a:solidFill>
                            <a:srgbClr val="3B3D3F"/>
                          </a:solidFill>
                          <a:latin typeface="Arial"/>
                          <a:cs typeface="Arial"/>
                        </a:rPr>
                        <a:t>35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86995"/>
                </a:tc>
                <a:tc>
                  <a:txBody>
                    <a:bodyPr/>
                    <a:lstStyle/>
                    <a:p>
                      <a:pPr marL="18669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300" spc="-30">
                          <a:solidFill>
                            <a:srgbClr val="3B3D3F"/>
                          </a:solidFill>
                          <a:latin typeface="Arial"/>
                          <a:cs typeface="Arial"/>
                        </a:rPr>
                        <a:t>MSR</a:t>
                      </a:r>
                      <a:r>
                        <a:rPr dirty="0" sz="1300" spc="-30">
                          <a:solidFill>
                            <a:srgbClr val="6E7070"/>
                          </a:solidFill>
                          <a:latin typeface="Arial"/>
                          <a:cs typeface="Arial"/>
                        </a:rPr>
                        <a:t>_</a:t>
                      </a:r>
                      <a:r>
                        <a:rPr dirty="0" sz="1300" spc="-30">
                          <a:solidFill>
                            <a:srgbClr val="3B3D3F"/>
                          </a:solidFill>
                          <a:latin typeface="Arial"/>
                          <a:cs typeface="Arial"/>
                        </a:rPr>
                        <a:t>CHOLESTEROL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74295"/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600" spc="-254">
                          <a:solidFill>
                            <a:srgbClr val="3B3D3F"/>
                          </a:solidFill>
                          <a:latin typeface="Courier New"/>
                          <a:cs typeface="Courier New"/>
                        </a:rPr>
                        <a:t>2025</a:t>
                      </a:r>
                      <a:r>
                        <a:rPr dirty="0" sz="1600" spc="-254">
                          <a:solidFill>
                            <a:srgbClr val="807E7E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dirty="0" sz="1600" spc="-254">
                          <a:solidFill>
                            <a:srgbClr val="3B3D3F"/>
                          </a:solidFill>
                          <a:latin typeface="Courier New"/>
                          <a:cs typeface="Courier New"/>
                        </a:rPr>
                        <a:t>02-</a:t>
                      </a:r>
                      <a:r>
                        <a:rPr dirty="0" sz="1600" spc="-315">
                          <a:solidFill>
                            <a:srgbClr val="3B3D3F"/>
                          </a:solidFill>
                          <a:latin typeface="Courier New"/>
                          <a:cs typeface="Courier New"/>
                        </a:rPr>
                        <a:t>10</a:t>
                      </a:r>
                      <a:r>
                        <a:rPr dirty="0" sz="1600" spc="-315">
                          <a:solidFill>
                            <a:srgbClr val="242628"/>
                          </a:solidFill>
                          <a:latin typeface="Courier New"/>
                          <a:cs typeface="Courier New"/>
                        </a:rPr>
                        <a:t>14</a:t>
                      </a:r>
                      <a:r>
                        <a:rPr dirty="0" sz="1600" spc="-315">
                          <a:solidFill>
                            <a:srgbClr val="6E7070"/>
                          </a:solidFill>
                          <a:latin typeface="Courier New"/>
                          <a:cs typeface="Courier New"/>
                        </a:rPr>
                        <a:t>:</a:t>
                      </a:r>
                      <a:r>
                        <a:rPr dirty="0" sz="1600" spc="-315">
                          <a:solidFill>
                            <a:srgbClr val="545456"/>
                          </a:solidFill>
                          <a:latin typeface="Courier New"/>
                          <a:cs typeface="Courier New"/>
                        </a:rPr>
                        <a:t>45:</a:t>
                      </a:r>
                      <a:r>
                        <a:rPr dirty="0" sz="1600" spc="-315">
                          <a:solidFill>
                            <a:srgbClr val="242628"/>
                          </a:solidFill>
                          <a:latin typeface="Courier New"/>
                          <a:cs typeface="Courier New"/>
                        </a:rPr>
                        <a:t>15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48895"/>
                </a:tc>
              </a:tr>
              <a:tr h="577215"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450" spc="-50">
                          <a:solidFill>
                            <a:srgbClr val="545456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450">
                        <a:latin typeface="Arial"/>
                        <a:cs typeface="Arial"/>
                      </a:endParaRPr>
                    </a:p>
                  </a:txBody>
                  <a:tcPr marL="0" marR="0" marB="0" marT="74295"/>
                </a:tc>
                <a:tc>
                  <a:txBody>
                    <a:bodyPr/>
                    <a:lstStyle/>
                    <a:p>
                      <a:pPr marL="31369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350" spc="-50">
                          <a:solidFill>
                            <a:srgbClr val="3B3D3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86995"/>
                </a:tc>
                <a:tc>
                  <a:txBody>
                    <a:bodyPr/>
                    <a:lstStyle/>
                    <a:p>
                      <a:pPr marL="18732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dirty="0" sz="1350" spc="-25">
                          <a:solidFill>
                            <a:srgbClr val="545456"/>
                          </a:solidFill>
                          <a:latin typeface="Arial"/>
                          <a:cs typeface="Arial"/>
                        </a:rPr>
                        <a:t>33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B="0" marT="86995"/>
                </a:tc>
                <a:tc>
                  <a:txBody>
                    <a:bodyPr/>
                    <a:lstStyle/>
                    <a:p>
                      <a:pPr marL="18669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dirty="0" sz="1300" spc="-10">
                          <a:solidFill>
                            <a:srgbClr val="3B3D3F"/>
                          </a:solidFill>
                          <a:latin typeface="Arial"/>
                          <a:cs typeface="Arial"/>
                        </a:rPr>
                        <a:t>MSR..DIABETES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80645"/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600" spc="-275">
                          <a:solidFill>
                            <a:srgbClr val="3B3D3F"/>
                          </a:solidFill>
                          <a:latin typeface="Courier New"/>
                          <a:cs typeface="Courier New"/>
                        </a:rPr>
                        <a:t>2025-02-10</a:t>
                      </a:r>
                      <a:r>
                        <a:rPr dirty="0" sz="1600" spc="-715">
                          <a:solidFill>
                            <a:srgbClr val="3B3D3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600" spc="-325">
                          <a:solidFill>
                            <a:srgbClr val="3B3D3F"/>
                          </a:solidFill>
                          <a:latin typeface="Courier New"/>
                          <a:cs typeface="Courier New"/>
                        </a:rPr>
                        <a:t>14</a:t>
                      </a:r>
                      <a:r>
                        <a:rPr dirty="0" sz="1600" spc="-325">
                          <a:solidFill>
                            <a:srgbClr val="6E7070"/>
                          </a:solidFill>
                          <a:latin typeface="Courier New"/>
                          <a:cs typeface="Courier New"/>
                        </a:rPr>
                        <a:t>:</a:t>
                      </a:r>
                      <a:r>
                        <a:rPr dirty="0" sz="1600" spc="-325">
                          <a:solidFill>
                            <a:srgbClr val="3B3D3F"/>
                          </a:solidFill>
                          <a:latin typeface="Courier New"/>
                          <a:cs typeface="Courier New"/>
                        </a:rPr>
                        <a:t>45:15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B="0" marT="4254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69067" y="5923754"/>
            <a:ext cx="0" cy="3778885"/>
          </a:xfrm>
          <a:custGeom>
            <a:avLst/>
            <a:gdLst/>
            <a:ahLst/>
            <a:cxnLst/>
            <a:rect l="l" t="t" r="r" b="b"/>
            <a:pathLst>
              <a:path w="0" h="3778884">
                <a:moveTo>
                  <a:pt x="0" y="3778777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369067" y="3472655"/>
            <a:ext cx="0" cy="1787525"/>
          </a:xfrm>
          <a:custGeom>
            <a:avLst/>
            <a:gdLst/>
            <a:ahLst/>
            <a:cxnLst/>
            <a:rect l="l" t="t" r="r" b="b"/>
            <a:pathLst>
              <a:path w="0" h="1787525">
                <a:moveTo>
                  <a:pt x="0" y="1787259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131460" y="7123772"/>
            <a:ext cx="0" cy="2579370"/>
          </a:xfrm>
          <a:custGeom>
            <a:avLst/>
            <a:gdLst/>
            <a:ahLst/>
            <a:cxnLst/>
            <a:rect l="l" t="t" r="r" b="b"/>
            <a:pathLst>
              <a:path w="0" h="2579370">
                <a:moveTo>
                  <a:pt x="0" y="2578760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131460" y="3549252"/>
            <a:ext cx="0" cy="1532255"/>
          </a:xfrm>
          <a:custGeom>
            <a:avLst/>
            <a:gdLst/>
            <a:ahLst/>
            <a:cxnLst/>
            <a:rect l="l" t="t" r="r" b="b"/>
            <a:pathLst>
              <a:path w="0" h="1532254">
                <a:moveTo>
                  <a:pt x="0" y="1531937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10749960" y="5642899"/>
            <a:ext cx="5413375" cy="1500505"/>
            <a:chOff x="10749960" y="5642899"/>
            <a:chExt cx="5413375" cy="1500505"/>
          </a:xfrm>
        </p:grpSpPr>
        <p:sp>
          <p:nvSpPr>
            <p:cNvPr id="7" name="object 7"/>
            <p:cNvSpPr/>
            <p:nvPr/>
          </p:nvSpPr>
          <p:spPr>
            <a:xfrm>
              <a:off x="16150413" y="5642899"/>
              <a:ext cx="0" cy="1455420"/>
            </a:xfrm>
            <a:custGeom>
              <a:avLst/>
              <a:gdLst/>
              <a:ahLst/>
              <a:cxnLst/>
              <a:rect l="l" t="t" r="r" b="b"/>
              <a:pathLst>
                <a:path w="0" h="1455420">
                  <a:moveTo>
                    <a:pt x="0" y="1455340"/>
                  </a:moveTo>
                  <a:lnTo>
                    <a:pt x="0" y="0"/>
                  </a:lnTo>
                </a:path>
              </a:pathLst>
            </a:custGeom>
            <a:ln w="254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749960" y="7136537"/>
              <a:ext cx="5375275" cy="0"/>
            </a:xfrm>
            <a:custGeom>
              <a:avLst/>
              <a:gdLst/>
              <a:ahLst/>
              <a:cxnLst/>
              <a:rect l="l" t="t" r="r" b="b"/>
              <a:pathLst>
                <a:path w="5375275" h="0">
                  <a:moveTo>
                    <a:pt x="0" y="0"/>
                  </a:moveTo>
                  <a:lnTo>
                    <a:pt x="5374979" y="0"/>
                  </a:lnTo>
                </a:path>
              </a:pathLst>
            </a:custGeom>
            <a:ln w="127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34855" rIns="0" bIns="0" rtlCol="0" vert="horz">
            <a:spAutoFit/>
          </a:bodyPr>
          <a:lstStyle/>
          <a:p>
            <a:pPr marL="2228215">
              <a:lnSpc>
                <a:spcPct val="100000"/>
              </a:lnSpc>
              <a:spcBef>
                <a:spcPts val="125"/>
              </a:spcBef>
            </a:pPr>
            <a:r>
              <a:rPr dirty="0" spc="105"/>
              <a:t>Step</a:t>
            </a:r>
            <a:r>
              <a:rPr dirty="0" spc="-60"/>
              <a:t> </a:t>
            </a:r>
            <a:r>
              <a:rPr dirty="0" spc="160"/>
              <a:t>2:</a:t>
            </a:r>
            <a:r>
              <a:rPr dirty="0" spc="-640"/>
              <a:t> </a:t>
            </a:r>
            <a:r>
              <a:rPr dirty="0" spc="65"/>
              <a:t>Intelligent</a:t>
            </a:r>
            <a:r>
              <a:rPr dirty="0" spc="120"/>
              <a:t> </a:t>
            </a:r>
            <a:r>
              <a:rPr dirty="0" spc="175"/>
              <a:t>Method</a:t>
            </a:r>
            <a:r>
              <a:rPr dirty="0" spc="-114"/>
              <a:t> </a:t>
            </a:r>
            <a:r>
              <a:rPr dirty="0" spc="-10"/>
              <a:t>Selection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/>
              <a:t>Isl\</a:t>
            </a:r>
            <a:r>
              <a:rPr dirty="0" sz="1300" spc="-45"/>
              <a:t> </a:t>
            </a:r>
            <a:r>
              <a:rPr dirty="0" spc="-10">
                <a:solidFill>
                  <a:srgbClr val="13161A"/>
                </a:solidFill>
              </a:rPr>
              <a:t>N</a:t>
            </a:r>
            <a:r>
              <a:rPr dirty="0" spc="-10"/>
              <a:t>otebookL</a:t>
            </a:r>
            <a:r>
              <a:rPr dirty="0" spc="-10">
                <a:solidFill>
                  <a:srgbClr val="13161A"/>
                </a:solidFill>
              </a:rPr>
              <a:t>M</a:t>
            </a:r>
            <a:endParaRPr sz="1300"/>
          </a:p>
        </p:txBody>
      </p:sp>
      <p:sp>
        <p:nvSpPr>
          <p:cNvPr id="10" name="object 10"/>
          <p:cNvSpPr txBox="1"/>
          <p:nvPr/>
        </p:nvSpPr>
        <p:spPr>
          <a:xfrm>
            <a:off x="5801263" y="2159936"/>
            <a:ext cx="5923280" cy="1074420"/>
          </a:xfrm>
          <a:prstGeom prst="rect">
            <a:avLst/>
          </a:prstGeom>
        </p:spPr>
        <p:txBody>
          <a:bodyPr wrap="square" lIns="0" tIns="248285" rIns="0" bIns="0" rtlCol="0" vert="horz">
            <a:spAutoFit/>
          </a:bodyPr>
          <a:lstStyle/>
          <a:p>
            <a:pPr algn="ctr" marL="208279">
              <a:lnSpc>
                <a:spcPct val="100000"/>
              </a:lnSpc>
              <a:spcBef>
                <a:spcPts val="1955"/>
              </a:spcBef>
            </a:pPr>
            <a:r>
              <a:rPr dirty="0" sz="2750" b="1">
                <a:solidFill>
                  <a:srgbClr val="132338"/>
                </a:solidFill>
                <a:latin typeface="Arial"/>
                <a:cs typeface="Arial"/>
              </a:rPr>
              <a:t>Causal</a:t>
            </a:r>
            <a:r>
              <a:rPr dirty="0" sz="2750" spc="5" b="1">
                <a:solidFill>
                  <a:srgbClr val="132338"/>
                </a:solidFill>
                <a:latin typeface="Arial"/>
                <a:cs typeface="Arial"/>
              </a:rPr>
              <a:t> </a:t>
            </a:r>
            <a:r>
              <a:rPr dirty="0" sz="2750" spc="-40" b="1">
                <a:solidFill>
                  <a:srgbClr val="132338"/>
                </a:solidFill>
                <a:latin typeface="Arial"/>
                <a:cs typeface="Arial"/>
              </a:rPr>
              <a:t>Analysis</a:t>
            </a:r>
            <a:r>
              <a:rPr dirty="0" sz="2750" spc="-20" b="1">
                <a:solidFill>
                  <a:srgbClr val="132338"/>
                </a:solidFill>
                <a:latin typeface="Arial"/>
                <a:cs typeface="Arial"/>
              </a:rPr>
              <a:t> </a:t>
            </a:r>
            <a:r>
              <a:rPr dirty="0" sz="2750" b="1">
                <a:solidFill>
                  <a:srgbClr val="132338"/>
                </a:solidFill>
                <a:latin typeface="Arial"/>
                <a:cs typeface="Arial"/>
              </a:rPr>
              <a:t>Chatbot</a:t>
            </a:r>
            <a:r>
              <a:rPr dirty="0" sz="2750" spc="-140" b="1">
                <a:solidFill>
                  <a:srgbClr val="132338"/>
                </a:solidFill>
                <a:latin typeface="Arial"/>
                <a:cs typeface="Arial"/>
              </a:rPr>
              <a:t> </a:t>
            </a:r>
            <a:r>
              <a:rPr dirty="0" sz="2750" spc="5">
                <a:solidFill>
                  <a:srgbClr val="7C8085"/>
                </a:solidFill>
                <a:latin typeface="Arial"/>
                <a:cs typeface="Arial"/>
              </a:rPr>
              <a:t>�</a:t>
            </a:r>
            <a:endParaRPr sz="2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dirty="0" sz="1650">
                <a:solidFill>
                  <a:srgbClr val="3F4B56"/>
                </a:solidFill>
                <a:latin typeface="Arial"/>
                <a:cs typeface="Arial"/>
              </a:rPr>
              <a:t>I</a:t>
            </a:r>
            <a:r>
              <a:rPr dirty="0" sz="1650">
                <a:solidFill>
                  <a:srgbClr val="64676D"/>
                </a:solidFill>
                <a:latin typeface="Arial"/>
                <a:cs typeface="Arial"/>
              </a:rPr>
              <a:t>n</a:t>
            </a:r>
            <a:r>
              <a:rPr dirty="0" sz="1650">
                <a:solidFill>
                  <a:srgbClr val="3F4B56"/>
                </a:solidFill>
                <a:latin typeface="Arial"/>
                <a:cs typeface="Arial"/>
              </a:rPr>
              <a:t>t</a:t>
            </a:r>
            <a:r>
              <a:rPr dirty="0" sz="1650">
                <a:solidFill>
                  <a:srgbClr val="64676D"/>
                </a:solidFill>
                <a:latin typeface="Arial"/>
                <a:cs typeface="Arial"/>
              </a:rPr>
              <a:t>eract</a:t>
            </a:r>
            <a:r>
              <a:rPr dirty="0" sz="1650">
                <a:solidFill>
                  <a:srgbClr val="7C8085"/>
                </a:solidFill>
                <a:latin typeface="Arial"/>
                <a:cs typeface="Arial"/>
              </a:rPr>
              <a:t>i</a:t>
            </a:r>
            <a:r>
              <a:rPr dirty="0" sz="1650">
                <a:solidFill>
                  <a:srgbClr val="64676D"/>
                </a:solidFill>
                <a:latin typeface="Arial"/>
                <a:cs typeface="Arial"/>
              </a:rPr>
              <a:t>ve</a:t>
            </a:r>
            <a:r>
              <a:rPr dirty="0" sz="1650" spc="-80">
                <a:solidFill>
                  <a:srgbClr val="64676D"/>
                </a:solidFill>
                <a:latin typeface="Arial"/>
                <a:cs typeface="Arial"/>
              </a:rPr>
              <a:t> </a:t>
            </a:r>
            <a:r>
              <a:rPr dirty="0" sz="1650" spc="-35">
                <a:solidFill>
                  <a:srgbClr val="64676D"/>
                </a:solidFill>
                <a:latin typeface="Arial"/>
                <a:cs typeface="Arial"/>
              </a:rPr>
              <a:t>c</a:t>
            </a:r>
            <a:r>
              <a:rPr dirty="0" sz="1650" spc="-35">
                <a:solidFill>
                  <a:srgbClr val="3F4B56"/>
                </a:solidFill>
                <a:latin typeface="Arial"/>
                <a:cs typeface="Arial"/>
              </a:rPr>
              <a:t>a</a:t>
            </a:r>
            <a:r>
              <a:rPr dirty="0" sz="1650" spc="-35">
                <a:solidFill>
                  <a:srgbClr val="64676D"/>
                </a:solidFill>
                <a:latin typeface="Arial"/>
                <a:cs typeface="Arial"/>
              </a:rPr>
              <a:t>usa</a:t>
            </a:r>
            <a:r>
              <a:rPr dirty="0" sz="1650" spc="-35">
                <a:solidFill>
                  <a:srgbClr val="3F4B56"/>
                </a:solidFill>
                <a:latin typeface="Arial"/>
                <a:cs typeface="Arial"/>
              </a:rPr>
              <a:t>l</a:t>
            </a:r>
            <a:r>
              <a:rPr dirty="0" sz="1650" spc="-80">
                <a:solidFill>
                  <a:srgbClr val="3F4B56"/>
                </a:solidFill>
                <a:latin typeface="Arial"/>
                <a:cs typeface="Arial"/>
              </a:rPr>
              <a:t> </a:t>
            </a:r>
            <a:r>
              <a:rPr dirty="0" sz="1650" spc="-20">
                <a:solidFill>
                  <a:srgbClr val="64676D"/>
                </a:solidFill>
                <a:latin typeface="Arial"/>
                <a:cs typeface="Arial"/>
              </a:rPr>
              <a:t>infere</a:t>
            </a:r>
            <a:r>
              <a:rPr dirty="0" sz="1650" spc="-20">
                <a:solidFill>
                  <a:srgbClr val="3F4B56"/>
                </a:solidFill>
                <a:latin typeface="Arial"/>
                <a:cs typeface="Arial"/>
              </a:rPr>
              <a:t>n</a:t>
            </a:r>
            <a:r>
              <a:rPr dirty="0" sz="1650" spc="-20">
                <a:solidFill>
                  <a:srgbClr val="64676D"/>
                </a:solidFill>
                <a:latin typeface="Arial"/>
                <a:cs typeface="Arial"/>
              </a:rPr>
              <a:t>ce</a:t>
            </a:r>
            <a:r>
              <a:rPr dirty="0" sz="1650" spc="-175">
                <a:solidFill>
                  <a:srgbClr val="64676D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64676D"/>
                </a:solidFill>
                <a:latin typeface="Arial"/>
                <a:cs typeface="Arial"/>
              </a:rPr>
              <a:t>analys</a:t>
            </a:r>
            <a:r>
              <a:rPr dirty="0" sz="1650" spc="-10">
                <a:solidFill>
                  <a:srgbClr val="7C8085"/>
                </a:solidFill>
                <a:latin typeface="Arial"/>
                <a:cs typeface="Arial"/>
              </a:rPr>
              <a:t>i</a:t>
            </a:r>
            <a:r>
              <a:rPr dirty="0" sz="1650" spc="-10">
                <a:solidFill>
                  <a:srgbClr val="64676D"/>
                </a:solidFill>
                <a:latin typeface="Arial"/>
                <a:cs typeface="Arial"/>
              </a:rPr>
              <a:t>s</a:t>
            </a:r>
            <a:r>
              <a:rPr dirty="0" sz="1650" spc="-20">
                <a:solidFill>
                  <a:srgbClr val="64676D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4676D"/>
                </a:solidFill>
                <a:latin typeface="Arial"/>
                <a:cs typeface="Arial"/>
              </a:rPr>
              <a:t>with</a:t>
            </a:r>
            <a:r>
              <a:rPr dirty="0" sz="1650" spc="-95">
                <a:solidFill>
                  <a:srgbClr val="64676D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64676D"/>
                </a:solidFill>
                <a:latin typeface="Arial"/>
                <a:cs typeface="Arial"/>
              </a:rPr>
              <a:t>A</a:t>
            </a:r>
            <a:r>
              <a:rPr dirty="0" sz="1650" spc="-10">
                <a:solidFill>
                  <a:srgbClr val="3F4B56"/>
                </a:solidFill>
                <a:latin typeface="Arial"/>
                <a:cs typeface="Arial"/>
              </a:rPr>
              <a:t>l-</a:t>
            </a:r>
            <a:r>
              <a:rPr dirty="0" sz="1650" spc="-10">
                <a:solidFill>
                  <a:srgbClr val="64676D"/>
                </a:solidFill>
                <a:latin typeface="Arial"/>
                <a:cs typeface="Arial"/>
              </a:rPr>
              <a:t>powe</a:t>
            </a:r>
            <a:r>
              <a:rPr dirty="0" sz="1650" spc="-10">
                <a:solidFill>
                  <a:srgbClr val="3F4B56"/>
                </a:solidFill>
                <a:latin typeface="Arial"/>
                <a:cs typeface="Arial"/>
              </a:rPr>
              <a:t>r</a:t>
            </a:r>
            <a:r>
              <a:rPr dirty="0" sz="1650" spc="-10">
                <a:solidFill>
                  <a:srgbClr val="64676D"/>
                </a:solidFill>
                <a:latin typeface="Arial"/>
                <a:cs typeface="Arial"/>
              </a:rPr>
              <a:t>ed</a:t>
            </a:r>
            <a:r>
              <a:rPr dirty="0" sz="1650" spc="-70">
                <a:solidFill>
                  <a:srgbClr val="64676D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64676D"/>
                </a:solidFill>
                <a:latin typeface="Arial"/>
                <a:cs typeface="Arial"/>
              </a:rPr>
              <a:t>ass</a:t>
            </a:r>
            <a:r>
              <a:rPr dirty="0" sz="1650" spc="-10">
                <a:solidFill>
                  <a:srgbClr val="7C8085"/>
                </a:solidFill>
                <a:latin typeface="Arial"/>
                <a:cs typeface="Arial"/>
              </a:rPr>
              <a:t>i</a:t>
            </a:r>
            <a:r>
              <a:rPr dirty="0" sz="1650" spc="-10">
                <a:solidFill>
                  <a:srgbClr val="64676D"/>
                </a:solidFill>
                <a:latin typeface="Arial"/>
                <a:cs typeface="Arial"/>
              </a:rPr>
              <a:t>st</a:t>
            </a:r>
            <a:r>
              <a:rPr dirty="0" sz="1650" spc="-10">
                <a:solidFill>
                  <a:srgbClr val="3F4B56"/>
                </a:solidFill>
                <a:latin typeface="Arial"/>
                <a:cs typeface="Arial"/>
              </a:rPr>
              <a:t>an</a:t>
            </a:r>
            <a:r>
              <a:rPr dirty="0" sz="1650" spc="-10">
                <a:solidFill>
                  <a:srgbClr val="64676D"/>
                </a:solidFill>
                <a:latin typeface="Arial"/>
                <a:cs typeface="Arial"/>
              </a:rPr>
              <a:t>ce.</a:t>
            </a:r>
            <a:endParaRPr sz="16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93740" y="4232308"/>
            <a:ext cx="104775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50">
                <a:solidFill>
                  <a:srgbClr val="8C9397"/>
                </a:solidFill>
                <a:latin typeface="Arial"/>
                <a:cs typeface="Arial"/>
              </a:rPr>
              <a:t>V</a:t>
            </a:r>
            <a:endParaRPr sz="9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79030" y="3987198"/>
            <a:ext cx="8319770" cy="5873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5240" marR="5080" indent="-3175">
              <a:lnSpc>
                <a:spcPct val="111700"/>
              </a:lnSpc>
              <a:spcBef>
                <a:spcPts val="95"/>
              </a:spcBef>
            </a:pPr>
            <a:r>
              <a:rPr dirty="0" sz="1650" spc="-65" b="1">
                <a:solidFill>
                  <a:srgbClr val="34363A"/>
                </a:solidFill>
                <a:latin typeface="Arial"/>
                <a:cs typeface="Arial"/>
              </a:rPr>
              <a:t>Guida</a:t>
            </a:r>
            <a:r>
              <a:rPr dirty="0" sz="1650" spc="-65" b="1">
                <a:solidFill>
                  <a:srgbClr val="132338"/>
                </a:solidFill>
                <a:latin typeface="Arial"/>
                <a:cs typeface="Arial"/>
              </a:rPr>
              <a:t>n</a:t>
            </a:r>
            <a:r>
              <a:rPr dirty="0" sz="1650" spc="-65" b="1">
                <a:solidFill>
                  <a:srgbClr val="34363A"/>
                </a:solidFill>
                <a:latin typeface="Arial"/>
                <a:cs typeface="Arial"/>
              </a:rPr>
              <a:t>ce</a:t>
            </a:r>
            <a:r>
              <a:rPr dirty="0" sz="1650" spc="-65" b="1">
                <a:solidFill>
                  <a:srgbClr val="3F4B56"/>
                </a:solidFill>
                <a:latin typeface="Arial"/>
                <a:cs typeface="Arial"/>
              </a:rPr>
              <a:t>:</a:t>
            </a:r>
            <a:r>
              <a:rPr dirty="0" sz="1650" spc="-260" b="1">
                <a:solidFill>
                  <a:srgbClr val="3F4B56"/>
                </a:solidFill>
                <a:latin typeface="Arial"/>
                <a:cs typeface="Arial"/>
              </a:rPr>
              <a:t> </a:t>
            </a:r>
            <a:r>
              <a:rPr dirty="0" sz="1650" spc="-40">
                <a:solidFill>
                  <a:srgbClr val="3F4B56"/>
                </a:solidFill>
                <a:latin typeface="Arial"/>
                <a:cs typeface="Arial"/>
              </a:rPr>
              <a:t>Choose</a:t>
            </a:r>
            <a:r>
              <a:rPr dirty="0" sz="1650" spc="-75">
                <a:solidFill>
                  <a:srgbClr val="3F4B56"/>
                </a:solidFill>
                <a:latin typeface="Arial"/>
                <a:cs typeface="Arial"/>
              </a:rPr>
              <a:t> </a:t>
            </a:r>
            <a:r>
              <a:rPr dirty="0" sz="1650" spc="50">
                <a:solidFill>
                  <a:srgbClr val="3F4B56"/>
                </a:solidFill>
                <a:latin typeface="Arial"/>
                <a:cs typeface="Arial"/>
              </a:rPr>
              <a:t>the</a:t>
            </a:r>
            <a:r>
              <a:rPr dirty="0" sz="1650" spc="-160">
                <a:solidFill>
                  <a:srgbClr val="3F4B5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F4B56"/>
                </a:solidFill>
                <a:latin typeface="Arial"/>
                <a:cs typeface="Arial"/>
              </a:rPr>
              <a:t>method</a:t>
            </a:r>
            <a:r>
              <a:rPr dirty="0" sz="1650" spc="-25">
                <a:solidFill>
                  <a:srgbClr val="3F4B5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4363A"/>
                </a:solidFill>
                <a:latin typeface="Arial"/>
                <a:cs typeface="Arial"/>
              </a:rPr>
              <a:t>th</a:t>
            </a:r>
            <a:r>
              <a:rPr dirty="0" sz="1650">
                <a:solidFill>
                  <a:srgbClr val="3F4B56"/>
                </a:solidFill>
                <a:latin typeface="Arial"/>
                <a:cs typeface="Arial"/>
              </a:rPr>
              <a:t>a</a:t>
            </a:r>
            <a:r>
              <a:rPr dirty="0" sz="1650">
                <a:solidFill>
                  <a:srgbClr val="34363A"/>
                </a:solidFill>
                <a:latin typeface="Arial"/>
                <a:cs typeface="Arial"/>
              </a:rPr>
              <a:t>t</a:t>
            </a:r>
            <a:r>
              <a:rPr dirty="0" sz="1650" spc="45">
                <a:solidFill>
                  <a:srgbClr val="34363A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F4B56"/>
                </a:solidFill>
                <a:latin typeface="Arial"/>
                <a:cs typeface="Arial"/>
              </a:rPr>
              <a:t>best</a:t>
            </a:r>
            <a:r>
              <a:rPr dirty="0" sz="1650" spc="-95">
                <a:solidFill>
                  <a:srgbClr val="3F4B5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4363A"/>
                </a:solidFill>
                <a:latin typeface="Arial"/>
                <a:cs typeface="Arial"/>
              </a:rPr>
              <a:t>f</a:t>
            </a:r>
            <a:r>
              <a:rPr dirty="0" sz="1650">
                <a:solidFill>
                  <a:srgbClr val="132338"/>
                </a:solidFill>
                <a:latin typeface="Arial"/>
                <a:cs typeface="Arial"/>
              </a:rPr>
              <a:t>i</a:t>
            </a:r>
            <a:r>
              <a:rPr dirty="0" sz="1650">
                <a:solidFill>
                  <a:srgbClr val="3F4B56"/>
                </a:solidFill>
                <a:latin typeface="Arial"/>
                <a:cs typeface="Arial"/>
              </a:rPr>
              <a:t>ts</a:t>
            </a:r>
            <a:r>
              <a:rPr dirty="0" sz="1650" spc="-40">
                <a:solidFill>
                  <a:srgbClr val="3F4B5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4363A"/>
                </a:solidFill>
                <a:latin typeface="Arial"/>
                <a:cs typeface="Arial"/>
              </a:rPr>
              <a:t>y</a:t>
            </a:r>
            <a:r>
              <a:rPr dirty="0" sz="1650">
                <a:solidFill>
                  <a:srgbClr val="3F4B56"/>
                </a:solidFill>
                <a:latin typeface="Arial"/>
                <a:cs typeface="Arial"/>
              </a:rPr>
              <a:t>o</a:t>
            </a:r>
            <a:r>
              <a:rPr dirty="0" sz="1650">
                <a:solidFill>
                  <a:srgbClr val="34363A"/>
                </a:solidFill>
                <a:latin typeface="Arial"/>
                <a:cs typeface="Arial"/>
              </a:rPr>
              <a:t>u</a:t>
            </a:r>
            <a:r>
              <a:rPr dirty="0" sz="1650">
                <a:solidFill>
                  <a:srgbClr val="3F4B56"/>
                </a:solidFill>
                <a:latin typeface="Arial"/>
                <a:cs typeface="Arial"/>
              </a:rPr>
              <a:t>r</a:t>
            </a:r>
            <a:r>
              <a:rPr dirty="0" sz="1650" spc="-165">
                <a:solidFill>
                  <a:srgbClr val="3F4B56"/>
                </a:solidFill>
                <a:latin typeface="Arial"/>
                <a:cs typeface="Arial"/>
              </a:rPr>
              <a:t> </a:t>
            </a:r>
            <a:r>
              <a:rPr dirty="0" sz="1650" spc="-25">
                <a:solidFill>
                  <a:srgbClr val="3F4B56"/>
                </a:solidFill>
                <a:latin typeface="Arial"/>
                <a:cs typeface="Arial"/>
              </a:rPr>
              <a:t>research</a:t>
            </a:r>
            <a:r>
              <a:rPr dirty="0" sz="1650" spc="-50">
                <a:solidFill>
                  <a:srgbClr val="3F4B56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3F4B56"/>
                </a:solidFill>
                <a:latin typeface="Arial"/>
                <a:cs typeface="Arial"/>
              </a:rPr>
              <a:t>des</a:t>
            </a:r>
            <a:r>
              <a:rPr dirty="0" sz="1650" spc="-10">
                <a:solidFill>
                  <a:srgbClr val="132338"/>
                </a:solidFill>
                <a:latin typeface="Arial"/>
                <a:cs typeface="Arial"/>
              </a:rPr>
              <a:t>i</a:t>
            </a:r>
            <a:r>
              <a:rPr dirty="0" sz="1650" spc="-10">
                <a:solidFill>
                  <a:srgbClr val="3F4B56"/>
                </a:solidFill>
                <a:latin typeface="Arial"/>
                <a:cs typeface="Arial"/>
              </a:rPr>
              <a:t>gn</a:t>
            </a:r>
            <a:r>
              <a:rPr dirty="0" sz="1650" spc="-175">
                <a:solidFill>
                  <a:srgbClr val="3F4B5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F4B56"/>
                </a:solidFill>
                <a:latin typeface="Arial"/>
                <a:cs typeface="Arial"/>
              </a:rPr>
              <a:t>a</a:t>
            </a:r>
            <a:r>
              <a:rPr dirty="0" sz="1650">
                <a:solidFill>
                  <a:srgbClr val="34363A"/>
                </a:solidFill>
                <a:latin typeface="Arial"/>
                <a:cs typeface="Arial"/>
              </a:rPr>
              <a:t>n</a:t>
            </a:r>
            <a:r>
              <a:rPr dirty="0" sz="1650">
                <a:solidFill>
                  <a:srgbClr val="3F4B56"/>
                </a:solidFill>
                <a:latin typeface="Arial"/>
                <a:cs typeface="Arial"/>
              </a:rPr>
              <a:t>d</a:t>
            </a:r>
            <a:r>
              <a:rPr dirty="0" sz="1650" spc="-65">
                <a:solidFill>
                  <a:srgbClr val="3F4B5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4363A"/>
                </a:solidFill>
                <a:latin typeface="Arial"/>
                <a:cs typeface="Arial"/>
              </a:rPr>
              <a:t>d</a:t>
            </a:r>
            <a:r>
              <a:rPr dirty="0" sz="1650">
                <a:solidFill>
                  <a:srgbClr val="3F4B56"/>
                </a:solidFill>
                <a:latin typeface="Arial"/>
                <a:cs typeface="Arial"/>
              </a:rPr>
              <a:t>ata</a:t>
            </a:r>
            <a:r>
              <a:rPr dirty="0" sz="1650" spc="-55">
                <a:solidFill>
                  <a:srgbClr val="3F4B5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F4B56"/>
                </a:solidFill>
                <a:latin typeface="Arial"/>
                <a:cs typeface="Arial"/>
              </a:rPr>
              <a:t>str</a:t>
            </a:r>
            <a:r>
              <a:rPr dirty="0" sz="1650">
                <a:solidFill>
                  <a:srgbClr val="34363A"/>
                </a:solidFill>
                <a:latin typeface="Arial"/>
                <a:cs typeface="Arial"/>
              </a:rPr>
              <a:t>u</a:t>
            </a:r>
            <a:r>
              <a:rPr dirty="0" sz="1650">
                <a:solidFill>
                  <a:srgbClr val="3F4B56"/>
                </a:solidFill>
                <a:latin typeface="Arial"/>
                <a:cs typeface="Arial"/>
              </a:rPr>
              <a:t>cture.</a:t>
            </a:r>
            <a:r>
              <a:rPr dirty="0" sz="1650" spc="-210">
                <a:solidFill>
                  <a:srgbClr val="3F4B56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132338"/>
                </a:solidFill>
                <a:latin typeface="Arial"/>
                <a:cs typeface="Arial"/>
              </a:rPr>
              <a:t>H</a:t>
            </a:r>
            <a:r>
              <a:rPr dirty="0" sz="1650" spc="-10">
                <a:solidFill>
                  <a:srgbClr val="3F4B56"/>
                </a:solidFill>
                <a:latin typeface="Arial"/>
                <a:cs typeface="Arial"/>
              </a:rPr>
              <a:t>o</a:t>
            </a:r>
            <a:r>
              <a:rPr dirty="0" sz="1650" spc="-10">
                <a:solidFill>
                  <a:srgbClr val="34363A"/>
                </a:solidFill>
                <a:latin typeface="Arial"/>
                <a:cs typeface="Arial"/>
              </a:rPr>
              <a:t>v</a:t>
            </a:r>
            <a:r>
              <a:rPr dirty="0" sz="1650" spc="-10">
                <a:solidFill>
                  <a:srgbClr val="3F4B56"/>
                </a:solidFill>
                <a:latin typeface="Arial"/>
                <a:cs typeface="Arial"/>
              </a:rPr>
              <a:t>e</a:t>
            </a:r>
            <a:r>
              <a:rPr dirty="0" sz="1650" spc="-10">
                <a:solidFill>
                  <a:srgbClr val="34363A"/>
                </a:solidFill>
                <a:latin typeface="Arial"/>
                <a:cs typeface="Arial"/>
              </a:rPr>
              <a:t>r o</a:t>
            </a:r>
            <a:r>
              <a:rPr dirty="0" sz="1650" spc="-10">
                <a:solidFill>
                  <a:srgbClr val="3F4B56"/>
                </a:solidFill>
                <a:latin typeface="Arial"/>
                <a:cs typeface="Arial"/>
              </a:rPr>
              <a:t>ver</a:t>
            </a:r>
            <a:r>
              <a:rPr dirty="0" sz="1650" spc="-150">
                <a:solidFill>
                  <a:srgbClr val="3F4B5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4363A"/>
                </a:solidFill>
                <a:latin typeface="Arial"/>
                <a:cs typeface="Arial"/>
              </a:rPr>
              <a:t>o</a:t>
            </a:r>
            <a:r>
              <a:rPr dirty="0" sz="1650">
                <a:solidFill>
                  <a:srgbClr val="3F4B56"/>
                </a:solidFill>
                <a:latin typeface="Arial"/>
                <a:cs typeface="Arial"/>
              </a:rPr>
              <a:t>pti</a:t>
            </a:r>
            <a:r>
              <a:rPr dirty="0" sz="1650">
                <a:solidFill>
                  <a:srgbClr val="34363A"/>
                </a:solidFill>
                <a:latin typeface="Arial"/>
                <a:cs typeface="Arial"/>
              </a:rPr>
              <a:t>o</a:t>
            </a:r>
            <a:r>
              <a:rPr dirty="0" sz="1650">
                <a:solidFill>
                  <a:srgbClr val="3F4B56"/>
                </a:solidFill>
                <a:latin typeface="Arial"/>
                <a:cs typeface="Arial"/>
              </a:rPr>
              <a:t>ns</a:t>
            </a:r>
            <a:r>
              <a:rPr dirty="0" sz="1650" spc="-75">
                <a:solidFill>
                  <a:srgbClr val="3F4B5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F4B56"/>
                </a:solidFill>
                <a:latin typeface="Arial"/>
                <a:cs typeface="Arial"/>
              </a:rPr>
              <a:t>fo</a:t>
            </a:r>
            <a:r>
              <a:rPr dirty="0" sz="1650">
                <a:solidFill>
                  <a:srgbClr val="34363A"/>
                </a:solidFill>
                <a:latin typeface="Arial"/>
                <a:cs typeface="Arial"/>
              </a:rPr>
              <a:t>r</a:t>
            </a:r>
            <a:r>
              <a:rPr dirty="0" sz="1650" spc="-150">
                <a:solidFill>
                  <a:srgbClr val="34363A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3F4B56"/>
                </a:solidFill>
                <a:latin typeface="Arial"/>
                <a:cs typeface="Arial"/>
              </a:rPr>
              <a:t>det</a:t>
            </a:r>
            <a:r>
              <a:rPr dirty="0" sz="1650">
                <a:solidFill>
                  <a:srgbClr val="34363A"/>
                </a:solidFill>
                <a:latin typeface="Arial"/>
                <a:cs typeface="Arial"/>
              </a:rPr>
              <a:t>a</a:t>
            </a:r>
            <a:r>
              <a:rPr dirty="0" sz="1650">
                <a:solidFill>
                  <a:srgbClr val="3F4B56"/>
                </a:solidFill>
                <a:latin typeface="Arial"/>
                <a:cs typeface="Arial"/>
              </a:rPr>
              <a:t>i</a:t>
            </a:r>
            <a:r>
              <a:rPr dirty="0" sz="1650">
                <a:solidFill>
                  <a:srgbClr val="34363A"/>
                </a:solidFill>
                <a:latin typeface="Arial"/>
                <a:cs typeface="Arial"/>
              </a:rPr>
              <a:t>l</a:t>
            </a:r>
            <a:r>
              <a:rPr dirty="0" sz="1650">
                <a:solidFill>
                  <a:srgbClr val="3F4B56"/>
                </a:solidFill>
                <a:latin typeface="Arial"/>
                <a:cs typeface="Arial"/>
              </a:rPr>
              <a:t>e</a:t>
            </a:r>
            <a:r>
              <a:rPr dirty="0" sz="1650">
                <a:solidFill>
                  <a:srgbClr val="34363A"/>
                </a:solidFill>
                <a:latin typeface="Arial"/>
                <a:cs typeface="Arial"/>
              </a:rPr>
              <a:t>d</a:t>
            </a:r>
            <a:r>
              <a:rPr dirty="0" sz="1650" spc="-55">
                <a:solidFill>
                  <a:srgbClr val="34363A"/>
                </a:solidFill>
                <a:latin typeface="Arial"/>
                <a:cs typeface="Arial"/>
              </a:rPr>
              <a:t> </a:t>
            </a:r>
            <a:r>
              <a:rPr dirty="0" sz="1650" spc="-20">
                <a:solidFill>
                  <a:srgbClr val="3F4B56"/>
                </a:solidFill>
                <a:latin typeface="Arial"/>
                <a:cs typeface="Arial"/>
              </a:rPr>
              <a:t>help</a:t>
            </a:r>
            <a:r>
              <a:rPr dirty="0" sz="1650" spc="-20">
                <a:solidFill>
                  <a:srgbClr val="34363A"/>
                </a:solidFill>
                <a:latin typeface="Arial"/>
                <a:cs typeface="Arial"/>
              </a:rPr>
              <a:t>.</a:t>
            </a:r>
            <a:endParaRPr sz="16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95116" y="5001327"/>
            <a:ext cx="6064885" cy="1590040"/>
          </a:xfrm>
          <a:prstGeom prst="rect">
            <a:avLst/>
          </a:prstGeom>
        </p:spPr>
        <p:txBody>
          <a:bodyPr wrap="square" lIns="0" tIns="157480" rIns="0" bIns="0" rtlCol="0" vert="horz">
            <a:spAutoFit/>
          </a:bodyPr>
          <a:lstStyle/>
          <a:p>
            <a:pPr marL="83185">
              <a:lnSpc>
                <a:spcPct val="100000"/>
              </a:lnSpc>
              <a:spcBef>
                <a:spcPts val="1240"/>
              </a:spcBef>
            </a:pPr>
            <a:r>
              <a:rPr dirty="0" sz="2200" spc="50" b="1">
                <a:solidFill>
                  <a:srgbClr val="13161A"/>
                </a:solidFill>
                <a:latin typeface="Arial"/>
                <a:cs typeface="Arial"/>
              </a:rPr>
              <a:t>Select</a:t>
            </a:r>
            <a:r>
              <a:rPr dirty="0" sz="2200" spc="-114" b="1">
                <a:solidFill>
                  <a:srgbClr val="13161A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13161A"/>
                </a:solidFill>
                <a:latin typeface="Arial"/>
                <a:cs typeface="Arial"/>
              </a:rPr>
              <a:t>Causal</a:t>
            </a:r>
            <a:r>
              <a:rPr dirty="0" sz="2200" spc="-20" b="1">
                <a:solidFill>
                  <a:srgbClr val="13161A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13161A"/>
                </a:solidFill>
                <a:latin typeface="Arial"/>
                <a:cs typeface="Arial"/>
              </a:rPr>
              <a:t>Analysis</a:t>
            </a:r>
            <a:r>
              <a:rPr dirty="0" sz="2200" spc="-80" b="1">
                <a:solidFill>
                  <a:srgbClr val="13161A"/>
                </a:solidFill>
                <a:latin typeface="Arial"/>
                <a:cs typeface="Arial"/>
              </a:rPr>
              <a:t> </a:t>
            </a:r>
            <a:r>
              <a:rPr dirty="0" sz="2200" spc="50" b="1">
                <a:solidFill>
                  <a:srgbClr val="13161A"/>
                </a:solidFill>
                <a:latin typeface="Arial"/>
                <a:cs typeface="Arial"/>
              </a:rPr>
              <a:t>Method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35"/>
              </a:spcBef>
              <a:tabLst>
                <a:tab pos="5458460" algn="l"/>
              </a:tabLst>
            </a:pPr>
            <a:r>
              <a:rPr dirty="0" u="heavy" sz="1650" spc="-254">
                <a:solidFill>
                  <a:srgbClr val="B6807E"/>
                </a:solidFill>
                <a:uFill>
                  <a:solidFill>
                    <a:srgbClr val="B6807E"/>
                  </a:solidFill>
                </a:uFill>
                <a:latin typeface="Arial"/>
                <a:cs typeface="Arial"/>
              </a:rPr>
              <a:t>[</a:t>
            </a:r>
            <a:r>
              <a:rPr dirty="0" u="heavy" sz="1650" spc="-20">
                <a:solidFill>
                  <a:srgbClr val="B6807E"/>
                </a:solidFill>
                <a:uFill>
                  <a:solidFill>
                    <a:srgbClr val="B6807E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650" spc="-175">
                <a:solidFill>
                  <a:srgbClr val="CC5D5D"/>
                </a:solidFill>
                <a:uFill>
                  <a:solidFill>
                    <a:srgbClr val="CE8F8D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650" spc="-355">
                <a:solidFill>
                  <a:srgbClr val="CC5D5D"/>
                </a:solidFill>
                <a:uFill>
                  <a:solidFill>
                    <a:srgbClr val="CE8F8D"/>
                  </a:solidFill>
                </a:uFill>
                <a:latin typeface="Arial"/>
                <a:cs typeface="Arial"/>
              </a:rPr>
              <a:t>@</a:t>
            </a:r>
            <a:r>
              <a:rPr dirty="0" u="none" sz="1650" spc="-355">
                <a:solidFill>
                  <a:srgbClr val="CF908E"/>
                </a:solidFill>
                <a:latin typeface="Arial"/>
                <a:cs typeface="Arial"/>
              </a:rPr>
              <a:t>_</a:t>
            </a:r>
            <a:r>
              <a:rPr dirty="0" u="none" sz="1650" spc="-355">
                <a:solidFill>
                  <a:srgbClr val="E24849"/>
                </a:solidFill>
                <a:latin typeface="Arial"/>
                <a:cs typeface="Arial"/>
              </a:rPr>
              <a:t>•</a:t>
            </a:r>
            <a:r>
              <a:rPr dirty="0" u="none" sz="1650" spc="-355">
                <a:solidFill>
                  <a:srgbClr val="CF908E"/>
                </a:solidFill>
                <a:latin typeface="Arial"/>
                <a:cs typeface="Arial"/>
              </a:rPr>
              <a:t>_</a:t>
            </a:r>
            <a:r>
              <a:rPr dirty="0" u="none" sz="1650" spc="-355">
                <a:solidFill>
                  <a:srgbClr val="13161A"/>
                </a:solidFill>
                <a:latin typeface="Arial"/>
                <a:cs typeface="Arial"/>
              </a:rPr>
              <a:t>P</a:t>
            </a:r>
            <a:r>
              <a:rPr dirty="0" u="none" sz="1650" spc="-355">
                <a:solidFill>
                  <a:srgbClr val="CF908E"/>
                </a:solidFill>
                <a:latin typeface="Arial"/>
                <a:cs typeface="Arial"/>
              </a:rPr>
              <a:t>_</a:t>
            </a:r>
            <a:r>
              <a:rPr dirty="0" u="none" sz="1650" spc="-355">
                <a:solidFill>
                  <a:srgbClr val="34363A"/>
                </a:solidFill>
                <a:latin typeface="Arial"/>
                <a:cs typeface="Arial"/>
              </a:rPr>
              <a:t>r</a:t>
            </a:r>
            <a:r>
              <a:rPr dirty="0" u="none" sz="1650" spc="-355">
                <a:solidFill>
                  <a:srgbClr val="CF908E"/>
                </a:solidFill>
                <a:latin typeface="Arial"/>
                <a:cs typeface="Arial"/>
              </a:rPr>
              <a:t>_</a:t>
            </a:r>
            <a:r>
              <a:rPr dirty="0" u="none" sz="1650" spc="-355">
                <a:solidFill>
                  <a:srgbClr val="34363A"/>
                </a:solidFill>
                <a:latin typeface="Arial"/>
                <a:cs typeface="Arial"/>
              </a:rPr>
              <a:t>op</a:t>
            </a:r>
            <a:r>
              <a:rPr dirty="0" u="none" sz="1650" spc="-355">
                <a:solidFill>
                  <a:srgbClr val="CF908E"/>
                </a:solidFill>
                <a:latin typeface="Arial"/>
                <a:cs typeface="Arial"/>
              </a:rPr>
              <a:t>_</a:t>
            </a:r>
            <a:r>
              <a:rPr dirty="0" u="none" sz="1650" spc="-355">
                <a:solidFill>
                  <a:srgbClr val="34363A"/>
                </a:solidFill>
                <a:latin typeface="Arial"/>
                <a:cs typeface="Arial"/>
              </a:rPr>
              <a:t>e</a:t>
            </a:r>
            <a:r>
              <a:rPr dirty="0" u="none" sz="1650" spc="-355">
                <a:solidFill>
                  <a:srgbClr val="CF908E"/>
                </a:solidFill>
                <a:latin typeface="Arial"/>
                <a:cs typeface="Arial"/>
              </a:rPr>
              <a:t>_</a:t>
            </a:r>
            <a:r>
              <a:rPr dirty="0" u="none" sz="1650" spc="-355">
                <a:solidFill>
                  <a:srgbClr val="34363A"/>
                </a:solidFill>
                <a:latin typeface="Arial"/>
                <a:cs typeface="Arial"/>
              </a:rPr>
              <a:t>n</a:t>
            </a:r>
            <a:r>
              <a:rPr dirty="0" u="none" sz="1650" spc="-355">
                <a:solidFill>
                  <a:srgbClr val="CF908E"/>
                </a:solidFill>
                <a:latin typeface="Arial"/>
                <a:cs typeface="Arial"/>
              </a:rPr>
              <a:t>_</a:t>
            </a:r>
            <a:r>
              <a:rPr dirty="0" u="none" sz="1650" spc="-355">
                <a:solidFill>
                  <a:srgbClr val="34363A"/>
                </a:solidFill>
                <a:latin typeface="Arial"/>
                <a:cs typeface="Arial"/>
              </a:rPr>
              <a:t>s</a:t>
            </a:r>
            <a:r>
              <a:rPr dirty="0" u="none" sz="1650" spc="-355">
                <a:solidFill>
                  <a:srgbClr val="13161A"/>
                </a:solidFill>
                <a:latin typeface="Arial"/>
                <a:cs typeface="Arial"/>
              </a:rPr>
              <a:t>i</a:t>
            </a:r>
            <a:r>
              <a:rPr dirty="0" u="none" sz="1650" spc="-355">
                <a:solidFill>
                  <a:srgbClr val="CF908E"/>
                </a:solidFill>
                <a:latin typeface="Arial"/>
                <a:cs typeface="Arial"/>
              </a:rPr>
              <a:t>_</a:t>
            </a:r>
            <a:r>
              <a:rPr dirty="0" u="none" sz="1650" spc="-355">
                <a:solidFill>
                  <a:srgbClr val="34363A"/>
                </a:solidFill>
                <a:latin typeface="Arial"/>
                <a:cs typeface="Arial"/>
              </a:rPr>
              <a:t>ty</a:t>
            </a:r>
            <a:r>
              <a:rPr dirty="0" u="none" sz="1650" spc="-355">
                <a:solidFill>
                  <a:srgbClr val="CF908E"/>
                </a:solidFill>
                <a:latin typeface="Arial"/>
                <a:cs typeface="Arial"/>
              </a:rPr>
              <a:t>_</a:t>
            </a:r>
            <a:r>
              <a:rPr dirty="0" u="none" sz="1650" spc="-355">
                <a:solidFill>
                  <a:srgbClr val="34363A"/>
                </a:solidFill>
                <a:latin typeface="Arial"/>
                <a:cs typeface="Arial"/>
              </a:rPr>
              <a:t>s</a:t>
            </a:r>
            <a:r>
              <a:rPr dirty="0" u="none" sz="1650" spc="-355">
                <a:solidFill>
                  <a:srgbClr val="CF908E"/>
                </a:solidFill>
                <a:latin typeface="Arial"/>
                <a:cs typeface="Arial"/>
              </a:rPr>
              <a:t>_</a:t>
            </a:r>
            <a:r>
              <a:rPr dirty="0" u="none" sz="1650" spc="-355">
                <a:solidFill>
                  <a:srgbClr val="34363A"/>
                </a:solidFill>
                <a:latin typeface="Arial"/>
                <a:cs typeface="Arial"/>
              </a:rPr>
              <a:t>c</a:t>
            </a:r>
            <a:r>
              <a:rPr dirty="0" u="none" sz="1650" spc="-355">
                <a:solidFill>
                  <a:srgbClr val="CF908E"/>
                </a:solidFill>
                <a:latin typeface="Arial"/>
                <a:cs typeface="Arial"/>
              </a:rPr>
              <a:t>_</a:t>
            </a:r>
            <a:r>
              <a:rPr dirty="0" u="none" sz="1650" spc="-355">
                <a:solidFill>
                  <a:srgbClr val="34363A"/>
                </a:solidFill>
                <a:latin typeface="Arial"/>
                <a:cs typeface="Arial"/>
              </a:rPr>
              <a:t>o</a:t>
            </a:r>
            <a:r>
              <a:rPr dirty="0" u="none" sz="1650" spc="-355">
                <a:solidFill>
                  <a:srgbClr val="3F4B56"/>
                </a:solidFill>
                <a:latin typeface="Arial"/>
                <a:cs typeface="Arial"/>
              </a:rPr>
              <a:t>r</a:t>
            </a:r>
            <a:r>
              <a:rPr dirty="0" u="none" sz="1650" spc="-355">
                <a:solidFill>
                  <a:srgbClr val="CF908E"/>
                </a:solidFill>
                <a:latin typeface="Arial"/>
                <a:cs typeface="Arial"/>
              </a:rPr>
              <a:t>_</a:t>
            </a:r>
            <a:r>
              <a:rPr dirty="0" u="none" sz="1650" spc="-355">
                <a:solidFill>
                  <a:srgbClr val="34363A"/>
                </a:solidFill>
                <a:latin typeface="Arial"/>
                <a:cs typeface="Arial"/>
              </a:rPr>
              <a:t>e</a:t>
            </a:r>
            <a:r>
              <a:rPr dirty="0" u="none" sz="1650" spc="-355">
                <a:solidFill>
                  <a:srgbClr val="CF908E"/>
                </a:solidFill>
                <a:latin typeface="Arial"/>
                <a:cs typeface="Arial"/>
              </a:rPr>
              <a:t>_</a:t>
            </a:r>
            <a:r>
              <a:rPr dirty="0" u="none" sz="1650" spc="-355">
                <a:solidFill>
                  <a:srgbClr val="34363A"/>
                </a:solidFill>
                <a:latin typeface="Arial"/>
                <a:cs typeface="Arial"/>
              </a:rPr>
              <a:t>M</a:t>
            </a:r>
            <a:r>
              <a:rPr dirty="0" u="none" sz="1650" spc="-355">
                <a:solidFill>
                  <a:srgbClr val="CF908E"/>
                </a:solidFill>
                <a:latin typeface="Arial"/>
                <a:cs typeface="Arial"/>
              </a:rPr>
              <a:t>_</a:t>
            </a:r>
            <a:r>
              <a:rPr dirty="0" u="none" sz="1650" spc="-355">
                <a:solidFill>
                  <a:srgbClr val="34363A"/>
                </a:solidFill>
                <a:latin typeface="Arial"/>
                <a:cs typeface="Arial"/>
              </a:rPr>
              <a:t>a</a:t>
            </a:r>
            <a:r>
              <a:rPr dirty="0" u="none" sz="1650" spc="-355">
                <a:solidFill>
                  <a:srgbClr val="CF908E"/>
                </a:solidFill>
                <a:latin typeface="Arial"/>
                <a:cs typeface="Arial"/>
              </a:rPr>
              <a:t>_</a:t>
            </a:r>
            <a:r>
              <a:rPr dirty="0" u="none" sz="1650" spc="-355">
                <a:solidFill>
                  <a:srgbClr val="13161A"/>
                </a:solidFill>
                <a:latin typeface="Arial"/>
                <a:cs typeface="Arial"/>
              </a:rPr>
              <a:t>t</a:t>
            </a:r>
            <a:r>
              <a:rPr dirty="0" u="none" sz="1650" spc="-355">
                <a:solidFill>
                  <a:srgbClr val="34363A"/>
                </a:solidFill>
                <a:latin typeface="Arial"/>
                <a:cs typeface="Arial"/>
              </a:rPr>
              <a:t>c</a:t>
            </a:r>
            <a:r>
              <a:rPr dirty="0" u="none" sz="1650" spc="-355">
                <a:solidFill>
                  <a:srgbClr val="CF908E"/>
                </a:solidFill>
                <a:latin typeface="Arial"/>
                <a:cs typeface="Arial"/>
              </a:rPr>
              <a:t>_</a:t>
            </a:r>
            <a:r>
              <a:rPr dirty="0" u="none" sz="1650" spc="-355">
                <a:solidFill>
                  <a:srgbClr val="34363A"/>
                </a:solidFill>
                <a:latin typeface="Arial"/>
                <a:cs typeface="Arial"/>
              </a:rPr>
              <a:t>h</a:t>
            </a:r>
            <a:r>
              <a:rPr dirty="0" u="none" sz="1650" spc="-355">
                <a:solidFill>
                  <a:srgbClr val="CF908E"/>
                </a:solidFill>
                <a:latin typeface="Arial"/>
                <a:cs typeface="Arial"/>
              </a:rPr>
              <a:t>_</a:t>
            </a:r>
            <a:r>
              <a:rPr dirty="0" u="none" sz="1650" spc="-355">
                <a:solidFill>
                  <a:srgbClr val="34363A"/>
                </a:solidFill>
                <a:latin typeface="Arial"/>
                <a:cs typeface="Arial"/>
              </a:rPr>
              <a:t>i</a:t>
            </a:r>
            <a:r>
              <a:rPr dirty="0" u="none" sz="1650" spc="-355">
                <a:solidFill>
                  <a:srgbClr val="13161A"/>
                </a:solidFill>
                <a:latin typeface="Arial"/>
                <a:cs typeface="Arial"/>
              </a:rPr>
              <a:t>n</a:t>
            </a:r>
            <a:r>
              <a:rPr dirty="0" u="none" sz="1650" spc="-355">
                <a:solidFill>
                  <a:srgbClr val="CF908E"/>
                </a:solidFill>
                <a:latin typeface="Arial"/>
                <a:cs typeface="Arial"/>
              </a:rPr>
              <a:t>_</a:t>
            </a:r>
            <a:r>
              <a:rPr dirty="0" u="none" sz="1650" spc="-355">
                <a:solidFill>
                  <a:srgbClr val="34363A"/>
                </a:solidFill>
                <a:latin typeface="Arial"/>
                <a:cs typeface="Arial"/>
              </a:rPr>
              <a:t>g</a:t>
            </a:r>
            <a:r>
              <a:rPr dirty="0" u="none" sz="1650" spc="-90">
                <a:solidFill>
                  <a:srgbClr val="34363A"/>
                </a:solidFill>
                <a:latin typeface="Arial"/>
                <a:cs typeface="Arial"/>
              </a:rPr>
              <a:t> </a:t>
            </a:r>
            <a:r>
              <a:rPr dirty="0" u="heavy" sz="1650">
                <a:solidFill>
                  <a:srgbClr val="34363A"/>
                </a:solidFill>
                <a:uFill>
                  <a:solidFill>
                    <a:srgbClr val="CE8F8D"/>
                  </a:solidFill>
                </a:uFill>
                <a:latin typeface="Arial"/>
                <a:cs typeface="Arial"/>
              </a:rPr>
              <a:t>	</a:t>
            </a:r>
            <a:r>
              <a:rPr dirty="0" u="heavy" sz="1650" spc="50">
                <a:solidFill>
                  <a:srgbClr val="CF908E"/>
                </a:solidFill>
                <a:uFill>
                  <a:solidFill>
                    <a:srgbClr val="CF908E"/>
                  </a:solidFill>
                </a:uFill>
                <a:latin typeface="Arial"/>
                <a:cs typeface="Arial"/>
              </a:rPr>
              <a:t>_,)</a:t>
            </a:r>
            <a:r>
              <a:rPr dirty="0" u="none" sz="1650" spc="210">
                <a:solidFill>
                  <a:srgbClr val="CF908E"/>
                </a:solidFill>
                <a:latin typeface="Arial"/>
                <a:cs typeface="Arial"/>
              </a:rPr>
              <a:t> </a:t>
            </a:r>
            <a:r>
              <a:rPr dirty="0" u="none" sz="2950" spc="-1075">
                <a:solidFill>
                  <a:srgbClr val="E24849"/>
                </a:solidFill>
                <a:latin typeface="Arial"/>
                <a:cs typeface="Arial"/>
              </a:rPr>
              <a:t>◄</a:t>
            </a:r>
            <a:endParaRPr sz="2950">
              <a:latin typeface="Arial"/>
              <a:cs typeface="Arial"/>
            </a:endParaRPr>
          </a:p>
          <a:p>
            <a:pPr marL="535305">
              <a:lnSpc>
                <a:spcPct val="100000"/>
              </a:lnSpc>
              <a:spcBef>
                <a:spcPts val="1480"/>
              </a:spcBef>
            </a:pPr>
            <a:r>
              <a:rPr dirty="0" sz="1650" spc="-20">
                <a:solidFill>
                  <a:srgbClr val="13161A"/>
                </a:solidFill>
                <a:latin typeface="Arial"/>
                <a:cs typeface="Arial"/>
              </a:rPr>
              <a:t>D</a:t>
            </a:r>
            <a:r>
              <a:rPr dirty="0" sz="1650" spc="-20">
                <a:solidFill>
                  <a:srgbClr val="3F4B56"/>
                </a:solidFill>
                <a:latin typeface="Arial"/>
                <a:cs typeface="Arial"/>
              </a:rPr>
              <a:t>if</a:t>
            </a:r>
            <a:r>
              <a:rPr dirty="0" sz="1650" spc="-20">
                <a:solidFill>
                  <a:srgbClr val="13161A"/>
                </a:solidFill>
                <a:latin typeface="Arial"/>
                <a:cs typeface="Arial"/>
              </a:rPr>
              <a:t>f</a:t>
            </a:r>
            <a:r>
              <a:rPr dirty="0" sz="1650" spc="-20">
                <a:solidFill>
                  <a:srgbClr val="34363A"/>
                </a:solidFill>
                <a:latin typeface="Arial"/>
                <a:cs typeface="Arial"/>
              </a:rPr>
              <a:t>erence</a:t>
            </a:r>
            <a:r>
              <a:rPr dirty="0" sz="1650" spc="-120">
                <a:solidFill>
                  <a:srgbClr val="34363A"/>
                </a:solidFill>
                <a:latin typeface="Arial"/>
                <a:cs typeface="Arial"/>
              </a:rPr>
              <a:t> </a:t>
            </a:r>
            <a:r>
              <a:rPr dirty="0" sz="1650" spc="55">
                <a:solidFill>
                  <a:srgbClr val="3F4B56"/>
                </a:solidFill>
                <a:latin typeface="Arial"/>
                <a:cs typeface="Arial"/>
              </a:rPr>
              <a:t>i</a:t>
            </a:r>
            <a:r>
              <a:rPr dirty="0" sz="1650" spc="55">
                <a:solidFill>
                  <a:srgbClr val="34363A"/>
                </a:solidFill>
                <a:latin typeface="Arial"/>
                <a:cs typeface="Arial"/>
              </a:rPr>
              <a:t>n</a:t>
            </a:r>
            <a:r>
              <a:rPr dirty="0" sz="1650" spc="-145">
                <a:solidFill>
                  <a:srgbClr val="34363A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34363A"/>
                </a:solidFill>
                <a:latin typeface="Arial"/>
                <a:cs typeface="Arial"/>
              </a:rPr>
              <a:t>Di</a:t>
            </a:r>
            <a:r>
              <a:rPr dirty="0" sz="1650" spc="-10">
                <a:solidFill>
                  <a:srgbClr val="13161A"/>
                </a:solidFill>
                <a:latin typeface="Arial"/>
                <a:cs typeface="Arial"/>
              </a:rPr>
              <a:t>f</a:t>
            </a:r>
            <a:r>
              <a:rPr dirty="0" sz="1650" spc="-10">
                <a:solidFill>
                  <a:srgbClr val="34363A"/>
                </a:solidFill>
                <a:latin typeface="Arial"/>
                <a:cs typeface="Arial"/>
              </a:rPr>
              <a:t>ferences</a:t>
            </a:r>
            <a:endParaRPr sz="16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14834" y="6823835"/>
            <a:ext cx="2668905" cy="8020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30">
                <a:solidFill>
                  <a:srgbClr val="13161A"/>
                </a:solidFill>
                <a:latin typeface="Arial"/>
                <a:cs typeface="Arial"/>
              </a:rPr>
              <a:t>I</a:t>
            </a:r>
            <a:r>
              <a:rPr dirty="0" sz="1650" spc="-30">
                <a:solidFill>
                  <a:srgbClr val="34363A"/>
                </a:solidFill>
                <a:latin typeface="Arial"/>
                <a:cs typeface="Arial"/>
              </a:rPr>
              <a:t>nverse</a:t>
            </a:r>
            <a:r>
              <a:rPr dirty="0" sz="1650" spc="-50">
                <a:solidFill>
                  <a:srgbClr val="34363A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34363A"/>
                </a:solidFill>
                <a:latin typeface="Arial"/>
                <a:cs typeface="Arial"/>
              </a:rPr>
              <a:t>Probab</a:t>
            </a:r>
            <a:r>
              <a:rPr dirty="0" sz="1650" spc="-10">
                <a:solidFill>
                  <a:srgbClr val="3F4B56"/>
                </a:solidFill>
                <a:latin typeface="Arial"/>
                <a:cs typeface="Arial"/>
              </a:rPr>
              <a:t>i</a:t>
            </a:r>
            <a:r>
              <a:rPr dirty="0" sz="1650" spc="-10">
                <a:solidFill>
                  <a:srgbClr val="13161A"/>
                </a:solidFill>
                <a:latin typeface="Arial"/>
                <a:cs typeface="Arial"/>
              </a:rPr>
              <a:t>l</a:t>
            </a:r>
            <a:r>
              <a:rPr dirty="0" sz="1650" spc="-10">
                <a:solidFill>
                  <a:srgbClr val="3F4B56"/>
                </a:solidFill>
                <a:latin typeface="Arial"/>
                <a:cs typeface="Arial"/>
              </a:rPr>
              <a:t>it</a:t>
            </a:r>
            <a:r>
              <a:rPr dirty="0" sz="1650" spc="-10">
                <a:solidFill>
                  <a:srgbClr val="34363A"/>
                </a:solidFill>
                <a:latin typeface="Arial"/>
                <a:cs typeface="Arial"/>
              </a:rPr>
              <a:t>y</a:t>
            </a:r>
            <a:r>
              <a:rPr dirty="0" sz="1650" spc="-50">
                <a:solidFill>
                  <a:srgbClr val="34363A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34363A"/>
                </a:solidFill>
                <a:latin typeface="Arial"/>
                <a:cs typeface="Arial"/>
              </a:rPr>
              <a:t>We</a:t>
            </a:r>
            <a:r>
              <a:rPr dirty="0" sz="1650" spc="-10">
                <a:solidFill>
                  <a:srgbClr val="3F4B56"/>
                </a:solidFill>
                <a:latin typeface="Arial"/>
                <a:cs typeface="Arial"/>
              </a:rPr>
              <a:t>i</a:t>
            </a:r>
            <a:r>
              <a:rPr dirty="0" sz="1650" spc="-10">
                <a:solidFill>
                  <a:srgbClr val="34363A"/>
                </a:solidFill>
                <a:latin typeface="Arial"/>
                <a:cs typeface="Arial"/>
              </a:rPr>
              <a:t>ght</a:t>
            </a:r>
            <a:r>
              <a:rPr dirty="0" sz="1650" spc="-10">
                <a:solidFill>
                  <a:srgbClr val="3F4B56"/>
                </a:solidFill>
                <a:latin typeface="Arial"/>
                <a:cs typeface="Arial"/>
              </a:rPr>
              <a:t>in</a:t>
            </a:r>
            <a:r>
              <a:rPr dirty="0" sz="1650" spc="-10">
                <a:solidFill>
                  <a:srgbClr val="34363A"/>
                </a:solidFill>
                <a:latin typeface="Arial"/>
                <a:cs typeface="Arial"/>
              </a:rPr>
              <a:t>g</a:t>
            </a:r>
            <a:endParaRPr sz="1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165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</a:pPr>
            <a:r>
              <a:rPr dirty="0" sz="1650" spc="-20">
                <a:solidFill>
                  <a:srgbClr val="34363A"/>
                </a:solidFill>
                <a:latin typeface="Arial"/>
                <a:cs typeface="Arial"/>
              </a:rPr>
              <a:t>Doub</a:t>
            </a:r>
            <a:r>
              <a:rPr dirty="0" sz="1650" spc="-20">
                <a:solidFill>
                  <a:srgbClr val="3F4B56"/>
                </a:solidFill>
                <a:latin typeface="Arial"/>
                <a:cs typeface="Arial"/>
              </a:rPr>
              <a:t>l</a:t>
            </a:r>
            <a:r>
              <a:rPr dirty="0" sz="1650" spc="-20">
                <a:solidFill>
                  <a:srgbClr val="34363A"/>
                </a:solidFill>
                <a:latin typeface="Arial"/>
                <a:cs typeface="Arial"/>
              </a:rPr>
              <a:t>y</a:t>
            </a:r>
            <a:r>
              <a:rPr dirty="0" sz="1650" spc="-80">
                <a:solidFill>
                  <a:srgbClr val="34363A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34363A"/>
                </a:solidFill>
                <a:latin typeface="Arial"/>
                <a:cs typeface="Arial"/>
              </a:rPr>
              <a:t>Robust</a:t>
            </a:r>
            <a:endParaRPr sz="16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977733" y="5344239"/>
            <a:ext cx="4057015" cy="1430020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marL="12700" marR="5080" indent="1270">
              <a:lnSpc>
                <a:spcPct val="109200"/>
              </a:lnSpc>
              <a:spcBef>
                <a:spcPts val="145"/>
              </a:spcBef>
            </a:pPr>
            <a:r>
              <a:rPr dirty="0" sz="2800" spc="-75" b="1">
                <a:solidFill>
                  <a:srgbClr val="13161A"/>
                </a:solidFill>
                <a:latin typeface="Arial"/>
                <a:cs typeface="Arial"/>
              </a:rPr>
              <a:t>System</a:t>
            </a:r>
            <a:r>
              <a:rPr dirty="0" sz="2800" spc="-90" b="1">
                <a:solidFill>
                  <a:srgbClr val="13161A"/>
                </a:solidFill>
                <a:latin typeface="Arial"/>
                <a:cs typeface="Arial"/>
              </a:rPr>
              <a:t> </a:t>
            </a:r>
            <a:r>
              <a:rPr dirty="0" sz="2800" spc="-110" b="1">
                <a:solidFill>
                  <a:srgbClr val="13161A"/>
                </a:solidFill>
                <a:latin typeface="Arial"/>
                <a:cs typeface="Arial"/>
              </a:rPr>
              <a:t>recommends</a:t>
            </a:r>
            <a:r>
              <a:rPr dirty="0" sz="2800" spc="-15" b="1">
                <a:solidFill>
                  <a:srgbClr val="13161A"/>
                </a:solidFill>
                <a:latin typeface="Arial"/>
                <a:cs typeface="Arial"/>
              </a:rPr>
              <a:t> </a:t>
            </a:r>
            <a:r>
              <a:rPr dirty="0" sz="2800" spc="-25" b="1">
                <a:solidFill>
                  <a:srgbClr val="010101"/>
                </a:solidFill>
                <a:latin typeface="Arial"/>
                <a:cs typeface="Arial"/>
              </a:rPr>
              <a:t>the </a:t>
            </a:r>
            <a:r>
              <a:rPr dirty="0" sz="2800" spc="-60" b="1">
                <a:solidFill>
                  <a:srgbClr val="13161A"/>
                </a:solidFill>
                <a:latin typeface="Arial"/>
                <a:cs typeface="Arial"/>
              </a:rPr>
              <a:t>optimal</a:t>
            </a:r>
            <a:r>
              <a:rPr dirty="0" sz="2800" spc="-75" b="1">
                <a:solidFill>
                  <a:srgbClr val="13161A"/>
                </a:solidFill>
                <a:latin typeface="Arial"/>
                <a:cs typeface="Arial"/>
              </a:rPr>
              <a:t> statistical</a:t>
            </a:r>
            <a:r>
              <a:rPr dirty="0" sz="2800" spc="-120" b="1">
                <a:solidFill>
                  <a:srgbClr val="13161A"/>
                </a:solidFill>
                <a:latin typeface="Arial"/>
                <a:cs typeface="Arial"/>
              </a:rPr>
              <a:t> </a:t>
            </a:r>
            <a:r>
              <a:rPr dirty="0" sz="2800" spc="-10" b="1">
                <a:solidFill>
                  <a:srgbClr val="13161A"/>
                </a:solidFill>
                <a:latin typeface="Arial"/>
                <a:cs typeface="Arial"/>
              </a:rPr>
              <a:t>model </a:t>
            </a:r>
            <a:r>
              <a:rPr dirty="0" sz="2800" spc="-30" b="1">
                <a:solidFill>
                  <a:srgbClr val="13161A"/>
                </a:solidFill>
                <a:latin typeface="Arial"/>
                <a:cs typeface="Arial"/>
              </a:rPr>
              <a:t>based</a:t>
            </a:r>
            <a:r>
              <a:rPr dirty="0" sz="2800" spc="-165" b="1">
                <a:solidFill>
                  <a:srgbClr val="13161A"/>
                </a:solidFill>
                <a:latin typeface="Arial"/>
                <a:cs typeface="Arial"/>
              </a:rPr>
              <a:t> </a:t>
            </a:r>
            <a:r>
              <a:rPr dirty="0" sz="2800" spc="-114" b="1">
                <a:solidFill>
                  <a:srgbClr val="13161A"/>
                </a:solidFill>
                <a:latin typeface="Arial"/>
                <a:cs typeface="Arial"/>
              </a:rPr>
              <a:t>on</a:t>
            </a:r>
            <a:r>
              <a:rPr dirty="0" sz="2800" spc="-95" b="1">
                <a:solidFill>
                  <a:srgbClr val="13161A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13161A"/>
                </a:solidFill>
                <a:latin typeface="Arial"/>
                <a:cs typeface="Arial"/>
              </a:rPr>
              <a:t>data</a:t>
            </a:r>
            <a:r>
              <a:rPr dirty="0" sz="2800" spc="-135" b="1">
                <a:solidFill>
                  <a:srgbClr val="13161A"/>
                </a:solidFill>
                <a:latin typeface="Arial"/>
                <a:cs typeface="Arial"/>
              </a:rPr>
              <a:t> </a:t>
            </a:r>
            <a:r>
              <a:rPr dirty="0" sz="2800" spc="-10" b="1">
                <a:solidFill>
                  <a:srgbClr val="13161A"/>
                </a:solidFill>
                <a:latin typeface="Arial"/>
                <a:cs typeface="Arial"/>
              </a:rPr>
              <a:t>structure.</a:t>
            </a:r>
            <a:endParaRPr sz="2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060088" y="8234495"/>
            <a:ext cx="5322570" cy="82105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0320">
              <a:lnSpc>
                <a:spcPct val="100000"/>
              </a:lnSpc>
              <a:spcBef>
                <a:spcPts val="110"/>
              </a:spcBef>
            </a:pPr>
            <a:r>
              <a:rPr dirty="0" sz="2200" b="1">
                <a:solidFill>
                  <a:srgbClr val="13161A"/>
                </a:solidFill>
                <a:latin typeface="Arial"/>
                <a:cs typeface="Arial"/>
              </a:rPr>
              <a:t>Propensity</a:t>
            </a:r>
            <a:r>
              <a:rPr dirty="0" sz="2200" spc="155" b="1">
                <a:solidFill>
                  <a:srgbClr val="13161A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13161A"/>
                </a:solidFill>
                <a:latin typeface="Arial"/>
                <a:cs typeface="Arial"/>
              </a:rPr>
              <a:t>Score</a:t>
            </a:r>
            <a:r>
              <a:rPr dirty="0" sz="2200" spc="5" b="1">
                <a:solidFill>
                  <a:srgbClr val="13161A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13161A"/>
                </a:solidFill>
                <a:latin typeface="Arial"/>
                <a:cs typeface="Arial"/>
              </a:rPr>
              <a:t>Matching</a:t>
            </a:r>
            <a:r>
              <a:rPr dirty="0" sz="2200" spc="-15" b="1">
                <a:solidFill>
                  <a:srgbClr val="13161A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13161A"/>
                </a:solidFill>
                <a:latin typeface="Arial"/>
                <a:cs typeface="Arial"/>
              </a:rPr>
              <a:t>Parameters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30"/>
              </a:spcBef>
            </a:pPr>
            <a:r>
              <a:rPr dirty="0" sz="1650">
                <a:solidFill>
                  <a:srgbClr val="34363A"/>
                </a:solidFill>
                <a:latin typeface="Arial"/>
                <a:cs typeface="Arial"/>
              </a:rPr>
              <a:t>Ma</a:t>
            </a:r>
            <a:r>
              <a:rPr dirty="0" sz="1650">
                <a:solidFill>
                  <a:srgbClr val="3F4B56"/>
                </a:solidFill>
                <a:latin typeface="Arial"/>
                <a:cs typeface="Arial"/>
              </a:rPr>
              <a:t>t</a:t>
            </a:r>
            <a:r>
              <a:rPr dirty="0" sz="1650">
                <a:solidFill>
                  <a:srgbClr val="34363A"/>
                </a:solidFill>
                <a:latin typeface="Arial"/>
                <a:cs typeface="Arial"/>
              </a:rPr>
              <a:t>ch</a:t>
            </a:r>
            <a:r>
              <a:rPr dirty="0" sz="1650">
                <a:solidFill>
                  <a:srgbClr val="3F4B56"/>
                </a:solidFill>
                <a:latin typeface="Arial"/>
                <a:cs typeface="Arial"/>
              </a:rPr>
              <a:t>i</a:t>
            </a:r>
            <a:r>
              <a:rPr dirty="0" sz="1650">
                <a:solidFill>
                  <a:srgbClr val="34363A"/>
                </a:solidFill>
                <a:latin typeface="Arial"/>
                <a:cs typeface="Arial"/>
              </a:rPr>
              <a:t>ng</a:t>
            </a:r>
            <a:r>
              <a:rPr dirty="0" sz="1650" spc="-50">
                <a:solidFill>
                  <a:srgbClr val="34363A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34363A"/>
                </a:solidFill>
                <a:latin typeface="Arial"/>
                <a:cs typeface="Arial"/>
              </a:rPr>
              <a:t>A</a:t>
            </a:r>
            <a:r>
              <a:rPr dirty="0" sz="1650" spc="-10">
                <a:solidFill>
                  <a:srgbClr val="3F4B56"/>
                </a:solidFill>
                <a:latin typeface="Arial"/>
                <a:cs typeface="Arial"/>
              </a:rPr>
              <a:t>l</a:t>
            </a:r>
            <a:r>
              <a:rPr dirty="0" sz="1650" spc="-10">
                <a:solidFill>
                  <a:srgbClr val="34363A"/>
                </a:solidFill>
                <a:latin typeface="Arial"/>
                <a:cs typeface="Arial"/>
              </a:rPr>
              <a:t>go</a:t>
            </a:r>
            <a:r>
              <a:rPr dirty="0" sz="1650" spc="-10">
                <a:solidFill>
                  <a:srgbClr val="13161A"/>
                </a:solidFill>
                <a:latin typeface="Arial"/>
                <a:cs typeface="Arial"/>
              </a:rPr>
              <a:t>r</a:t>
            </a:r>
            <a:r>
              <a:rPr dirty="0" sz="1650" spc="-10">
                <a:solidFill>
                  <a:srgbClr val="3F4B56"/>
                </a:solidFill>
                <a:latin typeface="Arial"/>
                <a:cs typeface="Arial"/>
              </a:rPr>
              <a:t>i</a:t>
            </a:r>
            <a:r>
              <a:rPr dirty="0" sz="1650" spc="-10">
                <a:solidFill>
                  <a:srgbClr val="34363A"/>
                </a:solidFill>
                <a:latin typeface="Arial"/>
                <a:cs typeface="Arial"/>
              </a:rPr>
              <a:t>thm</a:t>
            </a:r>
            <a:r>
              <a:rPr dirty="0" sz="1650" spc="-10">
                <a:solidFill>
                  <a:srgbClr val="3F4B56"/>
                </a:solidFill>
                <a:latin typeface="Arial"/>
                <a:cs typeface="Arial"/>
              </a:rPr>
              <a:t>:</a:t>
            </a:r>
            <a:endParaRPr sz="16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12721" y="9223871"/>
            <a:ext cx="1626235" cy="2787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30">
                <a:solidFill>
                  <a:srgbClr val="34363A"/>
                </a:solidFill>
                <a:latin typeface="Arial"/>
                <a:cs typeface="Arial"/>
              </a:rPr>
              <a:t>Nearest</a:t>
            </a:r>
            <a:r>
              <a:rPr dirty="0" sz="1650" spc="-55">
                <a:solidFill>
                  <a:srgbClr val="34363A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34363A"/>
                </a:solidFill>
                <a:latin typeface="Arial"/>
                <a:cs typeface="Arial"/>
              </a:rPr>
              <a:t>Ne</a:t>
            </a:r>
            <a:r>
              <a:rPr dirty="0" sz="1650" spc="-10">
                <a:solidFill>
                  <a:srgbClr val="3F4B56"/>
                </a:solidFill>
                <a:latin typeface="Arial"/>
                <a:cs typeface="Arial"/>
              </a:rPr>
              <a:t>i</a:t>
            </a:r>
            <a:r>
              <a:rPr dirty="0" sz="1650" spc="-10">
                <a:solidFill>
                  <a:srgbClr val="34363A"/>
                </a:solidFill>
                <a:latin typeface="Arial"/>
                <a:cs typeface="Arial"/>
              </a:rPr>
              <a:t>ghbo</a:t>
            </a:r>
            <a:r>
              <a:rPr dirty="0" sz="1650" spc="-10">
                <a:solidFill>
                  <a:srgbClr val="13161A"/>
                </a:solidFill>
                <a:latin typeface="Arial"/>
                <a:cs typeface="Arial"/>
              </a:rPr>
              <a:t>r</a:t>
            </a:r>
            <a:endParaRPr sz="16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118033" y="9287702"/>
            <a:ext cx="102235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50">
                <a:solidFill>
                  <a:srgbClr val="8C9397"/>
                </a:solidFill>
                <a:latin typeface="Times New Roman"/>
                <a:cs typeface="Times New Roman"/>
              </a:rPr>
              <a:t>V</a:t>
            </a:r>
            <a:endParaRPr sz="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0452" y="4723738"/>
            <a:ext cx="2980438" cy="112342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21529" y="5004593"/>
            <a:ext cx="2980438" cy="84256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4749352" y="2119444"/>
            <a:ext cx="0" cy="1659889"/>
          </a:xfrm>
          <a:custGeom>
            <a:avLst/>
            <a:gdLst/>
            <a:ahLst/>
            <a:cxnLst/>
            <a:rect l="l" t="t" r="r" b="b"/>
            <a:pathLst>
              <a:path w="0" h="1659889">
                <a:moveTo>
                  <a:pt x="0" y="1659598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4749352" y="5362044"/>
            <a:ext cx="0" cy="3906520"/>
          </a:xfrm>
          <a:custGeom>
            <a:avLst/>
            <a:gdLst/>
            <a:ahLst/>
            <a:cxnLst/>
            <a:rect l="l" t="t" r="r" b="b"/>
            <a:pathLst>
              <a:path w="0" h="3906520">
                <a:moveTo>
                  <a:pt x="0" y="3906439"/>
                </a:moveTo>
                <a:lnTo>
                  <a:pt x="0" y="3421326"/>
                </a:lnTo>
              </a:path>
              <a:path w="0" h="3906520">
                <a:moveTo>
                  <a:pt x="0" y="3395793"/>
                </a:moveTo>
                <a:lnTo>
                  <a:pt x="0" y="0"/>
                </a:lnTo>
              </a:path>
            </a:pathLst>
          </a:custGeom>
          <a:ln w="382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5309777" y="5374810"/>
            <a:ext cx="739140" cy="0"/>
          </a:xfrm>
          <a:custGeom>
            <a:avLst/>
            <a:gdLst/>
            <a:ahLst/>
            <a:cxnLst/>
            <a:rect l="l" t="t" r="r" b="b"/>
            <a:pathLst>
              <a:path w="739140" h="0">
                <a:moveTo>
                  <a:pt x="0" y="0"/>
                </a:moveTo>
                <a:lnTo>
                  <a:pt x="738741" y="0"/>
                </a:lnTo>
              </a:path>
            </a:pathLst>
          </a:custGeom>
          <a:ln w="3175">
            <a:solidFill>
              <a:srgbClr val="D1D4D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776648" y="9319548"/>
            <a:ext cx="11972925" cy="0"/>
          </a:xfrm>
          <a:custGeom>
            <a:avLst/>
            <a:gdLst/>
            <a:ahLst/>
            <a:cxnLst/>
            <a:rect l="l" t="t" r="r" b="b"/>
            <a:pathLst>
              <a:path w="11972925" h="0">
                <a:moveTo>
                  <a:pt x="0" y="0"/>
                </a:moveTo>
                <a:lnTo>
                  <a:pt x="11972704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8046" rIns="0" bIns="0" rtlCol="0" vert="horz">
            <a:spAutoFit/>
          </a:bodyPr>
          <a:lstStyle/>
          <a:p>
            <a:pPr marL="2880995">
              <a:lnSpc>
                <a:spcPct val="100000"/>
              </a:lnSpc>
              <a:spcBef>
                <a:spcPts val="120"/>
              </a:spcBef>
            </a:pPr>
            <a:r>
              <a:rPr dirty="0" sz="4500" spc="90"/>
              <a:t>Step</a:t>
            </a:r>
            <a:r>
              <a:rPr dirty="0" sz="4500" spc="-190"/>
              <a:t> </a:t>
            </a:r>
            <a:r>
              <a:rPr dirty="0" sz="4500" spc="80"/>
              <a:t>3:</a:t>
            </a:r>
            <a:r>
              <a:rPr dirty="0" sz="4500" spc="-35"/>
              <a:t> </a:t>
            </a:r>
            <a:r>
              <a:rPr dirty="0" sz="4500" spc="100"/>
              <a:t>Automated</a:t>
            </a:r>
            <a:r>
              <a:rPr dirty="0" sz="4500" spc="-75"/>
              <a:t> </a:t>
            </a:r>
            <a:r>
              <a:rPr dirty="0" sz="4500" spc="114"/>
              <a:t>Data</a:t>
            </a:r>
            <a:r>
              <a:rPr dirty="0" sz="4500" spc="-185"/>
              <a:t> </a:t>
            </a:r>
            <a:r>
              <a:rPr dirty="0" sz="4500" spc="-10"/>
              <a:t>Preparation</a:t>
            </a:r>
            <a:endParaRPr sz="4500"/>
          </a:p>
        </p:txBody>
      </p:sp>
      <p:sp>
        <p:nvSpPr>
          <p:cNvPr id="9" name="object 9"/>
          <p:cNvSpPr txBox="1"/>
          <p:nvPr/>
        </p:nvSpPr>
        <p:spPr>
          <a:xfrm>
            <a:off x="4680484" y="2483346"/>
            <a:ext cx="3216910" cy="6229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4604">
              <a:lnSpc>
                <a:spcPct val="100000"/>
              </a:lnSpc>
              <a:spcBef>
                <a:spcPts val="105"/>
              </a:spcBef>
            </a:pPr>
            <a:r>
              <a:rPr dirty="0" sz="1550" b="1">
                <a:solidFill>
                  <a:srgbClr val="212123"/>
                </a:solidFill>
                <a:latin typeface="Arial"/>
                <a:cs typeface="Arial"/>
              </a:rPr>
              <a:t>Treatment</a:t>
            </a:r>
            <a:r>
              <a:rPr dirty="0" sz="1550" spc="180" b="1">
                <a:solidFill>
                  <a:srgbClr val="212123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212123"/>
                </a:solidFill>
                <a:latin typeface="Arial"/>
                <a:cs typeface="Arial"/>
              </a:rPr>
              <a:t>Variable</a:t>
            </a:r>
            <a:r>
              <a:rPr dirty="0" sz="1550" spc="150" b="1">
                <a:solidFill>
                  <a:srgbClr val="212123"/>
                </a:solidFill>
                <a:latin typeface="Arial"/>
                <a:cs typeface="Arial"/>
              </a:rPr>
              <a:t> </a:t>
            </a:r>
            <a:r>
              <a:rPr dirty="0" sz="1550" spc="-10" b="1">
                <a:solidFill>
                  <a:srgbClr val="333436"/>
                </a:solidFill>
                <a:latin typeface="Arial"/>
                <a:cs typeface="Arial"/>
              </a:rPr>
              <a:t>(Intervention)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55"/>
              </a:spcBef>
            </a:pPr>
            <a:r>
              <a:rPr dirty="0" sz="1150" spc="30">
                <a:solidFill>
                  <a:srgbClr val="4F4F52"/>
                </a:solidFill>
                <a:latin typeface="Arial"/>
                <a:cs typeface="Arial"/>
              </a:rPr>
              <a:t>Se</a:t>
            </a:r>
            <a:r>
              <a:rPr dirty="0" sz="1150" spc="30">
                <a:solidFill>
                  <a:srgbClr val="212123"/>
                </a:solidFill>
                <a:latin typeface="Arial"/>
                <a:cs typeface="Arial"/>
              </a:rPr>
              <a:t>l</a:t>
            </a:r>
            <a:r>
              <a:rPr dirty="0" sz="1150" spc="30">
                <a:solidFill>
                  <a:srgbClr val="4F4F52"/>
                </a:solidFill>
                <a:latin typeface="Arial"/>
                <a:cs typeface="Arial"/>
              </a:rPr>
              <a:t>ec</a:t>
            </a:r>
            <a:r>
              <a:rPr dirty="0" sz="1150" spc="30">
                <a:solidFill>
                  <a:srgbClr val="333436"/>
                </a:solidFill>
                <a:latin typeface="Arial"/>
                <a:cs typeface="Arial"/>
              </a:rPr>
              <a:t>t</a:t>
            </a:r>
            <a:r>
              <a:rPr dirty="0" sz="1150" spc="125">
                <a:solidFill>
                  <a:srgbClr val="333436"/>
                </a:solidFill>
                <a:latin typeface="Arial"/>
                <a:cs typeface="Arial"/>
              </a:rPr>
              <a:t> </a:t>
            </a:r>
            <a:r>
              <a:rPr dirty="0" sz="1150" spc="30">
                <a:solidFill>
                  <a:srgbClr val="4F4F52"/>
                </a:solidFill>
                <a:latin typeface="Arial"/>
                <a:cs typeface="Arial"/>
              </a:rPr>
              <a:t>t</a:t>
            </a:r>
            <a:r>
              <a:rPr dirty="0" sz="1150" spc="30">
                <a:solidFill>
                  <a:srgbClr val="333436"/>
                </a:solidFill>
                <a:latin typeface="Arial"/>
                <a:cs typeface="Arial"/>
              </a:rPr>
              <a:t>h</a:t>
            </a:r>
            <a:r>
              <a:rPr dirty="0" sz="1150" spc="30">
                <a:solidFill>
                  <a:srgbClr val="4F4F52"/>
                </a:solidFill>
                <a:latin typeface="Arial"/>
                <a:cs typeface="Arial"/>
              </a:rPr>
              <a:t>e</a:t>
            </a:r>
            <a:r>
              <a:rPr dirty="0" sz="1150" spc="110">
                <a:solidFill>
                  <a:srgbClr val="4F4F52"/>
                </a:solidFill>
                <a:latin typeface="Arial"/>
                <a:cs typeface="Arial"/>
              </a:rPr>
              <a:t> </a:t>
            </a:r>
            <a:r>
              <a:rPr dirty="0" sz="1150" spc="30">
                <a:solidFill>
                  <a:srgbClr val="333436"/>
                </a:solidFill>
                <a:latin typeface="Arial"/>
                <a:cs typeface="Arial"/>
              </a:rPr>
              <a:t>tr</a:t>
            </a:r>
            <a:r>
              <a:rPr dirty="0" sz="1150" spc="30">
                <a:solidFill>
                  <a:srgbClr val="4F4F52"/>
                </a:solidFill>
                <a:latin typeface="Arial"/>
                <a:cs typeface="Arial"/>
              </a:rPr>
              <a:t>eat</a:t>
            </a:r>
            <a:r>
              <a:rPr dirty="0" sz="1150" spc="30">
                <a:solidFill>
                  <a:srgbClr val="333436"/>
                </a:solidFill>
                <a:latin typeface="Arial"/>
                <a:cs typeface="Arial"/>
              </a:rPr>
              <a:t>m</a:t>
            </a:r>
            <a:r>
              <a:rPr dirty="0" sz="1150" spc="30">
                <a:solidFill>
                  <a:srgbClr val="4F4F52"/>
                </a:solidFill>
                <a:latin typeface="Arial"/>
                <a:cs typeface="Arial"/>
              </a:rPr>
              <a:t>ent/</a:t>
            </a:r>
            <a:r>
              <a:rPr dirty="0" sz="1150" spc="30">
                <a:solidFill>
                  <a:srgbClr val="696B6E"/>
                </a:solidFill>
                <a:latin typeface="Arial"/>
                <a:cs typeface="Arial"/>
              </a:rPr>
              <a:t>i</a:t>
            </a:r>
            <a:r>
              <a:rPr dirty="0" sz="1150" spc="30">
                <a:solidFill>
                  <a:srgbClr val="333436"/>
                </a:solidFill>
                <a:latin typeface="Arial"/>
                <a:cs typeface="Arial"/>
              </a:rPr>
              <a:t>nt</a:t>
            </a:r>
            <a:r>
              <a:rPr dirty="0" sz="1150" spc="30">
                <a:solidFill>
                  <a:srgbClr val="4F4F52"/>
                </a:solidFill>
                <a:latin typeface="Arial"/>
                <a:cs typeface="Arial"/>
              </a:rPr>
              <a:t>e</a:t>
            </a:r>
            <a:r>
              <a:rPr dirty="0" sz="1150" spc="30">
                <a:solidFill>
                  <a:srgbClr val="333436"/>
                </a:solidFill>
                <a:latin typeface="Arial"/>
                <a:cs typeface="Arial"/>
              </a:rPr>
              <a:t>r</a:t>
            </a:r>
            <a:r>
              <a:rPr dirty="0" sz="1150" spc="30">
                <a:solidFill>
                  <a:srgbClr val="4F4F52"/>
                </a:solidFill>
                <a:latin typeface="Arial"/>
                <a:cs typeface="Arial"/>
              </a:rPr>
              <a:t>ve</a:t>
            </a:r>
            <a:r>
              <a:rPr dirty="0" sz="1150" spc="30">
                <a:solidFill>
                  <a:srgbClr val="333436"/>
                </a:solidFill>
                <a:latin typeface="Arial"/>
                <a:cs typeface="Arial"/>
              </a:rPr>
              <a:t>n</a:t>
            </a:r>
            <a:r>
              <a:rPr dirty="0" sz="1150" spc="30">
                <a:solidFill>
                  <a:srgbClr val="4F4F52"/>
                </a:solidFill>
                <a:latin typeface="Arial"/>
                <a:cs typeface="Arial"/>
              </a:rPr>
              <a:t>t</a:t>
            </a:r>
            <a:r>
              <a:rPr dirty="0" sz="1150" spc="30">
                <a:solidFill>
                  <a:srgbClr val="333436"/>
                </a:solidFill>
                <a:latin typeface="Arial"/>
                <a:cs typeface="Arial"/>
              </a:rPr>
              <a:t>i</a:t>
            </a:r>
            <a:r>
              <a:rPr dirty="0" sz="1150" spc="30">
                <a:solidFill>
                  <a:srgbClr val="4F4F52"/>
                </a:solidFill>
                <a:latin typeface="Arial"/>
                <a:cs typeface="Arial"/>
              </a:rPr>
              <a:t>on</a:t>
            </a:r>
            <a:r>
              <a:rPr dirty="0" sz="1150" spc="-5">
                <a:solidFill>
                  <a:srgbClr val="4F4F52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4F4F52"/>
                </a:solidFill>
                <a:latin typeface="Arial"/>
                <a:cs typeface="Arial"/>
              </a:rPr>
              <a:t>va</a:t>
            </a:r>
            <a:r>
              <a:rPr dirty="0" sz="1150" spc="-10">
                <a:solidFill>
                  <a:srgbClr val="333436"/>
                </a:solidFill>
                <a:latin typeface="Arial"/>
                <a:cs typeface="Arial"/>
              </a:rPr>
              <a:t>ri</a:t>
            </a:r>
            <a:r>
              <a:rPr dirty="0" sz="1150" spc="-10">
                <a:solidFill>
                  <a:srgbClr val="4F4F52"/>
                </a:solidFill>
                <a:latin typeface="Arial"/>
                <a:cs typeface="Arial"/>
              </a:rPr>
              <a:t>ab</a:t>
            </a:r>
            <a:r>
              <a:rPr dirty="0" sz="1150" spc="-10">
                <a:solidFill>
                  <a:srgbClr val="212123"/>
                </a:solidFill>
                <a:latin typeface="Arial"/>
                <a:cs typeface="Arial"/>
              </a:rPr>
              <a:t>l</a:t>
            </a:r>
            <a:r>
              <a:rPr dirty="0" sz="1150" spc="-10">
                <a:solidFill>
                  <a:srgbClr val="4F4F52"/>
                </a:solidFill>
                <a:latin typeface="Arial"/>
                <a:cs typeface="Arial"/>
              </a:rPr>
              <a:t>e:</a:t>
            </a:r>
            <a:endParaRPr sz="11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21790" y="3234337"/>
            <a:ext cx="1936114" cy="219710"/>
          </a:xfrm>
          <a:prstGeom prst="rect">
            <a:avLst/>
          </a:prstGeom>
          <a:solidFill>
            <a:srgbClr val="1A3B60"/>
          </a:solidFill>
        </p:spPr>
        <p:txBody>
          <a:bodyPr wrap="square" lIns="0" tIns="88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dirty="0" sz="1200" spc="-50" b="1">
                <a:solidFill>
                  <a:srgbClr val="A1BAD6"/>
                </a:solidFill>
                <a:latin typeface="Arial"/>
                <a:cs typeface="Arial"/>
              </a:rPr>
              <a:t>adhere_program_enrollment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493987" y="3283254"/>
            <a:ext cx="102235" cy="146685"/>
          </a:xfrm>
          <a:custGeom>
            <a:avLst/>
            <a:gdLst/>
            <a:ahLst/>
            <a:cxnLst/>
            <a:rect l="l" t="t" r="r" b="b"/>
            <a:pathLst>
              <a:path w="102234" h="146685">
                <a:moveTo>
                  <a:pt x="101895" y="146078"/>
                </a:moveTo>
                <a:lnTo>
                  <a:pt x="0" y="146078"/>
                </a:lnTo>
                <a:lnTo>
                  <a:pt x="0" y="0"/>
                </a:lnTo>
                <a:lnTo>
                  <a:pt x="101895" y="0"/>
                </a:lnTo>
                <a:lnTo>
                  <a:pt x="101895" y="146078"/>
                </a:lnTo>
                <a:close/>
              </a:path>
            </a:pathLst>
          </a:custGeom>
          <a:solidFill>
            <a:srgbClr val="1A3B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2481286" y="3274846"/>
            <a:ext cx="7620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50">
                <a:solidFill>
                  <a:srgbClr val="A1BAD6"/>
                </a:solidFill>
                <a:latin typeface="Times New Roman"/>
                <a:cs typeface="Times New Roman"/>
              </a:rPr>
              <a:t>v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87954" y="3661088"/>
            <a:ext cx="765175" cy="474345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280"/>
              </a:spcBef>
            </a:pPr>
            <a:r>
              <a:rPr dirty="0" sz="1150">
                <a:solidFill>
                  <a:srgbClr val="4F4F52"/>
                </a:solidFill>
                <a:latin typeface="Arial"/>
                <a:cs typeface="Arial"/>
              </a:rPr>
              <a:t>Data</a:t>
            </a:r>
            <a:r>
              <a:rPr dirty="0" sz="1150" spc="90">
                <a:solidFill>
                  <a:srgbClr val="4F4F52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4F4F52"/>
                </a:solidFill>
                <a:latin typeface="Arial"/>
                <a:cs typeface="Arial"/>
              </a:rPr>
              <a:t>Type</a:t>
            </a:r>
            <a:r>
              <a:rPr dirty="0" sz="1150" spc="-10">
                <a:solidFill>
                  <a:srgbClr val="333436"/>
                </a:solidFill>
                <a:latin typeface="Arial"/>
                <a:cs typeface="Arial"/>
              </a:rPr>
              <a:t>: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dirty="0" sz="1450" spc="-20">
                <a:solidFill>
                  <a:srgbClr val="333436"/>
                </a:solidFill>
                <a:latin typeface="Arial"/>
                <a:cs typeface="Arial"/>
              </a:rPr>
              <a:t>boo</a:t>
            </a:r>
            <a:r>
              <a:rPr dirty="0" sz="1450" spc="-20">
                <a:solidFill>
                  <a:srgbClr val="4F4F52"/>
                </a:solidFill>
                <a:latin typeface="Arial"/>
                <a:cs typeface="Arial"/>
              </a:rPr>
              <a:t>l</a:t>
            </a:r>
            <a:endParaRPr sz="14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39472" y="3650963"/>
            <a:ext cx="1109345" cy="497205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1150">
                <a:solidFill>
                  <a:srgbClr val="4F4F52"/>
                </a:solidFill>
                <a:latin typeface="Arial"/>
                <a:cs typeface="Arial"/>
              </a:rPr>
              <a:t>No</a:t>
            </a:r>
            <a:r>
              <a:rPr dirty="0" sz="1150">
                <a:solidFill>
                  <a:srgbClr val="333436"/>
                </a:solidFill>
                <a:latin typeface="Arial"/>
                <a:cs typeface="Arial"/>
              </a:rPr>
              <a:t>n</a:t>
            </a:r>
            <a:r>
              <a:rPr dirty="0" sz="1150">
                <a:solidFill>
                  <a:srgbClr val="4F4F52"/>
                </a:solidFill>
                <a:latin typeface="Arial"/>
                <a:cs typeface="Arial"/>
              </a:rPr>
              <a:t>-</a:t>
            </a:r>
            <a:r>
              <a:rPr dirty="0" sz="1150">
                <a:solidFill>
                  <a:srgbClr val="333436"/>
                </a:solidFill>
                <a:latin typeface="Arial"/>
                <a:cs typeface="Arial"/>
              </a:rPr>
              <a:t>Nu</a:t>
            </a:r>
            <a:r>
              <a:rPr dirty="0" sz="1150">
                <a:solidFill>
                  <a:srgbClr val="4F4F52"/>
                </a:solidFill>
                <a:latin typeface="Arial"/>
                <a:cs typeface="Arial"/>
              </a:rPr>
              <a:t>ll</a:t>
            </a:r>
            <a:r>
              <a:rPr dirty="0" sz="1150" spc="245">
                <a:solidFill>
                  <a:srgbClr val="4F4F52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4F4F52"/>
                </a:solidFill>
                <a:latin typeface="Arial"/>
                <a:cs typeface="Arial"/>
              </a:rPr>
              <a:t>Co</a:t>
            </a:r>
            <a:r>
              <a:rPr dirty="0" sz="1150" spc="-10">
                <a:solidFill>
                  <a:srgbClr val="333436"/>
                </a:solidFill>
                <a:latin typeface="Arial"/>
                <a:cs typeface="Arial"/>
              </a:rPr>
              <a:t>unt:</a:t>
            </a:r>
            <a:endParaRPr sz="1150">
              <a:latin typeface="Arial"/>
              <a:cs typeface="Arial"/>
            </a:endParaRPr>
          </a:p>
          <a:p>
            <a:pPr marL="18415">
              <a:lnSpc>
                <a:spcPct val="100000"/>
              </a:lnSpc>
              <a:spcBef>
                <a:spcPts val="330"/>
              </a:spcBef>
            </a:pPr>
            <a:r>
              <a:rPr dirty="0" sz="1450" spc="40">
                <a:solidFill>
                  <a:srgbClr val="333436"/>
                </a:solidFill>
                <a:latin typeface="Arial"/>
                <a:cs typeface="Arial"/>
              </a:rPr>
              <a:t>2,000</a:t>
            </a:r>
            <a:endParaRPr sz="14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802413" y="3666724"/>
            <a:ext cx="1045210" cy="46990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z="1150">
                <a:solidFill>
                  <a:srgbClr val="4F4F52"/>
                </a:solidFill>
                <a:latin typeface="Arial"/>
                <a:cs typeface="Arial"/>
              </a:rPr>
              <a:t>U</a:t>
            </a:r>
            <a:r>
              <a:rPr dirty="0" sz="1150">
                <a:solidFill>
                  <a:srgbClr val="333436"/>
                </a:solidFill>
                <a:latin typeface="Arial"/>
                <a:cs typeface="Arial"/>
              </a:rPr>
              <a:t>n</a:t>
            </a:r>
            <a:r>
              <a:rPr dirty="0" sz="1150">
                <a:solidFill>
                  <a:srgbClr val="696B6E"/>
                </a:solidFill>
                <a:latin typeface="Arial"/>
                <a:cs typeface="Arial"/>
              </a:rPr>
              <a:t>i</a:t>
            </a:r>
            <a:r>
              <a:rPr dirty="0" sz="1150">
                <a:solidFill>
                  <a:srgbClr val="4F4F52"/>
                </a:solidFill>
                <a:latin typeface="Arial"/>
                <a:cs typeface="Arial"/>
              </a:rPr>
              <a:t>q</a:t>
            </a:r>
            <a:r>
              <a:rPr dirty="0" sz="1150">
                <a:solidFill>
                  <a:srgbClr val="333436"/>
                </a:solidFill>
                <a:latin typeface="Arial"/>
                <a:cs typeface="Arial"/>
              </a:rPr>
              <a:t>u</a:t>
            </a:r>
            <a:r>
              <a:rPr dirty="0" sz="1150">
                <a:solidFill>
                  <a:srgbClr val="696B6E"/>
                </a:solidFill>
                <a:latin typeface="Arial"/>
                <a:cs typeface="Arial"/>
              </a:rPr>
              <a:t>e</a:t>
            </a:r>
            <a:r>
              <a:rPr dirty="0" sz="1150" spc="105">
                <a:solidFill>
                  <a:srgbClr val="696B6E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4F4F52"/>
                </a:solidFill>
                <a:latin typeface="Arial"/>
                <a:cs typeface="Arial"/>
              </a:rPr>
              <a:t>Va</a:t>
            </a:r>
            <a:r>
              <a:rPr dirty="0" sz="1150" spc="-10">
                <a:solidFill>
                  <a:srgbClr val="212123"/>
                </a:solidFill>
                <a:latin typeface="Arial"/>
                <a:cs typeface="Arial"/>
              </a:rPr>
              <a:t>l</a:t>
            </a:r>
            <a:r>
              <a:rPr dirty="0" sz="1150" spc="-10">
                <a:solidFill>
                  <a:srgbClr val="696B6E"/>
                </a:solidFill>
                <a:latin typeface="Arial"/>
                <a:cs typeface="Arial"/>
              </a:rPr>
              <a:t>u</a:t>
            </a:r>
            <a:r>
              <a:rPr dirty="0" sz="1150" spc="-10">
                <a:solidFill>
                  <a:srgbClr val="4F4F52"/>
                </a:solidFill>
                <a:latin typeface="Arial"/>
                <a:cs typeface="Arial"/>
              </a:rPr>
              <a:t>es</a:t>
            </a:r>
            <a:r>
              <a:rPr dirty="0" sz="1150" spc="-10">
                <a:solidFill>
                  <a:srgbClr val="333436"/>
                </a:solidFill>
                <a:latin typeface="Arial"/>
                <a:cs typeface="Arial"/>
              </a:rPr>
              <a:t>:</a:t>
            </a:r>
            <a:endParaRPr sz="1150">
              <a:latin typeface="Arial"/>
              <a:cs typeface="Arial"/>
            </a:endParaRPr>
          </a:p>
          <a:p>
            <a:pPr marL="18415">
              <a:lnSpc>
                <a:spcPct val="100000"/>
              </a:lnSpc>
              <a:spcBef>
                <a:spcPts val="180"/>
              </a:spcBef>
            </a:pPr>
            <a:r>
              <a:rPr dirty="0" sz="1500" spc="25">
                <a:solidFill>
                  <a:srgbClr val="333436"/>
                </a:solidFill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866380" y="3661088"/>
            <a:ext cx="751205" cy="474345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z="1150" spc="-10">
                <a:solidFill>
                  <a:srgbClr val="333436"/>
                </a:solidFill>
                <a:latin typeface="Arial"/>
                <a:cs typeface="Arial"/>
              </a:rPr>
              <a:t>Mi</a:t>
            </a:r>
            <a:r>
              <a:rPr dirty="0" sz="1150" spc="-10">
                <a:solidFill>
                  <a:srgbClr val="4F4F52"/>
                </a:solidFill>
                <a:latin typeface="Arial"/>
                <a:cs typeface="Arial"/>
              </a:rPr>
              <a:t>ss</a:t>
            </a:r>
            <a:r>
              <a:rPr dirty="0" sz="1150" spc="-10">
                <a:solidFill>
                  <a:srgbClr val="696B6E"/>
                </a:solidFill>
                <a:latin typeface="Arial"/>
                <a:cs typeface="Arial"/>
              </a:rPr>
              <a:t>i</a:t>
            </a:r>
            <a:r>
              <a:rPr dirty="0" sz="1150" spc="-10">
                <a:solidFill>
                  <a:srgbClr val="333436"/>
                </a:solidFill>
                <a:latin typeface="Arial"/>
                <a:cs typeface="Arial"/>
              </a:rPr>
              <a:t>ng</a:t>
            </a:r>
            <a:r>
              <a:rPr dirty="0" sz="1150" spc="-10">
                <a:solidFill>
                  <a:srgbClr val="4F4F52"/>
                </a:solidFill>
                <a:latin typeface="Arial"/>
                <a:cs typeface="Arial"/>
              </a:rPr>
              <a:t>%</a:t>
            </a:r>
            <a:r>
              <a:rPr dirty="0" sz="1150" spc="-10">
                <a:solidFill>
                  <a:srgbClr val="696B6E"/>
                </a:solidFill>
                <a:latin typeface="Arial"/>
                <a:cs typeface="Arial"/>
              </a:rPr>
              <a:t>:</a:t>
            </a:r>
            <a:endParaRPr sz="115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229"/>
              </a:spcBef>
            </a:pPr>
            <a:r>
              <a:rPr dirty="0" sz="1450" spc="-20">
                <a:solidFill>
                  <a:srgbClr val="212123"/>
                </a:solidFill>
                <a:latin typeface="Arial"/>
                <a:cs typeface="Arial"/>
              </a:rPr>
              <a:t>0.0</a:t>
            </a:r>
            <a:r>
              <a:rPr dirty="0" sz="1450" spc="-20">
                <a:solidFill>
                  <a:srgbClr val="4F4F52"/>
                </a:solidFill>
                <a:latin typeface="Arial"/>
                <a:cs typeface="Arial"/>
              </a:rPr>
              <a:t>%</a:t>
            </a:r>
            <a:endParaRPr sz="14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82656" y="4197887"/>
            <a:ext cx="4133215" cy="610235"/>
          </a:xfrm>
          <a:prstGeom prst="rect">
            <a:avLst/>
          </a:prstGeom>
        </p:spPr>
        <p:txBody>
          <a:bodyPr wrap="square" lIns="0" tIns="111760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880"/>
              </a:spcBef>
            </a:pPr>
            <a:r>
              <a:rPr dirty="0" sz="1150" spc="20">
                <a:solidFill>
                  <a:srgbClr val="696B6E"/>
                </a:solidFill>
                <a:latin typeface="Arial"/>
                <a:cs typeface="Arial"/>
              </a:rPr>
              <a:t>T</a:t>
            </a:r>
            <a:r>
              <a:rPr dirty="0" sz="1150" spc="20">
                <a:solidFill>
                  <a:srgbClr val="212123"/>
                </a:solidFill>
                <a:latin typeface="Arial"/>
                <a:cs typeface="Arial"/>
              </a:rPr>
              <a:t>r</a:t>
            </a:r>
            <a:r>
              <a:rPr dirty="0" sz="1150" spc="20">
                <a:solidFill>
                  <a:srgbClr val="4F4F52"/>
                </a:solidFill>
                <a:latin typeface="Arial"/>
                <a:cs typeface="Arial"/>
              </a:rPr>
              <a:t>eatme</a:t>
            </a:r>
            <a:r>
              <a:rPr dirty="0" sz="1150" spc="20">
                <a:solidFill>
                  <a:srgbClr val="696B6E"/>
                </a:solidFill>
                <a:latin typeface="Arial"/>
                <a:cs typeface="Arial"/>
              </a:rPr>
              <a:t>n</a:t>
            </a:r>
            <a:r>
              <a:rPr dirty="0" sz="1150" spc="20">
                <a:solidFill>
                  <a:srgbClr val="4F4F52"/>
                </a:solidFill>
                <a:latin typeface="Arial"/>
                <a:cs typeface="Arial"/>
              </a:rPr>
              <a:t>t</a:t>
            </a:r>
            <a:r>
              <a:rPr dirty="0" sz="1150" spc="155">
                <a:solidFill>
                  <a:srgbClr val="4F4F52"/>
                </a:solidFill>
                <a:latin typeface="Arial"/>
                <a:cs typeface="Arial"/>
              </a:rPr>
              <a:t> </a:t>
            </a:r>
            <a:r>
              <a:rPr dirty="0" sz="1150" spc="10">
                <a:solidFill>
                  <a:srgbClr val="4F4F52"/>
                </a:solidFill>
                <a:latin typeface="Arial"/>
                <a:cs typeface="Arial"/>
              </a:rPr>
              <a:t>Va</a:t>
            </a:r>
            <a:r>
              <a:rPr dirty="0" sz="1150" spc="10">
                <a:solidFill>
                  <a:srgbClr val="333436"/>
                </a:solidFill>
                <a:latin typeface="Arial"/>
                <a:cs typeface="Arial"/>
              </a:rPr>
              <a:t>r</a:t>
            </a:r>
            <a:r>
              <a:rPr dirty="0" sz="1150" spc="10">
                <a:solidFill>
                  <a:srgbClr val="696B6E"/>
                </a:solidFill>
                <a:latin typeface="Arial"/>
                <a:cs typeface="Arial"/>
              </a:rPr>
              <a:t>i</a:t>
            </a:r>
            <a:r>
              <a:rPr dirty="0" sz="1150" spc="10">
                <a:solidFill>
                  <a:srgbClr val="4F4F52"/>
                </a:solidFill>
                <a:latin typeface="Arial"/>
                <a:cs typeface="Arial"/>
              </a:rPr>
              <a:t>ab</a:t>
            </a:r>
            <a:r>
              <a:rPr dirty="0" sz="1150" spc="10">
                <a:solidFill>
                  <a:srgbClr val="696B6E"/>
                </a:solidFill>
                <a:latin typeface="Arial"/>
                <a:cs typeface="Arial"/>
              </a:rPr>
              <a:t>l</a:t>
            </a:r>
            <a:r>
              <a:rPr dirty="0" sz="1150" spc="10">
                <a:solidFill>
                  <a:srgbClr val="4F4F52"/>
                </a:solidFill>
                <a:latin typeface="Arial"/>
                <a:cs typeface="Arial"/>
              </a:rPr>
              <a:t>e</a:t>
            </a:r>
            <a:r>
              <a:rPr dirty="0" sz="1150" spc="40">
                <a:solidFill>
                  <a:srgbClr val="4F4F52"/>
                </a:solidFill>
                <a:latin typeface="Arial"/>
                <a:cs typeface="Arial"/>
              </a:rPr>
              <a:t> </a:t>
            </a:r>
            <a:r>
              <a:rPr dirty="0" sz="1150" spc="20">
                <a:solidFill>
                  <a:srgbClr val="4F4F52"/>
                </a:solidFill>
                <a:latin typeface="Arial"/>
                <a:cs typeface="Arial"/>
              </a:rPr>
              <a:t>D</a:t>
            </a:r>
            <a:r>
              <a:rPr dirty="0" sz="1150" spc="20">
                <a:solidFill>
                  <a:srgbClr val="333436"/>
                </a:solidFill>
                <a:latin typeface="Arial"/>
                <a:cs typeface="Arial"/>
              </a:rPr>
              <a:t>i</a:t>
            </a:r>
            <a:r>
              <a:rPr dirty="0" sz="1150" spc="20">
                <a:solidFill>
                  <a:srgbClr val="4F4F52"/>
                </a:solidFill>
                <a:latin typeface="Arial"/>
                <a:cs typeface="Arial"/>
              </a:rPr>
              <a:t>s</a:t>
            </a:r>
            <a:r>
              <a:rPr dirty="0" sz="1150" spc="20">
                <a:solidFill>
                  <a:srgbClr val="333436"/>
                </a:solidFill>
                <a:latin typeface="Arial"/>
                <a:cs typeface="Arial"/>
              </a:rPr>
              <a:t>t</a:t>
            </a:r>
            <a:r>
              <a:rPr dirty="0" sz="1150" spc="20">
                <a:solidFill>
                  <a:srgbClr val="4F4F52"/>
                </a:solidFill>
                <a:latin typeface="Arial"/>
                <a:cs typeface="Arial"/>
              </a:rPr>
              <a:t>r</a:t>
            </a:r>
            <a:r>
              <a:rPr dirty="0" sz="1150" spc="20">
                <a:solidFill>
                  <a:srgbClr val="333436"/>
                </a:solidFill>
                <a:latin typeface="Arial"/>
                <a:cs typeface="Arial"/>
              </a:rPr>
              <a:t>ib</a:t>
            </a:r>
            <a:r>
              <a:rPr dirty="0" sz="1150" spc="20">
                <a:solidFill>
                  <a:srgbClr val="4F4F52"/>
                </a:solidFill>
                <a:latin typeface="Arial"/>
                <a:cs typeface="Arial"/>
              </a:rPr>
              <a:t>ut</a:t>
            </a:r>
            <a:r>
              <a:rPr dirty="0" sz="1150" spc="20">
                <a:solidFill>
                  <a:srgbClr val="696B6E"/>
                </a:solidFill>
                <a:latin typeface="Arial"/>
                <a:cs typeface="Arial"/>
              </a:rPr>
              <a:t>i</a:t>
            </a:r>
            <a:r>
              <a:rPr dirty="0" sz="1150" spc="20">
                <a:solidFill>
                  <a:srgbClr val="4F4F52"/>
                </a:solidFill>
                <a:latin typeface="Arial"/>
                <a:cs typeface="Arial"/>
              </a:rPr>
              <a:t>o</a:t>
            </a:r>
            <a:r>
              <a:rPr dirty="0" sz="1150" spc="20">
                <a:solidFill>
                  <a:srgbClr val="212123"/>
                </a:solidFill>
                <a:latin typeface="Arial"/>
                <a:cs typeface="Arial"/>
              </a:rPr>
              <a:t>n</a:t>
            </a:r>
            <a:r>
              <a:rPr dirty="0" sz="1150" spc="20">
                <a:solidFill>
                  <a:srgbClr val="4F4F52"/>
                </a:solidFill>
                <a:latin typeface="Arial"/>
                <a:cs typeface="Arial"/>
              </a:rPr>
              <a:t>:</a:t>
            </a:r>
            <a:r>
              <a:rPr dirty="0" sz="1150" spc="-15">
                <a:solidFill>
                  <a:srgbClr val="4F4F52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4F4F52"/>
                </a:solidFill>
                <a:latin typeface="Arial"/>
                <a:cs typeface="Arial"/>
              </a:rPr>
              <a:t>ad</a:t>
            </a:r>
            <a:r>
              <a:rPr dirty="0" sz="1150" spc="-10">
                <a:solidFill>
                  <a:srgbClr val="333436"/>
                </a:solidFill>
                <a:latin typeface="Arial"/>
                <a:cs typeface="Arial"/>
              </a:rPr>
              <a:t>h</a:t>
            </a:r>
            <a:r>
              <a:rPr dirty="0" sz="1150" spc="-10">
                <a:solidFill>
                  <a:srgbClr val="4F4F52"/>
                </a:solidFill>
                <a:latin typeface="Arial"/>
                <a:cs typeface="Arial"/>
              </a:rPr>
              <a:t>e</a:t>
            </a:r>
            <a:r>
              <a:rPr dirty="0" sz="1150" spc="-10">
                <a:solidFill>
                  <a:srgbClr val="696B6E"/>
                </a:solidFill>
                <a:latin typeface="Arial"/>
                <a:cs typeface="Arial"/>
              </a:rPr>
              <a:t>re</a:t>
            </a:r>
            <a:r>
              <a:rPr dirty="0" sz="1150" spc="-10">
                <a:solidFill>
                  <a:srgbClr val="4F4F52"/>
                </a:solidFill>
                <a:latin typeface="Arial"/>
                <a:cs typeface="Arial"/>
              </a:rPr>
              <a:t>_</a:t>
            </a:r>
            <a:r>
              <a:rPr dirty="0" sz="1150" spc="-10">
                <a:solidFill>
                  <a:srgbClr val="333436"/>
                </a:solidFill>
                <a:latin typeface="Arial"/>
                <a:cs typeface="Arial"/>
              </a:rPr>
              <a:t>p</a:t>
            </a:r>
            <a:r>
              <a:rPr dirty="0" sz="1150" spc="-10">
                <a:solidFill>
                  <a:srgbClr val="4F4F52"/>
                </a:solidFill>
                <a:latin typeface="Arial"/>
                <a:cs typeface="Arial"/>
              </a:rPr>
              <a:t>rogra</a:t>
            </a:r>
            <a:r>
              <a:rPr dirty="0" sz="1150" spc="-10">
                <a:solidFill>
                  <a:srgbClr val="333436"/>
                </a:solidFill>
                <a:latin typeface="Arial"/>
                <a:cs typeface="Arial"/>
              </a:rPr>
              <a:t>m</a:t>
            </a:r>
            <a:r>
              <a:rPr dirty="0" sz="1150" spc="-10">
                <a:solidFill>
                  <a:srgbClr val="696B6E"/>
                </a:solidFill>
                <a:latin typeface="Arial"/>
                <a:cs typeface="Arial"/>
              </a:rPr>
              <a:t>_</a:t>
            </a:r>
            <a:r>
              <a:rPr dirty="0" sz="1150" spc="-10">
                <a:solidFill>
                  <a:srgbClr val="4F4F52"/>
                </a:solidFill>
                <a:latin typeface="Arial"/>
                <a:cs typeface="Arial"/>
              </a:rPr>
              <a:t>enrollme</a:t>
            </a:r>
            <a:r>
              <a:rPr dirty="0" sz="1150" spc="-10">
                <a:solidFill>
                  <a:srgbClr val="696B6E"/>
                </a:solidFill>
                <a:latin typeface="Arial"/>
                <a:cs typeface="Arial"/>
              </a:rPr>
              <a:t>nt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dirty="0" sz="1300" spc="-25">
                <a:solidFill>
                  <a:srgbClr val="7B8087"/>
                </a:solidFill>
                <a:latin typeface="Courier New"/>
                <a:cs typeface="Courier New"/>
              </a:rPr>
              <a:t>40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08725" y="5183385"/>
            <a:ext cx="186055" cy="755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25">
                <a:solidFill>
                  <a:srgbClr val="696B6E"/>
                </a:solidFill>
                <a:latin typeface="Arial"/>
                <a:cs typeface="Arial"/>
              </a:rPr>
              <a:t>20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1100">
              <a:latin typeface="Arial"/>
              <a:cs typeface="Arial"/>
            </a:endParaRPr>
          </a:p>
          <a:p>
            <a:pPr marL="86995">
              <a:lnSpc>
                <a:spcPct val="100000"/>
              </a:lnSpc>
            </a:pPr>
            <a:r>
              <a:rPr dirty="0" sz="1100" spc="-50">
                <a:solidFill>
                  <a:srgbClr val="696B6E"/>
                </a:solidFill>
                <a:latin typeface="Arial"/>
                <a:cs typeface="Arial"/>
              </a:rPr>
              <a:t>0</a:t>
            </a:r>
            <a:endParaRPr sz="11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748311" y="5898290"/>
            <a:ext cx="288925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 spc="-40" b="1">
                <a:solidFill>
                  <a:srgbClr val="696B6E"/>
                </a:solidFill>
                <a:latin typeface="Arial"/>
                <a:cs typeface="Arial"/>
              </a:rPr>
              <a:t>tr</a:t>
            </a:r>
            <a:r>
              <a:rPr dirty="0" sz="1200" spc="-40" b="1">
                <a:solidFill>
                  <a:srgbClr val="7B8087"/>
                </a:solidFill>
                <a:latin typeface="Arial"/>
                <a:cs typeface="Arial"/>
              </a:rPr>
              <a:t>ue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532161" y="5904673"/>
            <a:ext cx="348615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spc="-10">
                <a:solidFill>
                  <a:srgbClr val="696B6E"/>
                </a:solidFill>
                <a:latin typeface="Arial"/>
                <a:cs typeface="Arial"/>
              </a:rPr>
              <a:t>f</a:t>
            </a:r>
            <a:r>
              <a:rPr dirty="0" sz="1150" spc="-10">
                <a:solidFill>
                  <a:srgbClr val="7B8087"/>
                </a:solidFill>
                <a:latin typeface="Arial"/>
                <a:cs typeface="Arial"/>
              </a:rPr>
              <a:t>alse</a:t>
            </a:r>
            <a:endParaRPr sz="11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80484" y="6619577"/>
            <a:ext cx="1983105" cy="6102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495">
              <a:lnSpc>
                <a:spcPct val="100000"/>
              </a:lnSpc>
              <a:spcBef>
                <a:spcPts val="105"/>
              </a:spcBef>
            </a:pPr>
            <a:r>
              <a:rPr dirty="0" sz="1550" b="1">
                <a:solidFill>
                  <a:srgbClr val="212123"/>
                </a:solidFill>
                <a:latin typeface="Arial"/>
                <a:cs typeface="Arial"/>
              </a:rPr>
              <a:t>Outcome</a:t>
            </a:r>
            <a:r>
              <a:rPr dirty="0" sz="1550" spc="85" b="1">
                <a:solidFill>
                  <a:srgbClr val="212123"/>
                </a:solidFill>
                <a:latin typeface="Arial"/>
                <a:cs typeface="Arial"/>
              </a:rPr>
              <a:t> </a:t>
            </a:r>
            <a:r>
              <a:rPr dirty="0" sz="1550" spc="-10" b="1">
                <a:solidFill>
                  <a:srgbClr val="212123"/>
                </a:solidFill>
                <a:latin typeface="Arial"/>
                <a:cs typeface="Arial"/>
              </a:rPr>
              <a:t>Variable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55"/>
              </a:spcBef>
            </a:pPr>
            <a:r>
              <a:rPr dirty="0" sz="1150">
                <a:solidFill>
                  <a:srgbClr val="4F4F52"/>
                </a:solidFill>
                <a:latin typeface="Arial"/>
                <a:cs typeface="Arial"/>
              </a:rPr>
              <a:t>Se</a:t>
            </a:r>
            <a:r>
              <a:rPr dirty="0" sz="1150">
                <a:solidFill>
                  <a:srgbClr val="212123"/>
                </a:solidFill>
                <a:latin typeface="Arial"/>
                <a:cs typeface="Arial"/>
              </a:rPr>
              <a:t>l</a:t>
            </a:r>
            <a:r>
              <a:rPr dirty="0" sz="1150">
                <a:solidFill>
                  <a:srgbClr val="4F4F52"/>
                </a:solidFill>
                <a:latin typeface="Arial"/>
                <a:cs typeface="Arial"/>
              </a:rPr>
              <a:t>ec</a:t>
            </a:r>
            <a:r>
              <a:rPr dirty="0" sz="1150">
                <a:solidFill>
                  <a:srgbClr val="333436"/>
                </a:solidFill>
                <a:latin typeface="Arial"/>
                <a:cs typeface="Arial"/>
              </a:rPr>
              <a:t>t</a:t>
            </a:r>
            <a:r>
              <a:rPr dirty="0" sz="1150" spc="220">
                <a:solidFill>
                  <a:srgbClr val="333436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4F4F52"/>
                </a:solidFill>
                <a:latin typeface="Arial"/>
                <a:cs typeface="Arial"/>
              </a:rPr>
              <a:t>the</a:t>
            </a:r>
            <a:r>
              <a:rPr dirty="0" sz="1150" spc="270">
                <a:solidFill>
                  <a:srgbClr val="4F4F52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4F4F52"/>
                </a:solidFill>
                <a:latin typeface="Arial"/>
                <a:cs typeface="Arial"/>
              </a:rPr>
              <a:t>outcome</a:t>
            </a:r>
            <a:r>
              <a:rPr dirty="0" sz="1150" spc="130">
                <a:solidFill>
                  <a:srgbClr val="4F4F52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4F4F52"/>
                </a:solidFill>
                <a:latin typeface="Arial"/>
                <a:cs typeface="Arial"/>
              </a:rPr>
              <a:t>va</a:t>
            </a:r>
            <a:r>
              <a:rPr dirty="0" sz="1150" spc="-10">
                <a:solidFill>
                  <a:srgbClr val="696B6E"/>
                </a:solidFill>
                <a:latin typeface="Arial"/>
                <a:cs typeface="Arial"/>
              </a:rPr>
              <a:t>ri</a:t>
            </a:r>
            <a:r>
              <a:rPr dirty="0" sz="1150" spc="-10">
                <a:solidFill>
                  <a:srgbClr val="4F4F52"/>
                </a:solidFill>
                <a:latin typeface="Arial"/>
                <a:cs typeface="Arial"/>
              </a:rPr>
              <a:t>a</a:t>
            </a:r>
            <a:r>
              <a:rPr dirty="0" sz="1150" spc="-10">
                <a:solidFill>
                  <a:srgbClr val="333436"/>
                </a:solidFill>
                <a:latin typeface="Arial"/>
                <a:cs typeface="Arial"/>
              </a:rPr>
              <a:t>bl</a:t>
            </a:r>
            <a:r>
              <a:rPr dirty="0" sz="1150" spc="-10">
                <a:solidFill>
                  <a:srgbClr val="4F4F52"/>
                </a:solidFill>
                <a:latin typeface="Arial"/>
                <a:cs typeface="Arial"/>
              </a:rPr>
              <a:t>e:</a:t>
            </a:r>
            <a:endParaRPr sz="11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561976" y="4455715"/>
            <a:ext cx="105410" cy="3016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u="heavy" sz="1800" spc="-50">
                <a:solidFill>
                  <a:srgbClr val="283A4F"/>
                </a:solidFill>
                <a:uFill>
                  <a:solidFill>
                    <a:srgbClr val="283A4F"/>
                  </a:solidFill>
                </a:uFill>
                <a:latin typeface="Times New Roman"/>
                <a:cs typeface="Times New Roman"/>
              </a:rPr>
              <a:t>(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816134" y="7357800"/>
            <a:ext cx="299085" cy="219710"/>
          </a:xfrm>
          <a:custGeom>
            <a:avLst/>
            <a:gdLst/>
            <a:ahLst/>
            <a:cxnLst/>
            <a:rect l="l" t="t" r="r" b="b"/>
            <a:pathLst>
              <a:path w="299085" h="219709">
                <a:moveTo>
                  <a:pt x="298854" y="219393"/>
                </a:moveTo>
                <a:lnTo>
                  <a:pt x="0" y="219393"/>
                </a:lnTo>
                <a:lnTo>
                  <a:pt x="0" y="0"/>
                </a:lnTo>
                <a:lnTo>
                  <a:pt x="298854" y="0"/>
                </a:lnTo>
                <a:lnTo>
                  <a:pt x="298854" y="219393"/>
                </a:lnTo>
                <a:close/>
              </a:path>
            </a:pathLst>
          </a:custGeom>
          <a:solidFill>
            <a:srgbClr val="1A3B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4803434" y="7353630"/>
            <a:ext cx="781685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 spc="-50" b="1">
                <a:solidFill>
                  <a:srgbClr val="B8D3ED"/>
                </a:solidFill>
                <a:latin typeface="Arial"/>
                <a:cs typeface="Arial"/>
              </a:rPr>
              <a:t>PDC</a:t>
            </a:r>
            <a:r>
              <a:rPr dirty="0" sz="1200" spc="-50" b="1">
                <a:solidFill>
                  <a:srgbClr val="89A3C1"/>
                </a:solidFill>
                <a:latin typeface="Arial"/>
                <a:cs typeface="Arial"/>
              </a:rPr>
              <a:t>_score</a:t>
            </a:r>
            <a:endParaRPr sz="12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2493878" y="7393447"/>
            <a:ext cx="102235" cy="163830"/>
          </a:xfrm>
          <a:custGeom>
            <a:avLst/>
            <a:gdLst/>
            <a:ahLst/>
            <a:cxnLst/>
            <a:rect l="l" t="t" r="r" b="b"/>
            <a:pathLst>
              <a:path w="102234" h="163829">
                <a:moveTo>
                  <a:pt x="101895" y="163263"/>
                </a:moveTo>
                <a:lnTo>
                  <a:pt x="0" y="163263"/>
                </a:lnTo>
                <a:lnTo>
                  <a:pt x="0" y="0"/>
                </a:lnTo>
                <a:lnTo>
                  <a:pt x="101895" y="0"/>
                </a:lnTo>
                <a:lnTo>
                  <a:pt x="101895" y="163263"/>
                </a:lnTo>
                <a:close/>
              </a:path>
            </a:pathLst>
          </a:custGeom>
          <a:solidFill>
            <a:srgbClr val="1A3B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12481176" y="7385545"/>
            <a:ext cx="81280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50">
                <a:solidFill>
                  <a:srgbClr val="B8D3ED"/>
                </a:solidFill>
                <a:latin typeface="Times New Roman"/>
                <a:cs typeface="Times New Roman"/>
              </a:rPr>
              <a:t>v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/>
              <a:t>Isl\</a:t>
            </a:r>
            <a:r>
              <a:rPr dirty="0" sz="1300" spc="-45"/>
              <a:t> </a:t>
            </a:r>
            <a:r>
              <a:rPr dirty="0" spc="-10">
                <a:solidFill>
                  <a:srgbClr val="13161A"/>
                </a:solidFill>
              </a:rPr>
              <a:t>N</a:t>
            </a:r>
            <a:r>
              <a:rPr dirty="0" spc="-10"/>
              <a:t>otebookL</a:t>
            </a:r>
            <a:r>
              <a:rPr dirty="0" spc="-10">
                <a:solidFill>
                  <a:srgbClr val="13161A"/>
                </a:solidFill>
              </a:rPr>
              <a:t>M</a:t>
            </a:r>
            <a:endParaRPr sz="1300"/>
          </a:p>
        </p:txBody>
      </p:sp>
      <p:sp>
        <p:nvSpPr>
          <p:cNvPr id="27" name="object 27"/>
          <p:cNvSpPr txBox="1"/>
          <p:nvPr/>
        </p:nvSpPr>
        <p:spPr>
          <a:xfrm>
            <a:off x="12698745" y="4072730"/>
            <a:ext cx="3406140" cy="111823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911860">
              <a:lnSpc>
                <a:spcPts val="2135"/>
              </a:lnSpc>
              <a:spcBef>
                <a:spcPts val="110"/>
              </a:spcBef>
            </a:pPr>
            <a:r>
              <a:rPr dirty="0" sz="1800">
                <a:solidFill>
                  <a:srgbClr val="333436"/>
                </a:solidFill>
                <a:latin typeface="Arial"/>
                <a:cs typeface="Arial"/>
              </a:rPr>
              <a:t>Data</a:t>
            </a:r>
            <a:r>
              <a:rPr dirty="0" sz="1800" spc="90">
                <a:solidFill>
                  <a:srgbClr val="33343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12123"/>
                </a:solidFill>
                <a:latin typeface="Arial"/>
                <a:cs typeface="Arial"/>
              </a:rPr>
              <a:t>Preparation</a:t>
            </a:r>
            <a:r>
              <a:rPr dirty="0" sz="1800" spc="380">
                <a:solidFill>
                  <a:srgbClr val="212123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212123"/>
                </a:solidFill>
                <a:latin typeface="Arial"/>
                <a:cs typeface="Arial"/>
              </a:rPr>
              <a:t>Agent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35"/>
              </a:lnSpc>
              <a:tabLst>
                <a:tab pos="785495" algn="l"/>
                <a:tab pos="921385" algn="l"/>
              </a:tabLst>
            </a:pPr>
            <a:r>
              <a:rPr dirty="0" u="heavy" sz="1800">
                <a:solidFill>
                  <a:srgbClr val="333436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dirty="0" u="none" sz="1800">
                <a:solidFill>
                  <a:srgbClr val="333436"/>
                </a:solidFill>
                <a:latin typeface="Arial"/>
                <a:cs typeface="Arial"/>
              </a:rPr>
              <a:t>	automatically</a:t>
            </a:r>
            <a:r>
              <a:rPr dirty="0" u="none" sz="1800" spc="10">
                <a:solidFill>
                  <a:srgbClr val="333436"/>
                </a:solidFill>
                <a:latin typeface="Arial"/>
                <a:cs typeface="Arial"/>
              </a:rPr>
              <a:t>  </a:t>
            </a:r>
            <a:r>
              <a:rPr dirty="0" u="none" sz="1800" spc="-10">
                <a:solidFill>
                  <a:srgbClr val="333436"/>
                </a:solidFill>
                <a:latin typeface="Arial"/>
                <a:cs typeface="Arial"/>
              </a:rPr>
              <a:t>identifies</a:t>
            </a:r>
            <a:endParaRPr sz="1800">
              <a:latin typeface="Arial"/>
              <a:cs typeface="Arial"/>
            </a:endParaRPr>
          </a:p>
          <a:p>
            <a:pPr marL="921385" marR="255904" indent="-7620">
              <a:lnSpc>
                <a:spcPts val="2110"/>
              </a:lnSpc>
              <a:spcBef>
                <a:spcPts val="160"/>
              </a:spcBef>
            </a:pPr>
            <a:r>
              <a:rPr dirty="0" sz="1800">
                <a:solidFill>
                  <a:srgbClr val="333436"/>
                </a:solidFill>
                <a:latin typeface="Arial"/>
                <a:cs typeface="Arial"/>
              </a:rPr>
              <a:t>variables</a:t>
            </a:r>
            <a:r>
              <a:rPr dirty="0" sz="1800" spc="80">
                <a:solidFill>
                  <a:srgbClr val="333436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212123"/>
                </a:solidFill>
                <a:latin typeface="Arial"/>
                <a:cs typeface="Arial"/>
              </a:rPr>
              <a:t>and</a:t>
            </a:r>
            <a:r>
              <a:rPr dirty="0" sz="1800" spc="25">
                <a:solidFill>
                  <a:srgbClr val="212123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333436"/>
                </a:solidFill>
                <a:latin typeface="Arial"/>
                <a:cs typeface="Arial"/>
              </a:rPr>
              <a:t>checks </a:t>
            </a:r>
            <a:r>
              <a:rPr dirty="0" sz="1800" spc="-10">
                <a:solidFill>
                  <a:srgbClr val="333436"/>
                </a:solidFill>
                <a:latin typeface="Arial"/>
                <a:cs typeface="Arial"/>
              </a:rPr>
              <a:t>qua</a:t>
            </a:r>
            <a:r>
              <a:rPr dirty="0" sz="1800" spc="-10">
                <a:solidFill>
                  <a:srgbClr val="010101"/>
                </a:solidFill>
                <a:latin typeface="Arial"/>
                <a:cs typeface="Arial"/>
              </a:rPr>
              <a:t>l</a:t>
            </a:r>
            <a:r>
              <a:rPr dirty="0" sz="1800" spc="-10">
                <a:solidFill>
                  <a:srgbClr val="333436"/>
                </a:solidFill>
                <a:latin typeface="Arial"/>
                <a:cs typeface="Arial"/>
              </a:rPr>
              <a:t>ity.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685574" y="7774428"/>
            <a:ext cx="767715" cy="497205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360"/>
              </a:spcBef>
            </a:pPr>
            <a:r>
              <a:rPr dirty="0" sz="1150">
                <a:solidFill>
                  <a:srgbClr val="4F4F52"/>
                </a:solidFill>
                <a:latin typeface="Arial"/>
                <a:cs typeface="Arial"/>
              </a:rPr>
              <a:t>Data</a:t>
            </a:r>
            <a:r>
              <a:rPr dirty="0" sz="1150" spc="90">
                <a:solidFill>
                  <a:srgbClr val="4F4F52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4F4F52"/>
                </a:solidFill>
                <a:latin typeface="Arial"/>
                <a:cs typeface="Arial"/>
              </a:rPr>
              <a:t>Type</a:t>
            </a:r>
            <a:r>
              <a:rPr dirty="0" sz="1150" spc="-10">
                <a:solidFill>
                  <a:srgbClr val="333436"/>
                </a:solidFill>
                <a:latin typeface="Arial"/>
                <a:cs typeface="Arial"/>
              </a:rPr>
              <a:t>: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450" spc="60">
                <a:solidFill>
                  <a:srgbClr val="212123"/>
                </a:solidFill>
                <a:latin typeface="Arial"/>
                <a:cs typeface="Arial"/>
              </a:rPr>
              <a:t>fioat64</a:t>
            </a:r>
            <a:endParaRPr sz="14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739472" y="7774428"/>
            <a:ext cx="1122045" cy="497205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1150">
                <a:solidFill>
                  <a:srgbClr val="333436"/>
                </a:solidFill>
                <a:latin typeface="Arial"/>
                <a:cs typeface="Arial"/>
              </a:rPr>
              <a:t>N</a:t>
            </a:r>
            <a:r>
              <a:rPr dirty="0" sz="1150">
                <a:solidFill>
                  <a:srgbClr val="4F4F52"/>
                </a:solidFill>
                <a:latin typeface="Arial"/>
                <a:cs typeface="Arial"/>
              </a:rPr>
              <a:t>o</a:t>
            </a:r>
            <a:r>
              <a:rPr dirty="0" sz="1150">
                <a:solidFill>
                  <a:srgbClr val="333436"/>
                </a:solidFill>
                <a:latin typeface="Arial"/>
                <a:cs typeface="Arial"/>
              </a:rPr>
              <a:t>n</a:t>
            </a:r>
            <a:r>
              <a:rPr dirty="0" sz="1150">
                <a:solidFill>
                  <a:srgbClr val="4F4F52"/>
                </a:solidFill>
                <a:latin typeface="Arial"/>
                <a:cs typeface="Arial"/>
              </a:rPr>
              <a:t>-</a:t>
            </a:r>
            <a:r>
              <a:rPr dirty="0" sz="1150">
                <a:solidFill>
                  <a:srgbClr val="333436"/>
                </a:solidFill>
                <a:latin typeface="Arial"/>
                <a:cs typeface="Arial"/>
              </a:rPr>
              <a:t>Nu</a:t>
            </a:r>
            <a:r>
              <a:rPr dirty="0" sz="1150">
                <a:solidFill>
                  <a:srgbClr val="4F4F52"/>
                </a:solidFill>
                <a:latin typeface="Arial"/>
                <a:cs typeface="Arial"/>
              </a:rPr>
              <a:t>ll</a:t>
            </a:r>
            <a:r>
              <a:rPr dirty="0" sz="1150" spc="245">
                <a:solidFill>
                  <a:srgbClr val="4F4F52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333436"/>
                </a:solidFill>
                <a:latin typeface="Arial"/>
                <a:cs typeface="Arial"/>
              </a:rPr>
              <a:t>C</a:t>
            </a:r>
            <a:r>
              <a:rPr dirty="0" sz="1150" spc="-10">
                <a:solidFill>
                  <a:srgbClr val="4F4F52"/>
                </a:solidFill>
                <a:latin typeface="Arial"/>
                <a:cs typeface="Arial"/>
              </a:rPr>
              <a:t>o</a:t>
            </a:r>
            <a:r>
              <a:rPr dirty="0" sz="1150" spc="-10">
                <a:solidFill>
                  <a:srgbClr val="333436"/>
                </a:solidFill>
                <a:latin typeface="Arial"/>
                <a:cs typeface="Arial"/>
              </a:rPr>
              <a:t>u</a:t>
            </a:r>
            <a:r>
              <a:rPr dirty="0" sz="1150" spc="-10">
                <a:solidFill>
                  <a:srgbClr val="4F4F52"/>
                </a:solidFill>
                <a:latin typeface="Arial"/>
                <a:cs typeface="Arial"/>
              </a:rPr>
              <a:t>n</a:t>
            </a:r>
            <a:r>
              <a:rPr dirty="0" sz="1150" spc="-10">
                <a:solidFill>
                  <a:srgbClr val="333436"/>
                </a:solidFill>
                <a:latin typeface="Arial"/>
                <a:cs typeface="Arial"/>
              </a:rPr>
              <a:t>t:</a:t>
            </a:r>
            <a:endParaRPr sz="1150">
              <a:latin typeface="Arial"/>
              <a:cs typeface="Arial"/>
            </a:endParaRPr>
          </a:p>
          <a:p>
            <a:pPr marL="18415">
              <a:lnSpc>
                <a:spcPct val="100000"/>
              </a:lnSpc>
              <a:spcBef>
                <a:spcPts val="330"/>
              </a:spcBef>
            </a:pPr>
            <a:r>
              <a:rPr dirty="0" sz="1450" spc="-10">
                <a:solidFill>
                  <a:srgbClr val="333436"/>
                </a:solidFill>
                <a:latin typeface="Arial"/>
                <a:cs typeface="Arial"/>
              </a:rPr>
              <a:t>2</a:t>
            </a:r>
            <a:r>
              <a:rPr dirty="0" sz="1450" spc="-10">
                <a:solidFill>
                  <a:srgbClr val="4F4F52"/>
                </a:solidFill>
                <a:latin typeface="Arial"/>
                <a:cs typeface="Arial"/>
              </a:rPr>
              <a:t>,</a:t>
            </a:r>
            <a:r>
              <a:rPr dirty="0" sz="1450" spc="-10">
                <a:solidFill>
                  <a:srgbClr val="333436"/>
                </a:solidFill>
                <a:latin typeface="Arial"/>
                <a:cs typeface="Arial"/>
              </a:rPr>
              <a:t>000</a:t>
            </a:r>
            <a:endParaRPr sz="14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794038" y="7774428"/>
            <a:ext cx="1053465" cy="497205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20955">
              <a:lnSpc>
                <a:spcPct val="100000"/>
              </a:lnSpc>
              <a:spcBef>
                <a:spcPts val="360"/>
              </a:spcBef>
            </a:pPr>
            <a:r>
              <a:rPr dirty="0" sz="1150">
                <a:solidFill>
                  <a:srgbClr val="4F4F52"/>
                </a:solidFill>
                <a:latin typeface="Arial"/>
                <a:cs typeface="Arial"/>
              </a:rPr>
              <a:t>Un</a:t>
            </a:r>
            <a:r>
              <a:rPr dirty="0" sz="1150">
                <a:solidFill>
                  <a:srgbClr val="696B6E"/>
                </a:solidFill>
                <a:latin typeface="Arial"/>
                <a:cs typeface="Arial"/>
              </a:rPr>
              <a:t>i</a:t>
            </a:r>
            <a:r>
              <a:rPr dirty="0" sz="1150">
                <a:solidFill>
                  <a:srgbClr val="333436"/>
                </a:solidFill>
                <a:latin typeface="Arial"/>
                <a:cs typeface="Arial"/>
              </a:rPr>
              <a:t>qu</a:t>
            </a:r>
            <a:r>
              <a:rPr dirty="0" sz="1150">
                <a:solidFill>
                  <a:srgbClr val="4F4F52"/>
                </a:solidFill>
                <a:latin typeface="Arial"/>
                <a:cs typeface="Arial"/>
              </a:rPr>
              <a:t>e</a:t>
            </a:r>
            <a:r>
              <a:rPr dirty="0" sz="1150" spc="105">
                <a:solidFill>
                  <a:srgbClr val="4F4F52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4F4F52"/>
                </a:solidFill>
                <a:latin typeface="Arial"/>
                <a:cs typeface="Arial"/>
              </a:rPr>
              <a:t>Va</a:t>
            </a:r>
            <a:r>
              <a:rPr dirty="0" sz="1150" spc="-10">
                <a:solidFill>
                  <a:srgbClr val="212123"/>
                </a:solidFill>
                <a:latin typeface="Arial"/>
                <a:cs typeface="Arial"/>
              </a:rPr>
              <a:t>l</a:t>
            </a:r>
            <a:r>
              <a:rPr dirty="0" sz="1150" spc="-10">
                <a:solidFill>
                  <a:srgbClr val="4F4F52"/>
                </a:solidFill>
                <a:latin typeface="Arial"/>
                <a:cs typeface="Arial"/>
              </a:rPr>
              <a:t>ues</a:t>
            </a:r>
            <a:r>
              <a:rPr dirty="0" sz="1150" spc="-10">
                <a:solidFill>
                  <a:srgbClr val="333436"/>
                </a:solidFill>
                <a:latin typeface="Arial"/>
                <a:cs typeface="Arial"/>
              </a:rPr>
              <a:t>: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450" spc="-10">
                <a:solidFill>
                  <a:srgbClr val="212123"/>
                </a:solidFill>
                <a:latin typeface="Arial"/>
                <a:cs typeface="Arial"/>
              </a:rPr>
              <a:t>1</a:t>
            </a:r>
            <a:r>
              <a:rPr dirty="0" sz="1450" spc="-10">
                <a:solidFill>
                  <a:srgbClr val="4F4F52"/>
                </a:solidFill>
                <a:latin typeface="Arial"/>
                <a:cs typeface="Arial"/>
              </a:rPr>
              <a:t>,</a:t>
            </a:r>
            <a:r>
              <a:rPr dirty="0" sz="1450" spc="-10">
                <a:solidFill>
                  <a:srgbClr val="333436"/>
                </a:solidFill>
                <a:latin typeface="Arial"/>
                <a:cs typeface="Arial"/>
              </a:rPr>
              <a:t>9</a:t>
            </a:r>
            <a:r>
              <a:rPr dirty="0" sz="1450" spc="-10">
                <a:solidFill>
                  <a:srgbClr val="4F4F52"/>
                </a:solidFill>
                <a:latin typeface="Arial"/>
                <a:cs typeface="Arial"/>
              </a:rPr>
              <a:t>9</a:t>
            </a:r>
            <a:r>
              <a:rPr dirty="0" sz="1450" spc="-10">
                <a:solidFill>
                  <a:srgbClr val="333436"/>
                </a:solidFill>
                <a:latin typeface="Arial"/>
                <a:cs typeface="Arial"/>
              </a:rPr>
              <a:t>2</a:t>
            </a:r>
            <a:endParaRPr sz="14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866061" y="7761045"/>
            <a:ext cx="763270" cy="510540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dirty="0" sz="1250" spc="-45" b="1">
                <a:solidFill>
                  <a:srgbClr val="333436"/>
                </a:solidFill>
                <a:latin typeface="Arial"/>
                <a:cs typeface="Arial"/>
              </a:rPr>
              <a:t>Mi</a:t>
            </a:r>
            <a:r>
              <a:rPr dirty="0" sz="1250" spc="-45" b="1">
                <a:solidFill>
                  <a:srgbClr val="4F4F52"/>
                </a:solidFill>
                <a:latin typeface="Arial"/>
                <a:cs typeface="Arial"/>
              </a:rPr>
              <a:t>ss</a:t>
            </a:r>
            <a:r>
              <a:rPr dirty="0" sz="1250" spc="-45" b="1">
                <a:solidFill>
                  <a:srgbClr val="696B6E"/>
                </a:solidFill>
                <a:latin typeface="Arial"/>
                <a:cs typeface="Arial"/>
              </a:rPr>
              <a:t>i</a:t>
            </a:r>
            <a:r>
              <a:rPr dirty="0" sz="1250" spc="-45" b="1">
                <a:solidFill>
                  <a:srgbClr val="333436"/>
                </a:solidFill>
                <a:latin typeface="Arial"/>
                <a:cs typeface="Arial"/>
              </a:rPr>
              <a:t>ng</a:t>
            </a:r>
            <a:r>
              <a:rPr dirty="0" sz="1250" spc="-45" b="1">
                <a:solidFill>
                  <a:srgbClr val="4F4F52"/>
                </a:solidFill>
                <a:latin typeface="Arial"/>
                <a:cs typeface="Arial"/>
              </a:rPr>
              <a:t>%:</a:t>
            </a:r>
            <a:endParaRPr sz="125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310"/>
              </a:spcBef>
            </a:pPr>
            <a:r>
              <a:rPr dirty="0" sz="1450" spc="-20">
                <a:solidFill>
                  <a:srgbClr val="333436"/>
                </a:solidFill>
                <a:latin typeface="Arial"/>
                <a:cs typeface="Arial"/>
              </a:rPr>
              <a:t>0.0%</a:t>
            </a:r>
            <a:endParaRPr sz="14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699923" y="8425918"/>
            <a:ext cx="8037195" cy="421640"/>
          </a:xfrm>
          <a:prstGeom prst="rect">
            <a:avLst/>
          </a:prstGeom>
          <a:ln w="12736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1430">
              <a:lnSpc>
                <a:spcPts val="2590"/>
              </a:lnSpc>
              <a:tabLst>
                <a:tab pos="454659" algn="l"/>
              </a:tabLst>
            </a:pPr>
            <a:r>
              <a:rPr dirty="0" sz="2400" spc="-50" b="1">
                <a:solidFill>
                  <a:srgbClr val="18914B"/>
                </a:solidFill>
                <a:latin typeface="Arial"/>
                <a:cs typeface="Arial"/>
              </a:rPr>
              <a:t>0</a:t>
            </a:r>
            <a:r>
              <a:rPr dirty="0" sz="2400" b="1">
                <a:solidFill>
                  <a:srgbClr val="18914B"/>
                </a:solidFill>
                <a:latin typeface="Arial"/>
                <a:cs typeface="Arial"/>
              </a:rPr>
              <a:t>	</a:t>
            </a:r>
            <a:r>
              <a:rPr dirty="0" sz="1150">
                <a:solidFill>
                  <a:srgbClr val="6B8E77"/>
                </a:solidFill>
                <a:latin typeface="Arial"/>
                <a:cs typeface="Arial"/>
              </a:rPr>
              <a:t>T</a:t>
            </a:r>
            <a:r>
              <a:rPr dirty="0" sz="1150">
                <a:solidFill>
                  <a:srgbClr val="4F775B"/>
                </a:solidFill>
                <a:latin typeface="Arial"/>
                <a:cs typeface="Arial"/>
              </a:rPr>
              <a:t>rea</a:t>
            </a:r>
            <a:r>
              <a:rPr dirty="0" sz="1150">
                <a:solidFill>
                  <a:srgbClr val="6B8E77"/>
                </a:solidFill>
                <a:latin typeface="Arial"/>
                <a:cs typeface="Arial"/>
              </a:rPr>
              <a:t>t</a:t>
            </a:r>
            <a:r>
              <a:rPr dirty="0" sz="1150">
                <a:solidFill>
                  <a:srgbClr val="4F775B"/>
                </a:solidFill>
                <a:latin typeface="Arial"/>
                <a:cs typeface="Arial"/>
              </a:rPr>
              <a:t>me</a:t>
            </a:r>
            <a:r>
              <a:rPr dirty="0" sz="1150">
                <a:solidFill>
                  <a:srgbClr val="6B8E77"/>
                </a:solidFill>
                <a:latin typeface="Arial"/>
                <a:cs typeface="Arial"/>
              </a:rPr>
              <a:t>n</a:t>
            </a:r>
            <a:r>
              <a:rPr dirty="0" sz="1150">
                <a:solidFill>
                  <a:srgbClr val="4F775B"/>
                </a:solidFill>
                <a:latin typeface="Arial"/>
                <a:cs typeface="Arial"/>
              </a:rPr>
              <a:t>t</a:t>
            </a:r>
            <a:r>
              <a:rPr dirty="0" sz="1150" spc="285">
                <a:solidFill>
                  <a:srgbClr val="4F775B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4F775B"/>
                </a:solidFill>
                <a:latin typeface="Arial"/>
                <a:cs typeface="Arial"/>
              </a:rPr>
              <a:t>var</a:t>
            </a:r>
            <a:r>
              <a:rPr dirty="0" sz="1150">
                <a:solidFill>
                  <a:srgbClr val="6B8E77"/>
                </a:solidFill>
                <a:latin typeface="Arial"/>
                <a:cs typeface="Arial"/>
              </a:rPr>
              <a:t>i</a:t>
            </a:r>
            <a:r>
              <a:rPr dirty="0" sz="1150">
                <a:solidFill>
                  <a:srgbClr val="4F775B"/>
                </a:solidFill>
                <a:latin typeface="Arial"/>
                <a:cs typeface="Arial"/>
              </a:rPr>
              <a:t>ab</a:t>
            </a:r>
            <a:r>
              <a:rPr dirty="0" sz="1150">
                <a:solidFill>
                  <a:srgbClr val="6B8E77"/>
                </a:solidFill>
                <a:latin typeface="Arial"/>
                <a:cs typeface="Arial"/>
              </a:rPr>
              <a:t>l</a:t>
            </a:r>
            <a:r>
              <a:rPr dirty="0" sz="1150">
                <a:solidFill>
                  <a:srgbClr val="4F775B"/>
                </a:solidFill>
                <a:latin typeface="Arial"/>
                <a:cs typeface="Arial"/>
              </a:rPr>
              <a:t>e</a:t>
            </a:r>
            <a:r>
              <a:rPr dirty="0" sz="1150" spc="260">
                <a:solidFill>
                  <a:srgbClr val="4F775B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4F775B"/>
                </a:solidFill>
                <a:latin typeface="Arial"/>
                <a:cs typeface="Arial"/>
              </a:rPr>
              <a:t>va</a:t>
            </a:r>
            <a:r>
              <a:rPr dirty="0" sz="1150">
                <a:solidFill>
                  <a:srgbClr val="6B8E77"/>
                </a:solidFill>
                <a:latin typeface="Arial"/>
                <a:cs typeface="Arial"/>
              </a:rPr>
              <a:t>li</a:t>
            </a:r>
            <a:r>
              <a:rPr dirty="0" sz="1150">
                <a:solidFill>
                  <a:srgbClr val="4F775B"/>
                </a:solidFill>
                <a:latin typeface="Arial"/>
                <a:cs typeface="Arial"/>
              </a:rPr>
              <a:t>dat</a:t>
            </a:r>
            <a:r>
              <a:rPr dirty="0" sz="1150">
                <a:solidFill>
                  <a:srgbClr val="6B8E77"/>
                </a:solidFill>
                <a:latin typeface="Arial"/>
                <a:cs typeface="Arial"/>
              </a:rPr>
              <a:t>i</a:t>
            </a:r>
            <a:r>
              <a:rPr dirty="0" sz="1150">
                <a:solidFill>
                  <a:srgbClr val="4F775B"/>
                </a:solidFill>
                <a:latin typeface="Arial"/>
                <a:cs typeface="Arial"/>
              </a:rPr>
              <a:t>on</a:t>
            </a:r>
            <a:r>
              <a:rPr dirty="0" sz="1150" spc="165">
                <a:solidFill>
                  <a:srgbClr val="4F775B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4F775B"/>
                </a:solidFill>
                <a:latin typeface="Arial"/>
                <a:cs typeface="Arial"/>
              </a:rPr>
              <a:t>passe</a:t>
            </a:r>
            <a:r>
              <a:rPr dirty="0" sz="1150" spc="-10">
                <a:solidFill>
                  <a:srgbClr val="6B8E77"/>
                </a:solidFill>
                <a:latin typeface="Arial"/>
                <a:cs typeface="Arial"/>
              </a:rPr>
              <a:t>d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75665" y="4315221"/>
            <a:ext cx="433055" cy="45958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07808" y="8196130"/>
            <a:ext cx="662319" cy="104682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3133282" y="2170508"/>
            <a:ext cx="0" cy="5974715"/>
          </a:xfrm>
          <a:custGeom>
            <a:avLst/>
            <a:gdLst/>
            <a:ahLst/>
            <a:cxnLst/>
            <a:rect l="l" t="t" r="r" b="b"/>
            <a:pathLst>
              <a:path w="0" h="5974715">
                <a:moveTo>
                  <a:pt x="0" y="5974554"/>
                </a:moveTo>
                <a:lnTo>
                  <a:pt x="0" y="0"/>
                </a:lnTo>
              </a:path>
            </a:pathLst>
          </a:custGeom>
          <a:ln w="3175">
            <a:solidFill>
              <a:srgbClr val="D3D6D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4392718" y="2247105"/>
            <a:ext cx="0" cy="6562090"/>
          </a:xfrm>
          <a:custGeom>
            <a:avLst/>
            <a:gdLst/>
            <a:ahLst/>
            <a:cxnLst/>
            <a:rect l="l" t="t" r="r" b="b"/>
            <a:pathLst>
              <a:path w="0" h="6562090">
                <a:moveTo>
                  <a:pt x="0" y="6561796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718573" y="9051459"/>
            <a:ext cx="6113780" cy="0"/>
          </a:xfrm>
          <a:custGeom>
            <a:avLst/>
            <a:gdLst/>
            <a:ahLst/>
            <a:cxnLst/>
            <a:rect l="l" t="t" r="r" b="b"/>
            <a:pathLst>
              <a:path w="6113780" h="0">
                <a:moveTo>
                  <a:pt x="0" y="0"/>
                </a:moveTo>
                <a:lnTo>
                  <a:pt x="6113721" y="0"/>
                </a:lnTo>
              </a:path>
            </a:pathLst>
          </a:custGeom>
          <a:ln w="3175">
            <a:solidFill>
              <a:srgbClr val="EDED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591204" y="9191886"/>
            <a:ext cx="6776084" cy="0"/>
          </a:xfrm>
          <a:custGeom>
            <a:avLst/>
            <a:gdLst/>
            <a:ahLst/>
            <a:cxnLst/>
            <a:rect l="l" t="t" r="r" b="b"/>
            <a:pathLst>
              <a:path w="6776084" h="0">
                <a:moveTo>
                  <a:pt x="0" y="0"/>
                </a:moveTo>
                <a:lnTo>
                  <a:pt x="6776041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0813" rIns="0" bIns="0" rtlCol="0" vert="horz">
            <a:spAutoFit/>
          </a:bodyPr>
          <a:lstStyle/>
          <a:p>
            <a:pPr marL="1443990">
              <a:lnSpc>
                <a:spcPct val="100000"/>
              </a:lnSpc>
              <a:spcBef>
                <a:spcPts val="120"/>
              </a:spcBef>
            </a:pPr>
            <a:r>
              <a:rPr dirty="0" sz="4000" spc="100">
                <a:solidFill>
                  <a:srgbClr val="070A1A"/>
                </a:solidFill>
              </a:rPr>
              <a:t>Step</a:t>
            </a:r>
            <a:r>
              <a:rPr dirty="0" sz="4000" spc="-15">
                <a:solidFill>
                  <a:srgbClr val="070A1A"/>
                </a:solidFill>
              </a:rPr>
              <a:t> </a:t>
            </a:r>
            <a:r>
              <a:rPr dirty="0" sz="4000" spc="85">
                <a:solidFill>
                  <a:srgbClr val="070A1A"/>
                </a:solidFill>
              </a:rPr>
              <a:t>4:</a:t>
            </a:r>
            <a:r>
              <a:rPr dirty="0" sz="4000" spc="-40">
                <a:solidFill>
                  <a:srgbClr val="070A1A"/>
                </a:solidFill>
              </a:rPr>
              <a:t> </a:t>
            </a:r>
            <a:r>
              <a:rPr dirty="0" sz="4000">
                <a:solidFill>
                  <a:srgbClr val="070A1A"/>
                </a:solidFill>
              </a:rPr>
              <a:t>Execution</a:t>
            </a:r>
            <a:r>
              <a:rPr dirty="0" sz="4000" spc="80">
                <a:solidFill>
                  <a:srgbClr val="070A1A"/>
                </a:solidFill>
              </a:rPr>
              <a:t> </a:t>
            </a:r>
            <a:r>
              <a:rPr dirty="0" sz="3750" spc="185">
                <a:solidFill>
                  <a:srgbClr val="070A1A"/>
                </a:solidFill>
              </a:rPr>
              <a:t>&amp;</a:t>
            </a:r>
            <a:r>
              <a:rPr dirty="0" sz="3750" spc="-165">
                <a:solidFill>
                  <a:srgbClr val="070A1A"/>
                </a:solidFill>
              </a:rPr>
              <a:t> </a:t>
            </a:r>
            <a:r>
              <a:rPr dirty="0" sz="4000" spc="70">
                <a:solidFill>
                  <a:srgbClr val="070A1A"/>
                </a:solidFill>
              </a:rPr>
              <a:t>Natural</a:t>
            </a:r>
            <a:r>
              <a:rPr dirty="0" sz="4000" spc="-15">
                <a:solidFill>
                  <a:srgbClr val="070A1A"/>
                </a:solidFill>
              </a:rPr>
              <a:t> </a:t>
            </a:r>
            <a:r>
              <a:rPr dirty="0" sz="4000">
                <a:solidFill>
                  <a:srgbClr val="070A1A"/>
                </a:solidFill>
              </a:rPr>
              <a:t>Language</a:t>
            </a:r>
            <a:r>
              <a:rPr dirty="0" sz="4000" spc="100">
                <a:solidFill>
                  <a:srgbClr val="070A1A"/>
                </a:solidFill>
              </a:rPr>
              <a:t> </a:t>
            </a:r>
            <a:r>
              <a:rPr dirty="0" sz="4000" spc="110">
                <a:solidFill>
                  <a:srgbClr val="070A1A"/>
                </a:solidFill>
              </a:rPr>
              <a:t>Interpretation</a:t>
            </a:r>
            <a:endParaRPr sz="4000"/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/>
              <a:t>Isl\</a:t>
            </a:r>
            <a:r>
              <a:rPr dirty="0" sz="1300" spc="-45"/>
              <a:t> </a:t>
            </a:r>
            <a:r>
              <a:rPr dirty="0" spc="-10">
                <a:solidFill>
                  <a:srgbClr val="13161A"/>
                </a:solidFill>
              </a:rPr>
              <a:t>N</a:t>
            </a:r>
            <a:r>
              <a:rPr dirty="0" spc="-10"/>
              <a:t>otebookL</a:t>
            </a:r>
            <a:r>
              <a:rPr dirty="0" spc="-10">
                <a:solidFill>
                  <a:srgbClr val="13161A"/>
                </a:solidFill>
              </a:rPr>
              <a:t>M</a:t>
            </a:r>
            <a:endParaRPr sz="1300"/>
          </a:p>
        </p:txBody>
      </p:sp>
      <p:sp>
        <p:nvSpPr>
          <p:cNvPr id="9" name="object 9"/>
          <p:cNvSpPr txBox="1"/>
          <p:nvPr/>
        </p:nvSpPr>
        <p:spPr>
          <a:xfrm>
            <a:off x="3566782" y="1846952"/>
            <a:ext cx="10073640" cy="7031355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432434" indent="-412115">
              <a:lnSpc>
                <a:spcPct val="100000"/>
              </a:lnSpc>
              <a:spcBef>
                <a:spcPts val="700"/>
              </a:spcBef>
              <a:buClr>
                <a:srgbClr val="426D62"/>
              </a:buClr>
              <a:buFont typeface="Arial"/>
              <a:buChar char="•"/>
              <a:tabLst>
                <a:tab pos="432434" algn="l"/>
              </a:tabLst>
            </a:pPr>
            <a:r>
              <a:rPr dirty="0" sz="2550" spc="-165" b="1">
                <a:solidFill>
                  <a:srgbClr val="070A1A"/>
                </a:solidFill>
                <a:latin typeface="Arial"/>
                <a:cs typeface="Arial"/>
              </a:rPr>
              <a:t>Analysis</a:t>
            </a:r>
            <a:r>
              <a:rPr dirty="0" sz="2550" spc="-110" b="1">
                <a:solidFill>
                  <a:srgbClr val="070A1A"/>
                </a:solidFill>
                <a:latin typeface="Arial"/>
                <a:cs typeface="Arial"/>
              </a:rPr>
              <a:t> </a:t>
            </a:r>
            <a:r>
              <a:rPr dirty="0" sz="2550" spc="-20" b="1">
                <a:solidFill>
                  <a:srgbClr val="070A1A"/>
                </a:solidFill>
                <a:latin typeface="Arial"/>
                <a:cs typeface="Arial"/>
              </a:rPr>
              <a:t>Assistant</a:t>
            </a:r>
            <a:endParaRPr sz="255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405"/>
              </a:spcBef>
            </a:pPr>
            <a:r>
              <a:rPr dirty="0" sz="1700" spc="-75">
                <a:solidFill>
                  <a:srgbClr val="313438"/>
                </a:solidFill>
                <a:latin typeface="Arial"/>
                <a:cs typeface="Arial"/>
              </a:rPr>
              <a:t>Ask</a:t>
            </a:r>
            <a:r>
              <a:rPr dirty="0" sz="1700" spc="-140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dirty="0" sz="1700" spc="-70">
                <a:solidFill>
                  <a:srgbClr val="313438"/>
                </a:solidFill>
                <a:latin typeface="Arial"/>
                <a:cs typeface="Arial"/>
              </a:rPr>
              <a:t>quest</a:t>
            </a:r>
            <a:r>
              <a:rPr dirty="0" sz="1700" spc="-70">
                <a:solidFill>
                  <a:srgbClr val="52565B"/>
                </a:solidFill>
                <a:latin typeface="Arial"/>
                <a:cs typeface="Arial"/>
              </a:rPr>
              <a:t>i</a:t>
            </a:r>
            <a:r>
              <a:rPr dirty="0" sz="1700" spc="-70">
                <a:solidFill>
                  <a:srgbClr val="313438"/>
                </a:solidFill>
                <a:latin typeface="Arial"/>
                <a:cs typeface="Arial"/>
              </a:rPr>
              <a:t>ons</a:t>
            </a:r>
            <a:r>
              <a:rPr dirty="0" sz="1700" spc="-130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dirty="0" sz="1700" spc="-95">
                <a:solidFill>
                  <a:srgbClr val="313438"/>
                </a:solidFill>
                <a:latin typeface="Arial"/>
                <a:cs typeface="Arial"/>
              </a:rPr>
              <a:t>about</a:t>
            </a:r>
            <a:r>
              <a:rPr dirty="0" sz="1700" spc="-60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dirty="0" sz="1700" spc="-75">
                <a:solidFill>
                  <a:srgbClr val="313438"/>
                </a:solidFill>
                <a:latin typeface="Arial"/>
                <a:cs typeface="Arial"/>
              </a:rPr>
              <a:t>your</a:t>
            </a:r>
            <a:r>
              <a:rPr dirty="0" sz="1700" spc="-110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dirty="0" sz="1700" spc="-95">
                <a:solidFill>
                  <a:srgbClr val="313438"/>
                </a:solidFill>
                <a:latin typeface="Arial"/>
                <a:cs typeface="Arial"/>
              </a:rPr>
              <a:t>data,</a:t>
            </a:r>
            <a:r>
              <a:rPr dirty="0" sz="1700" spc="-204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dirty="0" sz="1700" spc="-85">
                <a:solidFill>
                  <a:srgbClr val="313438"/>
                </a:solidFill>
                <a:latin typeface="Arial"/>
                <a:cs typeface="Arial"/>
              </a:rPr>
              <a:t>methodology</a:t>
            </a:r>
            <a:r>
              <a:rPr dirty="0" sz="1700" spc="-85">
                <a:solidFill>
                  <a:srgbClr val="52565B"/>
                </a:solidFill>
                <a:latin typeface="Arial"/>
                <a:cs typeface="Arial"/>
              </a:rPr>
              <a:t>,</a:t>
            </a:r>
            <a:r>
              <a:rPr dirty="0" sz="1700" spc="-270">
                <a:solidFill>
                  <a:srgbClr val="52565B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13438"/>
                </a:solidFill>
                <a:latin typeface="Arial"/>
                <a:cs typeface="Arial"/>
              </a:rPr>
              <a:t>or</a:t>
            </a:r>
            <a:r>
              <a:rPr dirty="0" sz="1700" spc="-195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dirty="0" sz="1700" spc="-55">
                <a:solidFill>
                  <a:srgbClr val="313438"/>
                </a:solidFill>
                <a:latin typeface="Arial"/>
                <a:cs typeface="Arial"/>
              </a:rPr>
              <a:t>results.</a:t>
            </a:r>
            <a:r>
              <a:rPr dirty="0" sz="1700" spc="-240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52565B"/>
                </a:solidFill>
                <a:latin typeface="Arial"/>
                <a:cs typeface="Arial"/>
              </a:rPr>
              <a:t>I</a:t>
            </a:r>
            <a:r>
              <a:rPr dirty="0" sz="1700" spc="25">
                <a:solidFill>
                  <a:srgbClr val="52565B"/>
                </a:solidFill>
                <a:latin typeface="Arial"/>
                <a:cs typeface="Arial"/>
              </a:rPr>
              <a:t> </a:t>
            </a:r>
            <a:r>
              <a:rPr dirty="0" sz="1700" spc="-55">
                <a:solidFill>
                  <a:srgbClr val="313438"/>
                </a:solidFill>
                <a:latin typeface="Arial"/>
                <a:cs typeface="Arial"/>
              </a:rPr>
              <a:t>can</a:t>
            </a:r>
            <a:r>
              <a:rPr dirty="0" sz="1700" spc="-225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dirty="0" sz="1700" spc="-45">
                <a:solidFill>
                  <a:srgbClr val="313438"/>
                </a:solidFill>
                <a:latin typeface="Arial"/>
                <a:cs typeface="Arial"/>
              </a:rPr>
              <a:t>he</a:t>
            </a:r>
            <a:r>
              <a:rPr dirty="0" sz="1700" spc="-45">
                <a:solidFill>
                  <a:srgbClr val="52565B"/>
                </a:solidFill>
                <a:latin typeface="Arial"/>
                <a:cs typeface="Arial"/>
              </a:rPr>
              <a:t>l</a:t>
            </a:r>
            <a:r>
              <a:rPr dirty="0" sz="1700" spc="-45">
                <a:solidFill>
                  <a:srgbClr val="313438"/>
                </a:solidFill>
                <a:latin typeface="Arial"/>
                <a:cs typeface="Arial"/>
              </a:rPr>
              <a:t>p</a:t>
            </a:r>
            <a:r>
              <a:rPr dirty="0" sz="1700" spc="-45">
                <a:solidFill>
                  <a:srgbClr val="52565B"/>
                </a:solidFill>
                <a:latin typeface="Arial"/>
                <a:cs typeface="Arial"/>
              </a:rPr>
              <a:t>i</a:t>
            </a:r>
            <a:r>
              <a:rPr dirty="0" sz="1700" spc="-45">
                <a:solidFill>
                  <a:srgbClr val="313438"/>
                </a:solidFill>
                <a:latin typeface="Arial"/>
                <a:cs typeface="Arial"/>
              </a:rPr>
              <a:t>nterpret</a:t>
            </a:r>
            <a:r>
              <a:rPr dirty="0" sz="1700" spc="-5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dirty="0" sz="1700" spc="-75">
                <a:solidFill>
                  <a:srgbClr val="313438"/>
                </a:solidFill>
                <a:latin typeface="Arial"/>
                <a:cs typeface="Arial"/>
              </a:rPr>
              <a:t>findings</a:t>
            </a:r>
            <a:r>
              <a:rPr dirty="0" sz="1700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dirty="0" sz="1700" spc="-95">
                <a:solidFill>
                  <a:srgbClr val="313438"/>
                </a:solidFill>
                <a:latin typeface="Arial"/>
                <a:cs typeface="Arial"/>
              </a:rPr>
              <a:t>and</a:t>
            </a:r>
            <a:r>
              <a:rPr dirty="0" sz="1700" spc="-140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dirty="0" sz="1700" spc="-95">
                <a:solidFill>
                  <a:srgbClr val="313438"/>
                </a:solidFill>
                <a:latin typeface="Arial"/>
                <a:cs typeface="Arial"/>
              </a:rPr>
              <a:t>suggest</a:t>
            </a:r>
            <a:r>
              <a:rPr dirty="0" sz="1700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dirty="0" sz="1700" spc="-70">
                <a:solidFill>
                  <a:srgbClr val="313438"/>
                </a:solidFill>
                <a:latin typeface="Arial"/>
                <a:cs typeface="Arial"/>
              </a:rPr>
              <a:t>follow-</a:t>
            </a:r>
            <a:r>
              <a:rPr dirty="0" sz="1700" spc="-85">
                <a:solidFill>
                  <a:srgbClr val="313438"/>
                </a:solidFill>
                <a:latin typeface="Arial"/>
                <a:cs typeface="Arial"/>
              </a:rPr>
              <a:t>up</a:t>
            </a:r>
            <a:r>
              <a:rPr dirty="0" sz="1700" spc="-30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313438"/>
                </a:solidFill>
                <a:latin typeface="Arial"/>
                <a:cs typeface="Arial"/>
              </a:rPr>
              <a:t>analyses.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ts val="7370"/>
              </a:lnSpc>
              <a:spcBef>
                <a:spcPts val="944"/>
              </a:spcBef>
            </a:pPr>
            <a:r>
              <a:rPr dirty="0" sz="6150" spc="-345" b="1">
                <a:solidFill>
                  <a:srgbClr val="D64944"/>
                </a:solidFill>
                <a:latin typeface="Arial"/>
                <a:cs typeface="Arial"/>
              </a:rPr>
              <a:t>e</a:t>
            </a:r>
            <a:r>
              <a:rPr dirty="0" sz="6150" spc="-270" b="1">
                <a:solidFill>
                  <a:srgbClr val="D64944"/>
                </a:solidFill>
                <a:latin typeface="Arial"/>
                <a:cs typeface="Arial"/>
              </a:rPr>
              <a:t> </a:t>
            </a:r>
            <a:r>
              <a:rPr dirty="0" sz="1950" spc="65">
                <a:solidFill>
                  <a:srgbClr val="313438"/>
                </a:solidFill>
                <a:latin typeface="Arial"/>
                <a:cs typeface="Arial"/>
              </a:rPr>
              <a:t>Is</a:t>
            </a:r>
            <a:r>
              <a:rPr dirty="0" sz="1950" spc="-245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dirty="0" sz="1950">
                <a:solidFill>
                  <a:srgbClr val="313438"/>
                </a:solidFill>
                <a:latin typeface="Arial"/>
                <a:cs typeface="Arial"/>
              </a:rPr>
              <a:t>my</a:t>
            </a:r>
            <a:r>
              <a:rPr dirty="0" sz="1950" spc="-245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dirty="0" sz="1950" spc="-30">
                <a:solidFill>
                  <a:srgbClr val="313438"/>
                </a:solidFill>
                <a:latin typeface="Arial"/>
                <a:cs typeface="Arial"/>
              </a:rPr>
              <a:t>treatment</a:t>
            </a:r>
            <a:r>
              <a:rPr dirty="0" sz="1950" spc="-95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dirty="0" sz="1950">
                <a:solidFill>
                  <a:srgbClr val="313438"/>
                </a:solidFill>
                <a:latin typeface="Arial"/>
                <a:cs typeface="Arial"/>
              </a:rPr>
              <a:t>effect</a:t>
            </a:r>
            <a:r>
              <a:rPr dirty="0" sz="1950" spc="-45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dirty="0" sz="1950" spc="-10">
                <a:solidFill>
                  <a:srgbClr val="313438"/>
                </a:solidFill>
                <a:latin typeface="Arial"/>
                <a:cs typeface="Arial"/>
              </a:rPr>
              <a:t>statistically</a:t>
            </a:r>
            <a:r>
              <a:rPr dirty="0" sz="1950" spc="15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dirty="0" sz="1950" spc="-10">
                <a:solidFill>
                  <a:srgbClr val="1C1D23"/>
                </a:solidFill>
                <a:latin typeface="Arial"/>
                <a:cs typeface="Arial"/>
              </a:rPr>
              <a:t>significant?</a:t>
            </a:r>
            <a:endParaRPr sz="1950">
              <a:latin typeface="Arial"/>
              <a:cs typeface="Arial"/>
            </a:endParaRPr>
          </a:p>
          <a:p>
            <a:pPr marL="589280">
              <a:lnSpc>
                <a:spcPts val="1910"/>
              </a:lnSpc>
            </a:pPr>
            <a:r>
              <a:rPr dirty="0" sz="1600" spc="-10">
                <a:solidFill>
                  <a:srgbClr val="75797C"/>
                </a:solidFill>
                <a:latin typeface="Arial"/>
                <a:cs typeface="Arial"/>
              </a:rPr>
              <a:t>09</a:t>
            </a:r>
            <a:r>
              <a:rPr dirty="0" sz="1600" spc="-10">
                <a:solidFill>
                  <a:srgbClr val="313438"/>
                </a:solidFill>
                <a:latin typeface="Arial"/>
                <a:cs typeface="Arial"/>
              </a:rPr>
              <a:t>:</a:t>
            </a:r>
            <a:r>
              <a:rPr dirty="0" sz="1600" spc="-10">
                <a:solidFill>
                  <a:srgbClr val="75797C"/>
                </a:solidFill>
                <a:latin typeface="Arial"/>
                <a:cs typeface="Arial"/>
              </a:rPr>
              <a:t>55:19</a:t>
            </a:r>
            <a:endParaRPr sz="1600">
              <a:latin typeface="Arial"/>
              <a:cs typeface="Arial"/>
            </a:endParaRPr>
          </a:p>
          <a:p>
            <a:pPr marL="3859529">
              <a:lnSpc>
                <a:spcPct val="100000"/>
              </a:lnSpc>
              <a:spcBef>
                <a:spcPts val="1665"/>
              </a:spcBef>
            </a:pPr>
            <a:r>
              <a:rPr dirty="0" sz="3950" spc="-140" b="1">
                <a:solidFill>
                  <a:srgbClr val="05232A"/>
                </a:solidFill>
                <a:latin typeface="Arial"/>
                <a:cs typeface="Arial"/>
              </a:rPr>
              <a:t>Yes</a:t>
            </a:r>
            <a:r>
              <a:rPr dirty="0" sz="3950" spc="-140" b="1">
                <a:solidFill>
                  <a:srgbClr val="134641"/>
                </a:solidFill>
                <a:latin typeface="Arial"/>
                <a:cs typeface="Arial"/>
              </a:rPr>
              <a:t>,</a:t>
            </a:r>
            <a:r>
              <a:rPr dirty="0" sz="1950" spc="-140">
                <a:solidFill>
                  <a:srgbClr val="313438"/>
                </a:solidFill>
                <a:latin typeface="Arial"/>
                <a:cs typeface="Arial"/>
              </a:rPr>
              <a:t>your</a:t>
            </a:r>
            <a:r>
              <a:rPr dirty="0" sz="1950" spc="-40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dirty="0" sz="1950" spc="-30">
                <a:solidFill>
                  <a:srgbClr val="313438"/>
                </a:solidFill>
                <a:latin typeface="Arial"/>
                <a:cs typeface="Arial"/>
              </a:rPr>
              <a:t>treatment </a:t>
            </a:r>
            <a:r>
              <a:rPr dirty="0" sz="1950">
                <a:solidFill>
                  <a:srgbClr val="313438"/>
                </a:solidFill>
                <a:latin typeface="Arial"/>
                <a:cs typeface="Arial"/>
              </a:rPr>
              <a:t>effect</a:t>
            </a:r>
            <a:r>
              <a:rPr dirty="0" sz="1950" spc="-185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dirty="0" sz="1950">
                <a:solidFill>
                  <a:srgbClr val="313438"/>
                </a:solidFill>
                <a:latin typeface="Arial"/>
                <a:cs typeface="Arial"/>
              </a:rPr>
              <a:t>is</a:t>
            </a:r>
            <a:r>
              <a:rPr dirty="0" sz="1950" spc="40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dirty="0" sz="1950" spc="-20">
                <a:solidFill>
                  <a:srgbClr val="313438"/>
                </a:solidFill>
                <a:latin typeface="Arial"/>
                <a:cs typeface="Arial"/>
              </a:rPr>
              <a:t>statistically</a:t>
            </a:r>
            <a:r>
              <a:rPr dirty="0" sz="1950" spc="-45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dirty="0" sz="1950" spc="-10">
                <a:solidFill>
                  <a:srgbClr val="313438"/>
                </a:solidFill>
                <a:latin typeface="Arial"/>
                <a:cs typeface="Arial"/>
              </a:rPr>
              <a:t>s</a:t>
            </a:r>
            <a:r>
              <a:rPr dirty="0" sz="1950" spc="-10">
                <a:solidFill>
                  <a:srgbClr val="070A1A"/>
                </a:solidFill>
                <a:latin typeface="Arial"/>
                <a:cs typeface="Arial"/>
              </a:rPr>
              <a:t>i</a:t>
            </a:r>
            <a:r>
              <a:rPr dirty="0" sz="1950" spc="-10">
                <a:solidFill>
                  <a:srgbClr val="313438"/>
                </a:solidFill>
                <a:latin typeface="Arial"/>
                <a:cs typeface="Arial"/>
              </a:rPr>
              <a:t>gnificant.</a:t>
            </a:r>
            <a:endParaRPr sz="1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950">
              <a:latin typeface="Arial"/>
              <a:cs typeface="Arial"/>
            </a:endParaRPr>
          </a:p>
          <a:p>
            <a:pPr marL="590550">
              <a:lnSpc>
                <a:spcPct val="100000"/>
              </a:lnSpc>
            </a:pPr>
            <a:r>
              <a:rPr dirty="0" sz="1950" spc="-80">
                <a:solidFill>
                  <a:srgbClr val="313438"/>
                </a:solidFill>
                <a:latin typeface="Arial"/>
                <a:cs typeface="Arial"/>
              </a:rPr>
              <a:t>Here's</a:t>
            </a:r>
            <a:r>
              <a:rPr dirty="0" sz="1950" spc="-90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dirty="0" sz="1950" spc="-20">
                <a:solidFill>
                  <a:srgbClr val="313438"/>
                </a:solidFill>
                <a:latin typeface="Arial"/>
                <a:cs typeface="Arial"/>
              </a:rPr>
              <a:t>why:</a:t>
            </a:r>
            <a:endParaRPr sz="1950">
              <a:latin typeface="Arial"/>
              <a:cs typeface="Arial"/>
            </a:endParaRPr>
          </a:p>
          <a:p>
            <a:pPr lvl="1" marL="920115" marR="685165" indent="-220979">
              <a:lnSpc>
                <a:spcPts val="2110"/>
              </a:lnSpc>
              <a:spcBef>
                <a:spcPts val="1140"/>
              </a:spcBef>
              <a:buChar char="•"/>
              <a:tabLst>
                <a:tab pos="920115" algn="l"/>
                <a:tab pos="923290" algn="l"/>
              </a:tabLst>
            </a:pPr>
            <a:r>
              <a:rPr dirty="0" sz="1950">
                <a:solidFill>
                  <a:srgbClr val="070A1A"/>
                </a:solidFill>
                <a:latin typeface="Arial"/>
                <a:cs typeface="Arial"/>
              </a:rPr>
              <a:t>	</a:t>
            </a:r>
            <a:r>
              <a:rPr dirty="0" sz="1950" spc="-75" b="1">
                <a:solidFill>
                  <a:srgbClr val="05232A"/>
                </a:solidFill>
                <a:latin typeface="Arial"/>
                <a:cs typeface="Arial"/>
              </a:rPr>
              <a:t>P</a:t>
            </a:r>
            <a:r>
              <a:rPr dirty="0" sz="1950" spc="-75" b="1">
                <a:solidFill>
                  <a:srgbClr val="134641"/>
                </a:solidFill>
                <a:latin typeface="Arial"/>
                <a:cs typeface="Arial"/>
              </a:rPr>
              <a:t>-</a:t>
            </a:r>
            <a:r>
              <a:rPr dirty="0" sz="1950" spc="-70" b="1">
                <a:solidFill>
                  <a:srgbClr val="05232A"/>
                </a:solidFill>
                <a:latin typeface="Arial"/>
                <a:cs typeface="Arial"/>
              </a:rPr>
              <a:t>value:</a:t>
            </a:r>
            <a:r>
              <a:rPr dirty="0" sz="1950" spc="-355" b="1">
                <a:solidFill>
                  <a:srgbClr val="05232A"/>
                </a:solidFill>
                <a:latin typeface="Arial"/>
                <a:cs typeface="Arial"/>
              </a:rPr>
              <a:t> </a:t>
            </a:r>
            <a:r>
              <a:rPr dirty="0" sz="1950" spc="-25" b="1">
                <a:solidFill>
                  <a:srgbClr val="05232A"/>
                </a:solidFill>
                <a:latin typeface="Arial"/>
                <a:cs typeface="Arial"/>
              </a:rPr>
              <a:t>0</a:t>
            </a:r>
            <a:r>
              <a:rPr dirty="0" sz="1950" spc="-25" b="1">
                <a:solidFill>
                  <a:srgbClr val="134641"/>
                </a:solidFill>
                <a:latin typeface="Arial"/>
                <a:cs typeface="Arial"/>
              </a:rPr>
              <a:t>.</a:t>
            </a:r>
            <a:r>
              <a:rPr dirty="0" sz="1950" spc="-25" b="1">
                <a:solidFill>
                  <a:srgbClr val="05232A"/>
                </a:solidFill>
                <a:latin typeface="Arial"/>
                <a:cs typeface="Arial"/>
              </a:rPr>
              <a:t>0000</a:t>
            </a:r>
            <a:r>
              <a:rPr dirty="0" sz="1950" spc="-105" b="1">
                <a:solidFill>
                  <a:srgbClr val="05232A"/>
                </a:solidFill>
                <a:latin typeface="Arial"/>
                <a:cs typeface="Arial"/>
              </a:rPr>
              <a:t> </a:t>
            </a:r>
            <a:r>
              <a:rPr dirty="0" sz="1950" spc="-25">
                <a:solidFill>
                  <a:srgbClr val="313438"/>
                </a:solidFill>
                <a:latin typeface="Arial"/>
                <a:cs typeface="Arial"/>
              </a:rPr>
              <a:t>(wel</a:t>
            </a:r>
            <a:r>
              <a:rPr dirty="0" sz="1950" spc="-25">
                <a:solidFill>
                  <a:srgbClr val="070A1A"/>
                </a:solidFill>
                <a:latin typeface="Arial"/>
                <a:cs typeface="Arial"/>
              </a:rPr>
              <a:t>l</a:t>
            </a:r>
            <a:r>
              <a:rPr dirty="0" sz="1950" spc="-175">
                <a:solidFill>
                  <a:srgbClr val="070A1A"/>
                </a:solidFill>
                <a:latin typeface="Arial"/>
                <a:cs typeface="Arial"/>
              </a:rPr>
              <a:t> </a:t>
            </a:r>
            <a:r>
              <a:rPr dirty="0" sz="1950" spc="-50">
                <a:solidFill>
                  <a:srgbClr val="1C1D23"/>
                </a:solidFill>
                <a:latin typeface="Arial"/>
                <a:cs typeface="Arial"/>
              </a:rPr>
              <a:t>below</a:t>
            </a:r>
            <a:r>
              <a:rPr dirty="0" sz="1950" spc="-175">
                <a:solidFill>
                  <a:srgbClr val="1C1D23"/>
                </a:solidFill>
                <a:latin typeface="Arial"/>
                <a:cs typeface="Arial"/>
              </a:rPr>
              <a:t> </a:t>
            </a:r>
            <a:r>
              <a:rPr dirty="0" sz="1950">
                <a:solidFill>
                  <a:srgbClr val="313438"/>
                </a:solidFill>
                <a:latin typeface="Arial"/>
                <a:cs typeface="Arial"/>
              </a:rPr>
              <a:t>the</a:t>
            </a:r>
            <a:r>
              <a:rPr dirty="0" sz="1950" spc="-240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dirty="0" sz="1950" spc="-45">
                <a:solidFill>
                  <a:srgbClr val="313438"/>
                </a:solidFill>
                <a:latin typeface="Arial"/>
                <a:cs typeface="Arial"/>
              </a:rPr>
              <a:t>conventional</a:t>
            </a:r>
            <a:r>
              <a:rPr dirty="0" sz="1950" spc="-85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dirty="0" sz="1950" spc="-30">
                <a:solidFill>
                  <a:srgbClr val="313438"/>
                </a:solidFill>
                <a:latin typeface="Arial"/>
                <a:cs typeface="Arial"/>
              </a:rPr>
              <a:t>threshold</a:t>
            </a:r>
            <a:r>
              <a:rPr dirty="0" sz="1950" spc="50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dirty="0" sz="1950">
                <a:solidFill>
                  <a:srgbClr val="313438"/>
                </a:solidFill>
                <a:latin typeface="Arial"/>
                <a:cs typeface="Arial"/>
              </a:rPr>
              <a:t>of</a:t>
            </a:r>
            <a:r>
              <a:rPr dirty="0" sz="1950" spc="-100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dirty="0" sz="1950" spc="-35">
                <a:solidFill>
                  <a:srgbClr val="313438"/>
                </a:solidFill>
                <a:latin typeface="Arial"/>
                <a:cs typeface="Arial"/>
              </a:rPr>
              <a:t>0</a:t>
            </a:r>
            <a:r>
              <a:rPr dirty="0" sz="1950" spc="-35">
                <a:solidFill>
                  <a:srgbClr val="52565B"/>
                </a:solidFill>
                <a:latin typeface="Arial"/>
                <a:cs typeface="Arial"/>
              </a:rPr>
              <a:t>.</a:t>
            </a:r>
            <a:r>
              <a:rPr dirty="0" sz="1950" spc="-35">
                <a:solidFill>
                  <a:srgbClr val="313438"/>
                </a:solidFill>
                <a:latin typeface="Arial"/>
                <a:cs typeface="Arial"/>
              </a:rPr>
              <a:t>05),</a:t>
            </a:r>
            <a:r>
              <a:rPr dirty="0" sz="1950" spc="-285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dirty="0" sz="1950" spc="-20">
                <a:solidFill>
                  <a:srgbClr val="313438"/>
                </a:solidFill>
                <a:latin typeface="Arial"/>
                <a:cs typeface="Arial"/>
              </a:rPr>
              <a:t>indicating</a:t>
            </a:r>
            <a:r>
              <a:rPr dirty="0" sz="1950" spc="-25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dirty="0" sz="1950" spc="-10">
                <a:solidFill>
                  <a:srgbClr val="313438"/>
                </a:solidFill>
                <a:latin typeface="Arial"/>
                <a:cs typeface="Arial"/>
              </a:rPr>
              <a:t>strong </a:t>
            </a:r>
            <a:r>
              <a:rPr dirty="0" sz="1950" spc="-60">
                <a:solidFill>
                  <a:srgbClr val="1C1D23"/>
                </a:solidFill>
                <a:latin typeface="Arial"/>
                <a:cs typeface="Arial"/>
              </a:rPr>
              <a:t>evidence</a:t>
            </a:r>
            <a:r>
              <a:rPr dirty="0" sz="1950" spc="-114">
                <a:solidFill>
                  <a:srgbClr val="1C1D23"/>
                </a:solidFill>
                <a:latin typeface="Arial"/>
                <a:cs typeface="Arial"/>
              </a:rPr>
              <a:t> </a:t>
            </a:r>
            <a:r>
              <a:rPr dirty="0" sz="1950" spc="-45">
                <a:solidFill>
                  <a:srgbClr val="313438"/>
                </a:solidFill>
                <a:latin typeface="Arial"/>
                <a:cs typeface="Arial"/>
              </a:rPr>
              <a:t>against</a:t>
            </a:r>
            <a:r>
              <a:rPr dirty="0" sz="1950" spc="-90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dirty="0" sz="1950">
                <a:solidFill>
                  <a:srgbClr val="1C1D23"/>
                </a:solidFill>
                <a:latin typeface="Arial"/>
                <a:cs typeface="Arial"/>
              </a:rPr>
              <a:t>the</a:t>
            </a:r>
            <a:r>
              <a:rPr dirty="0" sz="1950" spc="-170">
                <a:solidFill>
                  <a:srgbClr val="1C1D23"/>
                </a:solidFill>
                <a:latin typeface="Arial"/>
                <a:cs typeface="Arial"/>
              </a:rPr>
              <a:t> </a:t>
            </a:r>
            <a:r>
              <a:rPr dirty="0" sz="1950">
                <a:solidFill>
                  <a:srgbClr val="1C1D23"/>
                </a:solidFill>
                <a:latin typeface="Arial"/>
                <a:cs typeface="Arial"/>
              </a:rPr>
              <a:t>null</a:t>
            </a:r>
            <a:r>
              <a:rPr dirty="0" sz="1950" spc="-240">
                <a:solidFill>
                  <a:srgbClr val="1C1D23"/>
                </a:solidFill>
                <a:latin typeface="Arial"/>
                <a:cs typeface="Arial"/>
              </a:rPr>
              <a:t> </a:t>
            </a:r>
            <a:r>
              <a:rPr dirty="0" sz="1950" spc="-45">
                <a:solidFill>
                  <a:srgbClr val="313438"/>
                </a:solidFill>
                <a:latin typeface="Arial"/>
                <a:cs typeface="Arial"/>
              </a:rPr>
              <a:t>hypothesis</a:t>
            </a:r>
            <a:r>
              <a:rPr dirty="0" sz="1950" spc="-85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dirty="0" sz="1950" spc="70">
                <a:solidFill>
                  <a:srgbClr val="313438"/>
                </a:solidFill>
                <a:latin typeface="Arial"/>
                <a:cs typeface="Arial"/>
              </a:rPr>
              <a:t>of</a:t>
            </a:r>
            <a:r>
              <a:rPr dirty="0" sz="1950" spc="-145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dirty="0" sz="1950" spc="-10">
                <a:solidFill>
                  <a:srgbClr val="1C1D23"/>
                </a:solidFill>
                <a:latin typeface="Arial"/>
                <a:cs typeface="Arial"/>
              </a:rPr>
              <a:t>no</a:t>
            </a:r>
            <a:r>
              <a:rPr dirty="0" sz="1950" spc="-114">
                <a:solidFill>
                  <a:srgbClr val="1C1D23"/>
                </a:solidFill>
                <a:latin typeface="Arial"/>
                <a:cs typeface="Arial"/>
              </a:rPr>
              <a:t> </a:t>
            </a:r>
            <a:r>
              <a:rPr dirty="0" sz="1950" spc="-10">
                <a:solidFill>
                  <a:srgbClr val="313438"/>
                </a:solidFill>
                <a:latin typeface="Arial"/>
                <a:cs typeface="Arial"/>
              </a:rPr>
              <a:t>effect.</a:t>
            </a:r>
            <a:endParaRPr sz="1950">
              <a:latin typeface="Arial"/>
              <a:cs typeface="Arial"/>
            </a:endParaRPr>
          </a:p>
          <a:p>
            <a:pPr lvl="1" marL="920115" marR="547370" indent="-220979">
              <a:lnSpc>
                <a:spcPts val="2210"/>
              </a:lnSpc>
              <a:spcBef>
                <a:spcPts val="25"/>
              </a:spcBef>
              <a:buFont typeface="Arial"/>
              <a:buChar char="•"/>
              <a:tabLst>
                <a:tab pos="920115" algn="l"/>
              </a:tabLst>
            </a:pPr>
            <a:r>
              <a:rPr dirty="0" sz="1950" spc="-229" b="1">
                <a:solidFill>
                  <a:srgbClr val="1C1D23"/>
                </a:solidFill>
                <a:latin typeface="Arial"/>
                <a:cs typeface="Arial"/>
              </a:rPr>
              <a:t>95°/4</a:t>
            </a:r>
            <a:r>
              <a:rPr dirty="0" sz="1950" spc="5" b="1">
                <a:solidFill>
                  <a:srgbClr val="1C1D23"/>
                </a:solidFill>
                <a:latin typeface="Arial"/>
                <a:cs typeface="Arial"/>
              </a:rPr>
              <a:t> </a:t>
            </a:r>
            <a:r>
              <a:rPr dirty="0" sz="1950" spc="-140" b="1">
                <a:solidFill>
                  <a:srgbClr val="1C1D23"/>
                </a:solidFill>
                <a:latin typeface="Arial"/>
                <a:cs typeface="Arial"/>
              </a:rPr>
              <a:t>Confidence</a:t>
            </a:r>
            <a:r>
              <a:rPr dirty="0" sz="1950" spc="35" b="1">
                <a:solidFill>
                  <a:srgbClr val="1C1D23"/>
                </a:solidFill>
                <a:latin typeface="Arial"/>
                <a:cs typeface="Arial"/>
              </a:rPr>
              <a:t> </a:t>
            </a:r>
            <a:r>
              <a:rPr dirty="0" sz="1950" spc="-40" b="1">
                <a:solidFill>
                  <a:srgbClr val="070A1A"/>
                </a:solidFill>
                <a:latin typeface="Arial"/>
                <a:cs typeface="Arial"/>
              </a:rPr>
              <a:t>Interval</a:t>
            </a:r>
            <a:r>
              <a:rPr dirty="0" sz="1950" spc="-40" b="1">
                <a:solidFill>
                  <a:srgbClr val="313438"/>
                </a:solidFill>
                <a:latin typeface="Arial"/>
                <a:cs typeface="Arial"/>
              </a:rPr>
              <a:t>:</a:t>
            </a:r>
            <a:r>
              <a:rPr dirty="0" sz="1950" spc="-40" b="1">
                <a:solidFill>
                  <a:srgbClr val="070A1A"/>
                </a:solidFill>
                <a:latin typeface="Arial"/>
                <a:cs typeface="Arial"/>
              </a:rPr>
              <a:t>[0</a:t>
            </a:r>
            <a:r>
              <a:rPr dirty="0" sz="1950" spc="-40" b="1">
                <a:solidFill>
                  <a:srgbClr val="313438"/>
                </a:solidFill>
                <a:latin typeface="Arial"/>
                <a:cs typeface="Arial"/>
              </a:rPr>
              <a:t>.</a:t>
            </a:r>
            <a:r>
              <a:rPr dirty="0" sz="1950" spc="-40" b="1">
                <a:solidFill>
                  <a:srgbClr val="070A1A"/>
                </a:solidFill>
                <a:latin typeface="Arial"/>
                <a:cs typeface="Arial"/>
              </a:rPr>
              <a:t>1101,</a:t>
            </a:r>
            <a:r>
              <a:rPr dirty="0" sz="1950" spc="-215" b="1">
                <a:solidFill>
                  <a:srgbClr val="070A1A"/>
                </a:solidFill>
                <a:latin typeface="Arial"/>
                <a:cs typeface="Arial"/>
              </a:rPr>
              <a:t> </a:t>
            </a:r>
            <a:r>
              <a:rPr dirty="0" sz="1950" spc="-35" b="1">
                <a:solidFill>
                  <a:srgbClr val="1C1D23"/>
                </a:solidFill>
                <a:latin typeface="Arial"/>
                <a:cs typeface="Arial"/>
              </a:rPr>
              <a:t>0.1329]</a:t>
            </a:r>
            <a:r>
              <a:rPr dirty="0" sz="1950" spc="-95" b="1">
                <a:solidFill>
                  <a:srgbClr val="1C1D23"/>
                </a:solidFill>
                <a:latin typeface="Arial"/>
                <a:cs typeface="Arial"/>
              </a:rPr>
              <a:t> </a:t>
            </a:r>
            <a:r>
              <a:rPr dirty="0" sz="1950" spc="-50">
                <a:solidFill>
                  <a:srgbClr val="313438"/>
                </a:solidFill>
                <a:latin typeface="Arial"/>
                <a:cs typeface="Arial"/>
              </a:rPr>
              <a:t>does</a:t>
            </a:r>
            <a:r>
              <a:rPr dirty="0" sz="1950" spc="-120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dirty="0" sz="1950" spc="-20">
                <a:solidFill>
                  <a:srgbClr val="1C1D23"/>
                </a:solidFill>
                <a:latin typeface="Arial"/>
                <a:cs typeface="Arial"/>
              </a:rPr>
              <a:t>not</a:t>
            </a:r>
            <a:r>
              <a:rPr dirty="0" sz="1950" spc="-75">
                <a:solidFill>
                  <a:srgbClr val="1C1D23"/>
                </a:solidFill>
                <a:latin typeface="Arial"/>
                <a:cs typeface="Arial"/>
              </a:rPr>
              <a:t> </a:t>
            </a:r>
            <a:r>
              <a:rPr dirty="0" sz="1950" spc="-45">
                <a:solidFill>
                  <a:srgbClr val="313438"/>
                </a:solidFill>
                <a:latin typeface="Arial"/>
                <a:cs typeface="Arial"/>
              </a:rPr>
              <a:t>include</a:t>
            </a:r>
            <a:r>
              <a:rPr dirty="0" sz="1950" spc="-100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dirty="0" sz="1950" spc="-70">
                <a:solidFill>
                  <a:srgbClr val="313438"/>
                </a:solidFill>
                <a:latin typeface="Arial"/>
                <a:cs typeface="Arial"/>
              </a:rPr>
              <a:t>zero,</a:t>
            </a:r>
            <a:r>
              <a:rPr dirty="0" sz="1950" spc="-85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dirty="0" sz="1950" spc="-50">
                <a:solidFill>
                  <a:srgbClr val="313438"/>
                </a:solidFill>
                <a:latin typeface="Arial"/>
                <a:cs typeface="Arial"/>
              </a:rPr>
              <a:t>which</a:t>
            </a:r>
            <a:r>
              <a:rPr dirty="0" sz="1950" spc="-160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dirty="0" sz="1950" spc="-60">
                <a:solidFill>
                  <a:srgbClr val="313438"/>
                </a:solidFill>
                <a:latin typeface="Arial"/>
                <a:cs typeface="Arial"/>
              </a:rPr>
              <a:t>means</a:t>
            </a:r>
            <a:r>
              <a:rPr dirty="0" sz="1950" spc="-55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dirty="0" sz="1950" spc="-25">
                <a:solidFill>
                  <a:srgbClr val="313438"/>
                </a:solidFill>
                <a:latin typeface="Arial"/>
                <a:cs typeface="Arial"/>
              </a:rPr>
              <a:t>the </a:t>
            </a:r>
            <a:r>
              <a:rPr dirty="0" sz="1950">
                <a:solidFill>
                  <a:srgbClr val="313438"/>
                </a:solidFill>
                <a:latin typeface="Arial"/>
                <a:cs typeface="Arial"/>
              </a:rPr>
              <a:t>effect</a:t>
            </a:r>
            <a:r>
              <a:rPr dirty="0" sz="1950" spc="-105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dirty="0" sz="1950">
                <a:solidFill>
                  <a:srgbClr val="313438"/>
                </a:solidFill>
                <a:latin typeface="Arial"/>
                <a:cs typeface="Arial"/>
              </a:rPr>
              <a:t>is</a:t>
            </a:r>
            <a:r>
              <a:rPr dirty="0" sz="1950" spc="-90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dirty="0" sz="1950" spc="-10">
                <a:solidFill>
                  <a:srgbClr val="1C1D23"/>
                </a:solidFill>
                <a:latin typeface="Arial"/>
                <a:cs typeface="Arial"/>
              </a:rPr>
              <a:t>statistically</a:t>
            </a:r>
            <a:r>
              <a:rPr dirty="0" sz="1950" spc="-70">
                <a:solidFill>
                  <a:srgbClr val="1C1D23"/>
                </a:solidFill>
                <a:latin typeface="Arial"/>
                <a:cs typeface="Arial"/>
              </a:rPr>
              <a:t> </a:t>
            </a:r>
            <a:r>
              <a:rPr dirty="0" sz="1950" spc="-20">
                <a:solidFill>
                  <a:srgbClr val="313438"/>
                </a:solidFill>
                <a:latin typeface="Arial"/>
                <a:cs typeface="Arial"/>
              </a:rPr>
              <a:t>sign</a:t>
            </a:r>
            <a:r>
              <a:rPr dirty="0" sz="1950" spc="-20">
                <a:solidFill>
                  <a:srgbClr val="070A1A"/>
                </a:solidFill>
                <a:latin typeface="Arial"/>
                <a:cs typeface="Arial"/>
              </a:rPr>
              <a:t>i</a:t>
            </a:r>
            <a:r>
              <a:rPr dirty="0" sz="1950" spc="-20">
                <a:solidFill>
                  <a:srgbClr val="313438"/>
                </a:solidFill>
                <a:latin typeface="Arial"/>
                <a:cs typeface="Arial"/>
              </a:rPr>
              <a:t>ficant</a:t>
            </a:r>
            <a:r>
              <a:rPr dirty="0" sz="1950" spc="70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dirty="0" sz="1950">
                <a:solidFill>
                  <a:srgbClr val="313438"/>
                </a:solidFill>
                <a:latin typeface="Arial"/>
                <a:cs typeface="Arial"/>
              </a:rPr>
              <a:t>at</a:t>
            </a:r>
            <a:r>
              <a:rPr dirty="0" sz="1950" spc="-254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dirty="0" sz="1950">
                <a:solidFill>
                  <a:srgbClr val="313438"/>
                </a:solidFill>
                <a:latin typeface="Arial"/>
                <a:cs typeface="Arial"/>
              </a:rPr>
              <a:t>the</a:t>
            </a:r>
            <a:r>
              <a:rPr dirty="0" sz="1950" spc="-155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dirty="0" sz="1950" spc="-150">
                <a:solidFill>
                  <a:srgbClr val="313438"/>
                </a:solidFill>
                <a:latin typeface="Arial"/>
                <a:cs typeface="Arial"/>
              </a:rPr>
              <a:t>5%</a:t>
            </a:r>
            <a:r>
              <a:rPr dirty="0" sz="1950" spc="-215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dirty="0" sz="1950" spc="-10">
                <a:solidFill>
                  <a:srgbClr val="313438"/>
                </a:solidFill>
                <a:latin typeface="Arial"/>
                <a:cs typeface="Arial"/>
              </a:rPr>
              <a:t>level.</a:t>
            </a:r>
            <a:endParaRPr sz="1950">
              <a:latin typeface="Arial"/>
              <a:cs typeface="Arial"/>
            </a:endParaRPr>
          </a:p>
          <a:p>
            <a:pPr lvl="1" marL="916305" indent="-217170">
              <a:lnSpc>
                <a:spcPts val="1995"/>
              </a:lnSpc>
              <a:buClr>
                <a:srgbClr val="1C1D23"/>
              </a:buClr>
              <a:buFont typeface="Arial"/>
              <a:buChar char="•"/>
              <a:tabLst>
                <a:tab pos="916305" algn="l"/>
              </a:tabLst>
            </a:pPr>
            <a:r>
              <a:rPr dirty="0" sz="1950" spc="-120" b="1">
                <a:solidFill>
                  <a:srgbClr val="070A1A"/>
                </a:solidFill>
                <a:latin typeface="Arial"/>
                <a:cs typeface="Arial"/>
              </a:rPr>
              <a:t>Average</a:t>
            </a:r>
            <a:r>
              <a:rPr dirty="0" sz="1950" spc="-160" b="1">
                <a:solidFill>
                  <a:srgbClr val="070A1A"/>
                </a:solidFill>
                <a:latin typeface="Arial"/>
                <a:cs typeface="Arial"/>
              </a:rPr>
              <a:t> </a:t>
            </a:r>
            <a:r>
              <a:rPr dirty="0" sz="1950" spc="-110" b="1">
                <a:solidFill>
                  <a:srgbClr val="070A1A"/>
                </a:solidFill>
                <a:latin typeface="Arial"/>
                <a:cs typeface="Arial"/>
              </a:rPr>
              <a:t>Treatment</a:t>
            </a:r>
            <a:r>
              <a:rPr dirty="0" sz="1950" spc="50" b="1">
                <a:solidFill>
                  <a:srgbClr val="070A1A"/>
                </a:solidFill>
                <a:latin typeface="Arial"/>
                <a:cs typeface="Arial"/>
              </a:rPr>
              <a:t> </a:t>
            </a:r>
            <a:r>
              <a:rPr dirty="0" sz="1950" spc="-90" b="1">
                <a:solidFill>
                  <a:srgbClr val="070A1A"/>
                </a:solidFill>
                <a:latin typeface="Arial"/>
                <a:cs typeface="Arial"/>
              </a:rPr>
              <a:t>Effect</a:t>
            </a:r>
            <a:r>
              <a:rPr dirty="0" sz="1950" spc="-65" b="1">
                <a:solidFill>
                  <a:srgbClr val="070A1A"/>
                </a:solidFill>
                <a:latin typeface="Arial"/>
                <a:cs typeface="Arial"/>
              </a:rPr>
              <a:t> </a:t>
            </a:r>
            <a:r>
              <a:rPr dirty="0" sz="1950" spc="-100" b="1">
                <a:solidFill>
                  <a:srgbClr val="313438"/>
                </a:solidFill>
                <a:latin typeface="Arial"/>
                <a:cs typeface="Arial"/>
              </a:rPr>
              <a:t>(AT</a:t>
            </a:r>
            <a:r>
              <a:rPr dirty="0" sz="1950" spc="-100" b="1">
                <a:solidFill>
                  <a:srgbClr val="070A1A"/>
                </a:solidFill>
                <a:latin typeface="Arial"/>
                <a:cs typeface="Arial"/>
              </a:rPr>
              <a:t>E</a:t>
            </a:r>
            <a:r>
              <a:rPr dirty="0" sz="1950" spc="-100" b="1">
                <a:solidFill>
                  <a:srgbClr val="313438"/>
                </a:solidFill>
                <a:latin typeface="Arial"/>
                <a:cs typeface="Arial"/>
              </a:rPr>
              <a:t>):</a:t>
            </a:r>
            <a:r>
              <a:rPr dirty="0" sz="1950" spc="-220" b="1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dirty="0" sz="1950" spc="-70">
                <a:solidFill>
                  <a:srgbClr val="313438"/>
                </a:solidFill>
                <a:latin typeface="Arial"/>
                <a:cs typeface="Arial"/>
              </a:rPr>
              <a:t>0.1215,</a:t>
            </a:r>
            <a:r>
              <a:rPr dirty="0" sz="1950" spc="-120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dirty="0" sz="1950">
                <a:solidFill>
                  <a:srgbClr val="1C1D23"/>
                </a:solidFill>
                <a:latin typeface="Arial"/>
                <a:cs typeface="Arial"/>
              </a:rPr>
              <a:t>with</a:t>
            </a:r>
            <a:r>
              <a:rPr dirty="0" sz="1950" spc="-125">
                <a:solidFill>
                  <a:srgbClr val="1C1D23"/>
                </a:solidFill>
                <a:latin typeface="Arial"/>
                <a:cs typeface="Arial"/>
              </a:rPr>
              <a:t> </a:t>
            </a:r>
            <a:r>
              <a:rPr dirty="0" sz="1950" spc="-60">
                <a:solidFill>
                  <a:srgbClr val="1C1D23"/>
                </a:solidFill>
                <a:latin typeface="Arial"/>
                <a:cs typeface="Arial"/>
              </a:rPr>
              <a:t>a</a:t>
            </a:r>
            <a:r>
              <a:rPr dirty="0" sz="1950" spc="-75">
                <a:solidFill>
                  <a:srgbClr val="1C1D23"/>
                </a:solidFill>
                <a:latin typeface="Arial"/>
                <a:cs typeface="Arial"/>
              </a:rPr>
              <a:t> </a:t>
            </a:r>
            <a:r>
              <a:rPr dirty="0" sz="1950">
                <a:solidFill>
                  <a:srgbClr val="313438"/>
                </a:solidFill>
                <a:latin typeface="Arial"/>
                <a:cs typeface="Arial"/>
              </a:rPr>
              <a:t>tight</a:t>
            </a:r>
            <a:r>
              <a:rPr dirty="0" sz="1950" spc="-125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dirty="0" sz="1950" spc="-50">
                <a:solidFill>
                  <a:srgbClr val="313438"/>
                </a:solidFill>
                <a:latin typeface="Arial"/>
                <a:cs typeface="Arial"/>
              </a:rPr>
              <a:t>confidence</a:t>
            </a:r>
            <a:r>
              <a:rPr dirty="0" sz="1950" spc="-85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dirty="0" sz="1950" spc="-40">
                <a:solidFill>
                  <a:srgbClr val="313438"/>
                </a:solidFill>
                <a:latin typeface="Arial"/>
                <a:cs typeface="Arial"/>
              </a:rPr>
              <a:t>interval,</a:t>
            </a:r>
            <a:r>
              <a:rPr dirty="0" sz="1950" spc="-120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dirty="0" sz="1950" spc="-10">
                <a:solidFill>
                  <a:srgbClr val="313438"/>
                </a:solidFill>
                <a:latin typeface="Arial"/>
                <a:cs typeface="Arial"/>
              </a:rPr>
              <a:t>furthe</a:t>
            </a:r>
            <a:r>
              <a:rPr dirty="0" sz="1950" spc="-10">
                <a:solidFill>
                  <a:srgbClr val="070A1A"/>
                </a:solidFill>
                <a:latin typeface="Arial"/>
                <a:cs typeface="Arial"/>
              </a:rPr>
              <a:t>r</a:t>
            </a:r>
            <a:endParaRPr sz="1950">
              <a:latin typeface="Arial"/>
              <a:cs typeface="Arial"/>
            </a:endParaRPr>
          </a:p>
          <a:p>
            <a:pPr marL="934085">
              <a:lnSpc>
                <a:spcPts val="2275"/>
              </a:lnSpc>
            </a:pPr>
            <a:r>
              <a:rPr dirty="0" sz="1950" spc="-40">
                <a:solidFill>
                  <a:srgbClr val="313438"/>
                </a:solidFill>
                <a:latin typeface="Arial"/>
                <a:cs typeface="Arial"/>
              </a:rPr>
              <a:t>supporting</a:t>
            </a:r>
            <a:r>
              <a:rPr dirty="0" sz="1950" spc="-80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dirty="0" sz="1950">
                <a:solidFill>
                  <a:srgbClr val="313438"/>
                </a:solidFill>
                <a:latin typeface="Arial"/>
                <a:cs typeface="Arial"/>
              </a:rPr>
              <a:t>the</a:t>
            </a:r>
            <a:r>
              <a:rPr dirty="0" sz="1950" spc="-145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dirty="0" sz="1950" spc="-10">
                <a:solidFill>
                  <a:srgbClr val="313438"/>
                </a:solidFill>
                <a:latin typeface="Arial"/>
                <a:cs typeface="Arial"/>
              </a:rPr>
              <a:t>result.</a:t>
            </a:r>
            <a:endParaRPr sz="1950">
              <a:latin typeface="Arial"/>
              <a:cs typeface="Arial"/>
            </a:endParaRPr>
          </a:p>
          <a:p>
            <a:pPr marL="586105">
              <a:lnSpc>
                <a:spcPct val="100000"/>
              </a:lnSpc>
              <a:spcBef>
                <a:spcPts val="1375"/>
              </a:spcBef>
            </a:pPr>
            <a:r>
              <a:rPr dirty="0" sz="1950" spc="-50" b="1">
                <a:solidFill>
                  <a:srgbClr val="1C1D23"/>
                </a:solidFill>
                <a:latin typeface="Arial"/>
                <a:cs typeface="Arial"/>
              </a:rPr>
              <a:t>Conclusion:</a:t>
            </a:r>
            <a:endParaRPr sz="1950">
              <a:latin typeface="Arial"/>
              <a:cs typeface="Arial"/>
            </a:endParaRPr>
          </a:p>
          <a:p>
            <a:pPr marL="602615" marR="1166495" indent="-10795">
              <a:lnSpc>
                <a:spcPts val="2210"/>
              </a:lnSpc>
              <a:spcBef>
                <a:spcPts val="960"/>
              </a:spcBef>
              <a:tabLst>
                <a:tab pos="7472045" algn="l"/>
              </a:tabLst>
            </a:pPr>
            <a:r>
              <a:rPr dirty="0" sz="1950" spc="-45">
                <a:solidFill>
                  <a:srgbClr val="313438"/>
                </a:solidFill>
                <a:latin typeface="Arial"/>
                <a:cs typeface="Arial"/>
              </a:rPr>
              <a:t>The</a:t>
            </a:r>
            <a:r>
              <a:rPr dirty="0" sz="1950" spc="-195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dirty="0" sz="1950">
                <a:solidFill>
                  <a:srgbClr val="313438"/>
                </a:solidFill>
                <a:latin typeface="Arial"/>
                <a:cs typeface="Arial"/>
              </a:rPr>
              <a:t>effect</a:t>
            </a:r>
            <a:r>
              <a:rPr dirty="0" sz="1950" spc="-95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dirty="0" sz="1950" spc="70">
                <a:solidFill>
                  <a:srgbClr val="1C1D23"/>
                </a:solidFill>
                <a:latin typeface="Arial"/>
                <a:cs typeface="Arial"/>
              </a:rPr>
              <a:t>of</a:t>
            </a:r>
            <a:r>
              <a:rPr dirty="0" sz="1950" spc="155">
                <a:solidFill>
                  <a:srgbClr val="1C1D23"/>
                </a:solidFill>
                <a:latin typeface="Arial"/>
                <a:cs typeface="Arial"/>
              </a:rPr>
              <a:t> </a:t>
            </a:r>
            <a:r>
              <a:rPr dirty="0" sz="1950">
                <a:solidFill>
                  <a:srgbClr val="426D62"/>
                </a:solidFill>
                <a:latin typeface="Arial"/>
                <a:cs typeface="Arial"/>
              </a:rPr>
              <a:t>adherence_p</a:t>
            </a:r>
            <a:r>
              <a:rPr dirty="0" sz="1950">
                <a:solidFill>
                  <a:srgbClr val="335D50"/>
                </a:solidFill>
                <a:latin typeface="Arial"/>
                <a:cs typeface="Arial"/>
              </a:rPr>
              <a:t>rog</a:t>
            </a:r>
            <a:r>
              <a:rPr dirty="0" sz="1950" spc="-175">
                <a:solidFill>
                  <a:srgbClr val="335D50"/>
                </a:solidFill>
                <a:latin typeface="Arial"/>
                <a:cs typeface="Arial"/>
              </a:rPr>
              <a:t> </a:t>
            </a:r>
            <a:r>
              <a:rPr dirty="0" sz="1950" spc="55">
                <a:solidFill>
                  <a:srgbClr val="426D62"/>
                </a:solidFill>
                <a:latin typeface="Arial"/>
                <a:cs typeface="Arial"/>
              </a:rPr>
              <a:t>ram_en</a:t>
            </a:r>
            <a:r>
              <a:rPr dirty="0" sz="1950" spc="55">
                <a:solidFill>
                  <a:srgbClr val="335D50"/>
                </a:solidFill>
                <a:latin typeface="Arial"/>
                <a:cs typeface="Arial"/>
              </a:rPr>
              <a:t>rollment</a:t>
            </a:r>
            <a:r>
              <a:rPr dirty="0" sz="1950" spc="310">
                <a:solidFill>
                  <a:srgbClr val="335D50"/>
                </a:solidFill>
                <a:latin typeface="Arial"/>
                <a:cs typeface="Arial"/>
              </a:rPr>
              <a:t> </a:t>
            </a:r>
            <a:r>
              <a:rPr dirty="0" sz="1950" spc="50">
                <a:solidFill>
                  <a:srgbClr val="1C1D23"/>
                </a:solidFill>
                <a:latin typeface="Arial"/>
                <a:cs typeface="Arial"/>
              </a:rPr>
              <a:t>on</a:t>
            </a:r>
            <a:r>
              <a:rPr dirty="0" sz="1950" spc="-50">
                <a:solidFill>
                  <a:srgbClr val="1C1D23"/>
                </a:solidFill>
                <a:latin typeface="Arial"/>
                <a:cs typeface="Arial"/>
              </a:rPr>
              <a:t> </a:t>
            </a:r>
            <a:r>
              <a:rPr dirty="0" sz="1950" spc="-10">
                <a:solidFill>
                  <a:srgbClr val="335D50"/>
                </a:solidFill>
                <a:latin typeface="Arial"/>
                <a:cs typeface="Arial"/>
              </a:rPr>
              <a:t>POC</a:t>
            </a:r>
            <a:r>
              <a:rPr dirty="0" sz="1950" spc="-10">
                <a:solidFill>
                  <a:srgbClr val="578577"/>
                </a:solidFill>
                <a:latin typeface="Arial"/>
                <a:cs typeface="Arial"/>
              </a:rPr>
              <a:t>_sco</a:t>
            </a:r>
            <a:r>
              <a:rPr dirty="0" sz="1950" spc="-10">
                <a:solidFill>
                  <a:srgbClr val="335D50"/>
                </a:solidFill>
                <a:latin typeface="Arial"/>
                <a:cs typeface="Arial"/>
              </a:rPr>
              <a:t>re</a:t>
            </a:r>
            <a:r>
              <a:rPr dirty="0" sz="1950">
                <a:solidFill>
                  <a:srgbClr val="335D50"/>
                </a:solidFill>
                <a:latin typeface="Arial"/>
                <a:cs typeface="Arial"/>
              </a:rPr>
              <a:t>	</a:t>
            </a:r>
            <a:r>
              <a:rPr dirty="0" sz="1950">
                <a:solidFill>
                  <a:srgbClr val="313438"/>
                </a:solidFill>
                <a:latin typeface="Arial"/>
                <a:cs typeface="Arial"/>
              </a:rPr>
              <a:t>is</a:t>
            </a:r>
            <a:r>
              <a:rPr dirty="0" sz="1950" spc="-100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dirty="0" sz="1950" spc="-10">
                <a:solidFill>
                  <a:srgbClr val="313438"/>
                </a:solidFill>
                <a:latin typeface="Arial"/>
                <a:cs typeface="Arial"/>
              </a:rPr>
              <a:t>statistically </a:t>
            </a:r>
            <a:r>
              <a:rPr dirty="0" sz="1950" spc="-25">
                <a:solidFill>
                  <a:srgbClr val="313438"/>
                </a:solidFill>
                <a:latin typeface="Arial"/>
                <a:cs typeface="Arial"/>
              </a:rPr>
              <a:t>significant</a:t>
            </a:r>
            <a:r>
              <a:rPr dirty="0" sz="1950" spc="-5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dirty="0" sz="1950">
                <a:solidFill>
                  <a:srgbClr val="313438"/>
                </a:solidFill>
                <a:latin typeface="Arial"/>
                <a:cs typeface="Arial"/>
              </a:rPr>
              <a:t>in</a:t>
            </a:r>
            <a:r>
              <a:rPr dirty="0" sz="1950" spc="-195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dirty="0" sz="1950" spc="-45">
                <a:solidFill>
                  <a:srgbClr val="313438"/>
                </a:solidFill>
                <a:latin typeface="Arial"/>
                <a:cs typeface="Arial"/>
              </a:rPr>
              <a:t>your</a:t>
            </a:r>
            <a:r>
              <a:rPr dirty="0" sz="1950" spc="-125">
                <a:solidFill>
                  <a:srgbClr val="313438"/>
                </a:solidFill>
                <a:latin typeface="Arial"/>
                <a:cs typeface="Arial"/>
              </a:rPr>
              <a:t> </a:t>
            </a:r>
            <a:r>
              <a:rPr dirty="0" sz="1950" spc="-10">
                <a:solidFill>
                  <a:srgbClr val="313438"/>
                </a:solidFill>
                <a:latin typeface="Arial"/>
                <a:cs typeface="Arial"/>
              </a:rPr>
              <a:t>analysis.</a:t>
            </a:r>
            <a:endParaRPr sz="1950">
              <a:latin typeface="Arial"/>
              <a:cs typeface="Arial"/>
            </a:endParaRPr>
          </a:p>
          <a:p>
            <a:pPr marL="589280">
              <a:lnSpc>
                <a:spcPts val="1814"/>
              </a:lnSpc>
              <a:spcBef>
                <a:spcPts val="775"/>
              </a:spcBef>
            </a:pPr>
            <a:r>
              <a:rPr dirty="0" sz="1600" spc="-10">
                <a:solidFill>
                  <a:srgbClr val="75797C"/>
                </a:solidFill>
                <a:latin typeface="Arial"/>
                <a:cs typeface="Arial"/>
              </a:rPr>
              <a:t>09</a:t>
            </a:r>
            <a:r>
              <a:rPr dirty="0" sz="1600" spc="-10">
                <a:solidFill>
                  <a:srgbClr val="52565B"/>
                </a:solidFill>
                <a:latin typeface="Arial"/>
                <a:cs typeface="Arial"/>
              </a:rPr>
              <a:t>:</a:t>
            </a:r>
            <a:r>
              <a:rPr dirty="0" sz="1600" spc="-10">
                <a:solidFill>
                  <a:srgbClr val="75797C"/>
                </a:solidFill>
                <a:latin typeface="Arial"/>
                <a:cs typeface="Arial"/>
              </a:rPr>
              <a:t>55:21</a:t>
            </a:r>
            <a:endParaRPr sz="1600">
              <a:latin typeface="Arial"/>
              <a:cs typeface="Arial"/>
            </a:endParaRPr>
          </a:p>
          <a:p>
            <a:pPr marL="598170">
              <a:lnSpc>
                <a:spcPts val="1935"/>
              </a:lnSpc>
            </a:pPr>
            <a:r>
              <a:rPr dirty="0" sz="1700" spc="-114">
                <a:solidFill>
                  <a:srgbClr val="75797C"/>
                </a:solidFill>
                <a:latin typeface="Arial"/>
                <a:cs typeface="Arial"/>
              </a:rPr>
              <a:t>Answered</a:t>
            </a:r>
            <a:r>
              <a:rPr dirty="0" sz="1700" spc="-65">
                <a:solidFill>
                  <a:srgbClr val="75797C"/>
                </a:solidFill>
                <a:latin typeface="Arial"/>
                <a:cs typeface="Arial"/>
              </a:rPr>
              <a:t> </a:t>
            </a:r>
            <a:r>
              <a:rPr dirty="0" sz="1700" spc="-35">
                <a:solidFill>
                  <a:srgbClr val="75797C"/>
                </a:solidFill>
                <a:latin typeface="Arial"/>
                <a:cs typeface="Arial"/>
              </a:rPr>
              <a:t>by:</a:t>
            </a:r>
            <a:r>
              <a:rPr dirty="0" sz="1700" spc="-254">
                <a:solidFill>
                  <a:srgbClr val="75797C"/>
                </a:solidFill>
                <a:latin typeface="Arial"/>
                <a:cs typeface="Arial"/>
              </a:rPr>
              <a:t> </a:t>
            </a:r>
            <a:r>
              <a:rPr dirty="0" sz="1700" spc="-40">
                <a:solidFill>
                  <a:srgbClr val="75797C"/>
                </a:solidFill>
                <a:latin typeface="Arial"/>
                <a:cs typeface="Arial"/>
              </a:rPr>
              <a:t>A</a:t>
            </a:r>
            <a:r>
              <a:rPr dirty="0" sz="1700" spc="-40">
                <a:solidFill>
                  <a:srgbClr val="52565B"/>
                </a:solidFill>
                <a:latin typeface="Arial"/>
                <a:cs typeface="Arial"/>
              </a:rPr>
              <a:t>I</a:t>
            </a:r>
            <a:r>
              <a:rPr dirty="0" sz="1700" spc="-40">
                <a:solidFill>
                  <a:srgbClr val="75797C"/>
                </a:solidFill>
                <a:latin typeface="Arial"/>
                <a:cs typeface="Arial"/>
              </a:rPr>
              <a:t>_I</a:t>
            </a:r>
            <a:r>
              <a:rPr dirty="0" sz="1700" spc="-40">
                <a:solidFill>
                  <a:srgbClr val="52565B"/>
                </a:solidFill>
                <a:latin typeface="Arial"/>
                <a:cs typeface="Arial"/>
              </a:rPr>
              <a:t>n</a:t>
            </a:r>
            <a:r>
              <a:rPr dirty="0" sz="1700" spc="-40">
                <a:solidFill>
                  <a:srgbClr val="75797C"/>
                </a:solidFill>
                <a:latin typeface="Arial"/>
                <a:cs typeface="Arial"/>
              </a:rPr>
              <a:t>terpretationAge</a:t>
            </a:r>
            <a:r>
              <a:rPr dirty="0" sz="1700" spc="-40">
                <a:solidFill>
                  <a:srgbClr val="52565B"/>
                </a:solidFill>
                <a:latin typeface="Arial"/>
                <a:cs typeface="Arial"/>
              </a:rPr>
              <a:t>n</a:t>
            </a:r>
            <a:r>
              <a:rPr dirty="0" sz="1700" spc="-40">
                <a:solidFill>
                  <a:srgbClr val="75797C"/>
                </a:solidFill>
                <a:latin typeface="Arial"/>
                <a:cs typeface="Arial"/>
              </a:rPr>
              <a:t>t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25093" y="3549252"/>
            <a:ext cx="1502956" cy="112342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15389" y="4723738"/>
            <a:ext cx="4636237" cy="209364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85063" y="6868450"/>
            <a:ext cx="687793" cy="485113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694010" y="3319461"/>
            <a:ext cx="0" cy="1251585"/>
          </a:xfrm>
          <a:custGeom>
            <a:avLst/>
            <a:gdLst/>
            <a:ahLst/>
            <a:cxnLst/>
            <a:rect l="l" t="t" r="r" b="b"/>
            <a:pathLst>
              <a:path w="0" h="1251585">
                <a:moveTo>
                  <a:pt x="0" y="1251081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177102" y="6000351"/>
            <a:ext cx="0" cy="791845"/>
          </a:xfrm>
          <a:custGeom>
            <a:avLst/>
            <a:gdLst/>
            <a:ahLst/>
            <a:cxnLst/>
            <a:rect l="l" t="t" r="r" b="b"/>
            <a:pathLst>
              <a:path w="0" h="791845">
                <a:moveTo>
                  <a:pt x="0" y="791500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572857" y="6830150"/>
            <a:ext cx="942975" cy="0"/>
          </a:xfrm>
          <a:custGeom>
            <a:avLst/>
            <a:gdLst/>
            <a:ahLst/>
            <a:cxnLst/>
            <a:rect l="l" t="t" r="r" b="b"/>
            <a:pathLst>
              <a:path w="942975" h="0">
                <a:moveTo>
                  <a:pt x="0" y="0"/>
                </a:moveTo>
                <a:lnTo>
                  <a:pt x="942532" y="0"/>
                </a:lnTo>
              </a:path>
            </a:pathLst>
          </a:custGeom>
          <a:ln w="638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655799" y="7800377"/>
            <a:ext cx="2751455" cy="0"/>
          </a:xfrm>
          <a:custGeom>
            <a:avLst/>
            <a:gdLst/>
            <a:ahLst/>
            <a:cxnLst/>
            <a:rect l="l" t="t" r="r" b="b"/>
            <a:pathLst>
              <a:path w="2751454" h="0">
                <a:moveTo>
                  <a:pt x="0" y="0"/>
                </a:moveTo>
                <a:lnTo>
                  <a:pt x="2751174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706140" y="8579111"/>
            <a:ext cx="3184525" cy="0"/>
          </a:xfrm>
          <a:custGeom>
            <a:avLst/>
            <a:gdLst/>
            <a:ahLst/>
            <a:cxnLst/>
            <a:rect l="l" t="t" r="r" b="b"/>
            <a:pathLst>
              <a:path w="3184525" h="0">
                <a:moveTo>
                  <a:pt x="0" y="0"/>
                </a:moveTo>
                <a:lnTo>
                  <a:pt x="3184229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617285" y="8591877"/>
            <a:ext cx="917575" cy="0"/>
          </a:xfrm>
          <a:custGeom>
            <a:avLst/>
            <a:gdLst/>
            <a:ahLst/>
            <a:cxnLst/>
            <a:rect l="l" t="t" r="r" b="b"/>
            <a:pathLst>
              <a:path w="917575" h="0">
                <a:moveTo>
                  <a:pt x="0" y="0"/>
                </a:moveTo>
                <a:lnTo>
                  <a:pt x="917058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41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dirty="0" sz="5200">
                <a:solidFill>
                  <a:srgbClr val="08162D"/>
                </a:solidFill>
              </a:rPr>
              <a:t>Beyond</a:t>
            </a:r>
            <a:r>
              <a:rPr dirty="0" sz="5200" spc="45">
                <a:solidFill>
                  <a:srgbClr val="08162D"/>
                </a:solidFill>
              </a:rPr>
              <a:t> </a:t>
            </a:r>
            <a:r>
              <a:rPr dirty="0" sz="5200" spc="80">
                <a:solidFill>
                  <a:srgbClr val="08162D"/>
                </a:solidFill>
              </a:rPr>
              <a:t>Observation:</a:t>
            </a:r>
            <a:r>
              <a:rPr dirty="0" sz="5200" spc="70">
                <a:solidFill>
                  <a:srgbClr val="08162D"/>
                </a:solidFill>
              </a:rPr>
              <a:t> </a:t>
            </a:r>
            <a:r>
              <a:rPr dirty="0" sz="5200" spc="150">
                <a:solidFill>
                  <a:srgbClr val="08162D"/>
                </a:solidFill>
              </a:rPr>
              <a:t>Counterfactual</a:t>
            </a:r>
            <a:r>
              <a:rPr dirty="0" sz="5200" spc="-175">
                <a:solidFill>
                  <a:srgbClr val="08162D"/>
                </a:solidFill>
              </a:rPr>
              <a:t> </a:t>
            </a:r>
            <a:r>
              <a:rPr dirty="0" sz="5200" spc="-10">
                <a:solidFill>
                  <a:srgbClr val="08162D"/>
                </a:solidFill>
              </a:rPr>
              <a:t>Analysis</a:t>
            </a:r>
            <a:endParaRPr sz="5200"/>
          </a:p>
          <a:p>
            <a:pPr marL="36195">
              <a:lnSpc>
                <a:spcPct val="100000"/>
              </a:lnSpc>
              <a:spcBef>
                <a:spcPts val="885"/>
              </a:spcBef>
            </a:pPr>
            <a:r>
              <a:rPr dirty="0" sz="3400" b="0">
                <a:solidFill>
                  <a:srgbClr val="0E0F11"/>
                </a:solidFill>
                <a:latin typeface="Arial"/>
                <a:cs typeface="Arial"/>
              </a:rPr>
              <a:t>Answering</a:t>
            </a:r>
            <a:r>
              <a:rPr dirty="0" sz="3400" spc="55" b="0">
                <a:solidFill>
                  <a:srgbClr val="0E0F11"/>
                </a:solidFill>
                <a:latin typeface="Arial"/>
                <a:cs typeface="Arial"/>
              </a:rPr>
              <a:t> </a:t>
            </a:r>
            <a:r>
              <a:rPr dirty="0" sz="3400" b="0">
                <a:solidFill>
                  <a:srgbClr val="0E0F11"/>
                </a:solidFill>
                <a:latin typeface="Arial"/>
                <a:cs typeface="Arial"/>
              </a:rPr>
              <a:t>the</a:t>
            </a:r>
            <a:r>
              <a:rPr dirty="0" sz="3400" spc="215" b="0">
                <a:solidFill>
                  <a:srgbClr val="0E0F11"/>
                </a:solidFill>
                <a:latin typeface="Arial"/>
                <a:cs typeface="Arial"/>
              </a:rPr>
              <a:t> </a:t>
            </a:r>
            <a:r>
              <a:rPr dirty="0" sz="3400" b="0">
                <a:solidFill>
                  <a:srgbClr val="242A2B"/>
                </a:solidFill>
                <a:latin typeface="Arial"/>
                <a:cs typeface="Arial"/>
              </a:rPr>
              <a:t>"</a:t>
            </a:r>
            <a:r>
              <a:rPr dirty="0" sz="3400" b="0">
                <a:solidFill>
                  <a:srgbClr val="0E0F11"/>
                </a:solidFill>
                <a:latin typeface="Arial"/>
                <a:cs typeface="Arial"/>
              </a:rPr>
              <a:t>What</a:t>
            </a:r>
            <a:r>
              <a:rPr dirty="0" sz="3400" spc="360" b="0">
                <a:solidFill>
                  <a:srgbClr val="0E0F11"/>
                </a:solidFill>
                <a:latin typeface="Arial"/>
                <a:cs typeface="Arial"/>
              </a:rPr>
              <a:t> </a:t>
            </a:r>
            <a:r>
              <a:rPr dirty="0" sz="3400" spc="55" b="0">
                <a:solidFill>
                  <a:srgbClr val="0E0F11"/>
                </a:solidFill>
                <a:latin typeface="Arial"/>
                <a:cs typeface="Arial"/>
              </a:rPr>
              <a:t>If?"</a:t>
            </a:r>
            <a:r>
              <a:rPr dirty="0" sz="3400" spc="-80" b="0">
                <a:solidFill>
                  <a:srgbClr val="0E0F11"/>
                </a:solidFill>
                <a:latin typeface="Arial"/>
                <a:cs typeface="Arial"/>
              </a:rPr>
              <a:t> </a:t>
            </a:r>
            <a:r>
              <a:rPr dirty="0" sz="3400" spc="80" b="0">
                <a:solidFill>
                  <a:srgbClr val="0E0F11"/>
                </a:solidFill>
                <a:latin typeface="Arial"/>
                <a:cs typeface="Arial"/>
              </a:rPr>
              <a:t>questions</a:t>
            </a:r>
            <a:r>
              <a:rPr dirty="0" sz="3400" spc="50" b="0">
                <a:solidFill>
                  <a:srgbClr val="0E0F11"/>
                </a:solidFill>
                <a:latin typeface="Arial"/>
                <a:cs typeface="Arial"/>
              </a:rPr>
              <a:t> </a:t>
            </a:r>
            <a:r>
              <a:rPr dirty="0" sz="3400" spc="150" b="0">
                <a:solidFill>
                  <a:srgbClr val="0E0F11"/>
                </a:solidFill>
                <a:latin typeface="Arial"/>
                <a:cs typeface="Arial"/>
              </a:rPr>
              <a:t>that</a:t>
            </a:r>
            <a:r>
              <a:rPr dirty="0" sz="3400" spc="15" b="0">
                <a:solidFill>
                  <a:srgbClr val="0E0F11"/>
                </a:solidFill>
                <a:latin typeface="Arial"/>
                <a:cs typeface="Arial"/>
              </a:rPr>
              <a:t> </a:t>
            </a:r>
            <a:r>
              <a:rPr dirty="0" sz="3400" b="0">
                <a:solidFill>
                  <a:srgbClr val="0E0F11"/>
                </a:solidFill>
                <a:latin typeface="Arial"/>
                <a:cs typeface="Arial"/>
              </a:rPr>
              <a:t>drive</a:t>
            </a:r>
            <a:r>
              <a:rPr dirty="0" sz="3400" spc="85" b="0">
                <a:solidFill>
                  <a:srgbClr val="0E0F11"/>
                </a:solidFill>
                <a:latin typeface="Arial"/>
                <a:cs typeface="Arial"/>
              </a:rPr>
              <a:t> </a:t>
            </a:r>
            <a:r>
              <a:rPr dirty="0" sz="3400" spc="45" b="0">
                <a:solidFill>
                  <a:srgbClr val="0E0F11"/>
                </a:solidFill>
                <a:latin typeface="Arial"/>
                <a:cs typeface="Arial"/>
              </a:rPr>
              <a:t>strategy</a:t>
            </a:r>
            <a:r>
              <a:rPr dirty="0" sz="3400" spc="45" b="0">
                <a:solidFill>
                  <a:srgbClr val="242A2B"/>
                </a:solidFill>
                <a:latin typeface="Arial"/>
                <a:cs typeface="Arial"/>
              </a:rPr>
              <a:t>.</a:t>
            </a:r>
            <a:endParaRPr sz="3400">
              <a:latin typeface="Arial"/>
              <a:cs typeface="Arial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/>
              <a:t>Isl\</a:t>
            </a:r>
            <a:r>
              <a:rPr dirty="0" sz="1300" spc="-45"/>
              <a:t> </a:t>
            </a:r>
            <a:r>
              <a:rPr dirty="0" spc="-10">
                <a:solidFill>
                  <a:srgbClr val="13161A"/>
                </a:solidFill>
              </a:rPr>
              <a:t>N</a:t>
            </a:r>
            <a:r>
              <a:rPr dirty="0" spc="-10"/>
              <a:t>otebookL</a:t>
            </a:r>
            <a:r>
              <a:rPr dirty="0" spc="-10">
                <a:solidFill>
                  <a:srgbClr val="13161A"/>
                </a:solidFill>
              </a:rPr>
              <a:t>M</a:t>
            </a:r>
            <a:endParaRPr sz="1300"/>
          </a:p>
        </p:txBody>
      </p:sp>
      <p:sp>
        <p:nvSpPr>
          <p:cNvPr id="12" name="object 12"/>
          <p:cNvSpPr txBox="1"/>
          <p:nvPr/>
        </p:nvSpPr>
        <p:spPr>
          <a:xfrm>
            <a:off x="2696537" y="2674837"/>
            <a:ext cx="4356735" cy="4470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750" spc="-114" b="1">
                <a:solidFill>
                  <a:srgbClr val="08162D"/>
                </a:solidFill>
                <a:latin typeface="Arial"/>
                <a:cs typeface="Arial"/>
              </a:rPr>
              <a:t>Causal</a:t>
            </a:r>
            <a:r>
              <a:rPr dirty="0" sz="2750" spc="-100" b="1">
                <a:solidFill>
                  <a:srgbClr val="08162D"/>
                </a:solidFill>
                <a:latin typeface="Arial"/>
                <a:cs typeface="Arial"/>
              </a:rPr>
              <a:t> </a:t>
            </a:r>
            <a:r>
              <a:rPr dirty="0" sz="2750" spc="-50" b="1">
                <a:solidFill>
                  <a:srgbClr val="08162D"/>
                </a:solidFill>
                <a:latin typeface="Arial"/>
                <a:cs typeface="Arial"/>
              </a:rPr>
              <a:t>Impact</a:t>
            </a:r>
            <a:r>
              <a:rPr dirty="0" sz="2750" spc="-105" b="1">
                <a:solidFill>
                  <a:srgbClr val="08162D"/>
                </a:solidFill>
                <a:latin typeface="Arial"/>
                <a:cs typeface="Arial"/>
              </a:rPr>
              <a:t> </a:t>
            </a:r>
            <a:r>
              <a:rPr dirty="0" sz="2750" spc="-70" b="1">
                <a:solidFill>
                  <a:srgbClr val="08162D"/>
                </a:solidFill>
                <a:latin typeface="Arial"/>
                <a:cs typeface="Arial"/>
              </a:rPr>
              <a:t>Visualization</a:t>
            </a:r>
            <a:endParaRPr sz="27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53172" y="4225925"/>
            <a:ext cx="1801495" cy="3168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00">
                <a:solidFill>
                  <a:srgbClr val="344657"/>
                </a:solidFill>
                <a:latin typeface="Arial"/>
                <a:cs typeface="Arial"/>
              </a:rPr>
              <a:t>Actual</a:t>
            </a:r>
            <a:r>
              <a:rPr dirty="0" sz="1900" spc="170">
                <a:solidFill>
                  <a:srgbClr val="344657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344657"/>
                </a:solidFill>
                <a:latin typeface="Arial"/>
                <a:cs typeface="Arial"/>
              </a:rPr>
              <a:t>Outcome</a:t>
            </a:r>
            <a:endParaRPr sz="19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04557" y="5036575"/>
            <a:ext cx="170815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25">
                <a:solidFill>
                  <a:srgbClr val="242A2B"/>
                </a:solidFill>
                <a:latin typeface="Arial"/>
                <a:cs typeface="Arial"/>
              </a:rPr>
              <a:t>(LI</a:t>
            </a:r>
            <a:endParaRPr sz="9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91311" y="5138704"/>
            <a:ext cx="205104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50">
                <a:solidFill>
                  <a:srgbClr val="242A2B"/>
                </a:solidFill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60904" y="5394027"/>
            <a:ext cx="116839" cy="217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50" spc="-50">
                <a:solidFill>
                  <a:srgbClr val="242A2B"/>
                </a:solidFill>
                <a:latin typeface="Arial"/>
                <a:cs typeface="Arial"/>
              </a:rPr>
              <a:t>0</a:t>
            </a:r>
            <a:endParaRPr sz="12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62945" y="5528071"/>
            <a:ext cx="113030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 spc="-50">
                <a:solidFill>
                  <a:srgbClr val="242A2B"/>
                </a:solidFill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49643" y="5157853"/>
            <a:ext cx="268605" cy="96011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100" spc="-1725">
                <a:solidFill>
                  <a:srgbClr val="242A2B"/>
                </a:solidFill>
                <a:latin typeface="Arial"/>
                <a:cs typeface="Arial"/>
              </a:rPr>
              <a:t>-</a:t>
            </a:r>
            <a:endParaRPr sz="61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98756" y="5751479"/>
            <a:ext cx="170815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spc="-25">
                <a:solidFill>
                  <a:srgbClr val="242A2B"/>
                </a:solidFill>
                <a:latin typeface="Arial"/>
                <a:cs typeface="Arial"/>
              </a:rPr>
              <a:t>::J</a:t>
            </a:r>
            <a:endParaRPr sz="11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97707" y="5879140"/>
            <a:ext cx="128905" cy="2628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50" spc="-50">
                <a:solidFill>
                  <a:srgbClr val="242A2B"/>
                </a:solidFill>
                <a:latin typeface="Arial"/>
                <a:cs typeface="Arial"/>
              </a:rPr>
              <a:t>0</a:t>
            </a:r>
            <a:endParaRPr sz="15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429236" y="5464241"/>
            <a:ext cx="1340485" cy="61023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405765" marR="5080" indent="-393700">
              <a:lnSpc>
                <a:spcPct val="101400"/>
              </a:lnSpc>
              <a:spcBef>
                <a:spcPts val="75"/>
              </a:spcBef>
            </a:pPr>
            <a:r>
              <a:rPr dirty="0" sz="1900" spc="-10">
                <a:solidFill>
                  <a:srgbClr val="242A2B"/>
                </a:solidFill>
                <a:latin typeface="Arial"/>
                <a:cs typeface="Arial"/>
              </a:rPr>
              <a:t>Intervention Start</a:t>
            </a:r>
            <a:endParaRPr sz="19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10823" y="6983412"/>
            <a:ext cx="168275" cy="607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800" spc="10">
                <a:solidFill>
                  <a:srgbClr val="C8CDD4"/>
                </a:solidFill>
                <a:latin typeface="Arial"/>
                <a:cs typeface="Arial"/>
              </a:rPr>
              <a:t>I</a:t>
            </a:r>
            <a:endParaRPr sz="3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318185" y="5336580"/>
            <a:ext cx="1604645" cy="3168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00">
                <a:solidFill>
                  <a:srgbClr val="242A2B"/>
                </a:solidFill>
                <a:latin typeface="Arial"/>
                <a:cs typeface="Arial"/>
              </a:rPr>
              <a:t>Causal</a:t>
            </a:r>
            <a:r>
              <a:rPr dirty="0" sz="1900" spc="-110">
                <a:solidFill>
                  <a:srgbClr val="242A2B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242A2B"/>
                </a:solidFill>
                <a:latin typeface="Arial"/>
                <a:cs typeface="Arial"/>
              </a:rPr>
              <a:t>Impact</a:t>
            </a:r>
            <a:endParaRPr sz="19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500361" y="6751068"/>
            <a:ext cx="2409190" cy="6381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384175">
              <a:lnSpc>
                <a:spcPct val="105800"/>
              </a:lnSpc>
              <a:spcBef>
                <a:spcPts val="95"/>
              </a:spcBef>
            </a:pPr>
            <a:r>
              <a:rPr dirty="0" sz="1900" spc="-10">
                <a:solidFill>
                  <a:srgbClr val="BC8964"/>
                </a:solidFill>
                <a:latin typeface="Arial"/>
                <a:cs typeface="Arial"/>
              </a:rPr>
              <a:t>Counterfactua</a:t>
            </a:r>
            <a:r>
              <a:rPr dirty="0" sz="1900" spc="-10">
                <a:solidFill>
                  <a:srgbClr val="A3724F"/>
                </a:solidFill>
                <a:latin typeface="Arial"/>
                <a:cs typeface="Arial"/>
              </a:rPr>
              <a:t>l </a:t>
            </a:r>
            <a:r>
              <a:rPr dirty="0" sz="1900">
                <a:solidFill>
                  <a:srgbClr val="BC8964"/>
                </a:solidFill>
                <a:latin typeface="Arial"/>
                <a:cs typeface="Arial"/>
              </a:rPr>
              <a:t>(W</a:t>
            </a:r>
            <a:r>
              <a:rPr dirty="0" sz="1900">
                <a:solidFill>
                  <a:srgbClr val="A3724F"/>
                </a:solidFill>
                <a:latin typeface="Arial"/>
                <a:cs typeface="Arial"/>
              </a:rPr>
              <a:t>i</a:t>
            </a:r>
            <a:r>
              <a:rPr dirty="0" sz="1900">
                <a:solidFill>
                  <a:srgbClr val="BC8964"/>
                </a:solidFill>
                <a:latin typeface="Arial"/>
                <a:cs typeface="Arial"/>
              </a:rPr>
              <a:t>thout</a:t>
            </a:r>
            <a:r>
              <a:rPr dirty="0" sz="1900" spc="175">
                <a:solidFill>
                  <a:srgbClr val="BC8964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BC8964"/>
                </a:solidFill>
                <a:latin typeface="Arial"/>
                <a:cs typeface="Arial"/>
              </a:rPr>
              <a:t>Intervention)</a:t>
            </a:r>
            <a:endParaRPr sz="19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308488" y="7615336"/>
            <a:ext cx="251460" cy="3549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50" spc="-320">
                <a:solidFill>
                  <a:srgbClr val="C8CDD4"/>
                </a:solidFill>
                <a:latin typeface="Arial"/>
                <a:cs typeface="Arial"/>
              </a:rPr>
              <a:t>➔</a:t>
            </a:r>
            <a:endParaRPr sz="21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745340" y="7953640"/>
            <a:ext cx="589915" cy="3168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00" spc="-20">
                <a:solidFill>
                  <a:srgbClr val="242A2B"/>
                </a:solidFill>
                <a:latin typeface="Arial"/>
                <a:cs typeface="Arial"/>
              </a:rPr>
              <a:t>Time</a:t>
            </a:r>
            <a:endParaRPr sz="19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442232" y="2419515"/>
            <a:ext cx="6440805" cy="208343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6510" marR="5080" indent="-4445">
              <a:lnSpc>
                <a:spcPct val="100899"/>
              </a:lnSpc>
              <a:spcBef>
                <a:spcPts val="80"/>
              </a:spcBef>
            </a:pPr>
            <a:r>
              <a:rPr dirty="0" sz="3350">
                <a:solidFill>
                  <a:srgbClr val="0E0F11"/>
                </a:solidFill>
                <a:latin typeface="Arial"/>
                <a:cs typeface="Arial"/>
              </a:rPr>
              <a:t>Counterfactual</a:t>
            </a:r>
            <a:r>
              <a:rPr dirty="0" sz="3350" spc="-130">
                <a:solidFill>
                  <a:srgbClr val="0E0F11"/>
                </a:solidFill>
                <a:latin typeface="Arial"/>
                <a:cs typeface="Arial"/>
              </a:rPr>
              <a:t> </a:t>
            </a:r>
            <a:r>
              <a:rPr dirty="0" sz="3350">
                <a:solidFill>
                  <a:srgbClr val="0E0F11"/>
                </a:solidFill>
                <a:latin typeface="Arial"/>
                <a:cs typeface="Arial"/>
              </a:rPr>
              <a:t>anal</a:t>
            </a:r>
            <a:r>
              <a:rPr dirty="0" sz="3350">
                <a:solidFill>
                  <a:srgbClr val="242A2B"/>
                </a:solidFill>
                <a:latin typeface="Arial"/>
                <a:cs typeface="Arial"/>
              </a:rPr>
              <a:t>y</a:t>
            </a:r>
            <a:r>
              <a:rPr dirty="0" sz="3350">
                <a:solidFill>
                  <a:srgbClr val="0E0F11"/>
                </a:solidFill>
                <a:latin typeface="Arial"/>
                <a:cs typeface="Arial"/>
              </a:rPr>
              <a:t>sis</a:t>
            </a:r>
            <a:r>
              <a:rPr dirty="0" sz="3350" spc="20">
                <a:solidFill>
                  <a:srgbClr val="0E0F11"/>
                </a:solidFill>
                <a:latin typeface="Arial"/>
                <a:cs typeface="Arial"/>
              </a:rPr>
              <a:t> </a:t>
            </a:r>
            <a:r>
              <a:rPr dirty="0" sz="3350" spc="-10">
                <a:solidFill>
                  <a:srgbClr val="0E0F11"/>
                </a:solidFill>
                <a:latin typeface="Arial"/>
                <a:cs typeface="Arial"/>
              </a:rPr>
              <a:t>estimates </a:t>
            </a:r>
            <a:r>
              <a:rPr dirty="0" sz="3350">
                <a:solidFill>
                  <a:srgbClr val="242A2B"/>
                </a:solidFill>
                <a:latin typeface="Arial"/>
                <a:cs typeface="Arial"/>
              </a:rPr>
              <a:t>c</a:t>
            </a:r>
            <a:r>
              <a:rPr dirty="0" sz="3350">
                <a:solidFill>
                  <a:srgbClr val="0E0F11"/>
                </a:solidFill>
                <a:latin typeface="Arial"/>
                <a:cs typeface="Arial"/>
              </a:rPr>
              <a:t>ampaign</a:t>
            </a:r>
            <a:r>
              <a:rPr dirty="0" sz="3350" spc="-265">
                <a:solidFill>
                  <a:srgbClr val="0E0F11"/>
                </a:solidFill>
                <a:latin typeface="Arial"/>
                <a:cs typeface="Arial"/>
              </a:rPr>
              <a:t> </a:t>
            </a:r>
            <a:r>
              <a:rPr dirty="0" sz="3350">
                <a:solidFill>
                  <a:srgbClr val="0E0F11"/>
                </a:solidFill>
                <a:latin typeface="Arial"/>
                <a:cs typeface="Arial"/>
              </a:rPr>
              <a:t>impact</a:t>
            </a:r>
            <a:r>
              <a:rPr dirty="0" sz="3350" spc="235">
                <a:solidFill>
                  <a:srgbClr val="0E0F11"/>
                </a:solidFill>
                <a:latin typeface="Arial"/>
                <a:cs typeface="Arial"/>
              </a:rPr>
              <a:t> </a:t>
            </a:r>
            <a:r>
              <a:rPr dirty="0" sz="3350">
                <a:solidFill>
                  <a:srgbClr val="0E0F11"/>
                </a:solidFill>
                <a:latin typeface="Arial"/>
                <a:cs typeface="Arial"/>
              </a:rPr>
              <a:t>by</a:t>
            </a:r>
            <a:r>
              <a:rPr dirty="0" sz="3350" spc="85">
                <a:solidFill>
                  <a:srgbClr val="0E0F11"/>
                </a:solidFill>
                <a:latin typeface="Arial"/>
                <a:cs typeface="Arial"/>
              </a:rPr>
              <a:t> </a:t>
            </a:r>
            <a:r>
              <a:rPr dirty="0" sz="3350" spc="-10">
                <a:solidFill>
                  <a:srgbClr val="0E0F11"/>
                </a:solidFill>
                <a:latin typeface="Arial"/>
                <a:cs typeface="Arial"/>
              </a:rPr>
              <a:t>predi</a:t>
            </a:r>
            <a:r>
              <a:rPr dirty="0" sz="3350" spc="-10">
                <a:solidFill>
                  <a:srgbClr val="242A2B"/>
                </a:solidFill>
                <a:latin typeface="Arial"/>
                <a:cs typeface="Arial"/>
              </a:rPr>
              <a:t>c</a:t>
            </a:r>
            <a:r>
              <a:rPr dirty="0" sz="3350" spc="-10">
                <a:solidFill>
                  <a:srgbClr val="0E0F11"/>
                </a:solidFill>
                <a:latin typeface="Arial"/>
                <a:cs typeface="Arial"/>
              </a:rPr>
              <a:t>ting </a:t>
            </a:r>
            <a:r>
              <a:rPr dirty="0" sz="3350">
                <a:solidFill>
                  <a:srgbClr val="0E0F11"/>
                </a:solidFill>
                <a:latin typeface="Arial"/>
                <a:cs typeface="Arial"/>
              </a:rPr>
              <a:t>outcomes</a:t>
            </a:r>
            <a:r>
              <a:rPr dirty="0" sz="3350" spc="40">
                <a:solidFill>
                  <a:srgbClr val="0E0F11"/>
                </a:solidFill>
                <a:latin typeface="Arial"/>
                <a:cs typeface="Arial"/>
              </a:rPr>
              <a:t> </a:t>
            </a:r>
            <a:r>
              <a:rPr dirty="0" sz="3300" spc="50" i="1">
                <a:solidFill>
                  <a:srgbClr val="242A2B"/>
                </a:solidFill>
                <a:latin typeface="Arial"/>
                <a:cs typeface="Arial"/>
              </a:rPr>
              <a:t>w</a:t>
            </a:r>
            <a:r>
              <a:rPr dirty="0" sz="3300" spc="50" i="1">
                <a:solidFill>
                  <a:srgbClr val="0E0F11"/>
                </a:solidFill>
                <a:latin typeface="Arial"/>
                <a:cs typeface="Arial"/>
              </a:rPr>
              <a:t>ithout</a:t>
            </a:r>
            <a:r>
              <a:rPr dirty="0" sz="3300" spc="60" i="1">
                <a:solidFill>
                  <a:srgbClr val="0E0F11"/>
                </a:solidFill>
                <a:latin typeface="Arial"/>
                <a:cs typeface="Arial"/>
              </a:rPr>
              <a:t> </a:t>
            </a:r>
            <a:r>
              <a:rPr dirty="0" sz="3350" spc="-10">
                <a:solidFill>
                  <a:srgbClr val="0E0F11"/>
                </a:solidFill>
                <a:latin typeface="Arial"/>
                <a:cs typeface="Arial"/>
              </a:rPr>
              <a:t>intervention e</a:t>
            </a:r>
            <a:r>
              <a:rPr dirty="0" sz="3350" spc="-10">
                <a:solidFill>
                  <a:srgbClr val="242A2B"/>
                </a:solidFill>
                <a:latin typeface="Arial"/>
                <a:cs typeface="Arial"/>
              </a:rPr>
              <a:t>x</a:t>
            </a:r>
            <a:r>
              <a:rPr dirty="0" sz="3350" spc="-10">
                <a:solidFill>
                  <a:srgbClr val="0E0F11"/>
                </a:solidFill>
                <a:latin typeface="Arial"/>
                <a:cs typeface="Arial"/>
              </a:rPr>
              <a:t>posure.</a:t>
            </a:r>
            <a:endParaRPr sz="3350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54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05"/>
              </a:spcBef>
            </a:pPr>
            <a:r>
              <a:rPr dirty="0"/>
              <a:t>Strategic</a:t>
            </a:r>
            <a:r>
              <a:rPr dirty="0" spc="-15"/>
              <a:t> </a:t>
            </a:r>
            <a:r>
              <a:rPr dirty="0" spc="-10"/>
              <a:t>Value</a:t>
            </a:r>
            <a:r>
              <a:rPr dirty="0" spc="-10">
                <a:solidFill>
                  <a:srgbClr val="242A2B"/>
                </a:solidFill>
              </a:rPr>
              <a:t>:</a:t>
            </a:r>
          </a:p>
          <a:p>
            <a:pPr marL="495934" marR="5080" indent="-308610">
              <a:lnSpc>
                <a:spcPts val="3820"/>
              </a:lnSpc>
              <a:spcBef>
                <a:spcPts val="2205"/>
              </a:spcBef>
              <a:buClr>
                <a:srgbClr val="132F50"/>
              </a:buClr>
              <a:buFont typeface="Arial"/>
              <a:buChar char="•"/>
              <a:tabLst>
                <a:tab pos="501015" algn="l"/>
              </a:tabLst>
            </a:pPr>
            <a:r>
              <a:rPr dirty="0" spc="-190" b="1">
                <a:latin typeface="Arial"/>
                <a:cs typeface="Arial"/>
              </a:rPr>
              <a:t>Optimize</a:t>
            </a:r>
            <a:r>
              <a:rPr dirty="0" spc="-60" b="1">
                <a:latin typeface="Arial"/>
                <a:cs typeface="Arial"/>
              </a:rPr>
              <a:t> </a:t>
            </a:r>
            <a:r>
              <a:rPr dirty="0" spc="-170" b="1">
                <a:latin typeface="Arial"/>
                <a:cs typeface="Arial"/>
              </a:rPr>
              <a:t>Decisions</a:t>
            </a:r>
            <a:r>
              <a:rPr dirty="0" spc="-170" b="1">
                <a:solidFill>
                  <a:srgbClr val="242A2B"/>
                </a:solidFill>
                <a:latin typeface="Arial"/>
                <a:cs typeface="Arial"/>
              </a:rPr>
              <a:t>:</a:t>
            </a:r>
            <a:r>
              <a:rPr dirty="0" spc="-575" b="1">
                <a:solidFill>
                  <a:srgbClr val="242A2B"/>
                </a:solidFill>
                <a:latin typeface="Arial"/>
                <a:cs typeface="Arial"/>
              </a:rPr>
              <a:t> </a:t>
            </a:r>
            <a:r>
              <a:rPr dirty="0" spc="-10"/>
              <a:t>Allocate </a:t>
            </a:r>
            <a:r>
              <a:rPr dirty="0" spc="-10"/>
              <a:t>	</a:t>
            </a:r>
            <a:r>
              <a:rPr dirty="0" spc="-95"/>
              <a:t>resources</a:t>
            </a:r>
            <a:r>
              <a:rPr dirty="0" spc="-35"/>
              <a:t> </a:t>
            </a:r>
            <a:r>
              <a:rPr dirty="0" spc="-90"/>
              <a:t>based</a:t>
            </a:r>
            <a:r>
              <a:rPr dirty="0" spc="-140"/>
              <a:t> </a:t>
            </a:r>
            <a:r>
              <a:rPr dirty="0" spc="-80"/>
              <a:t>on</a:t>
            </a:r>
            <a:r>
              <a:rPr dirty="0" spc="-220"/>
              <a:t> </a:t>
            </a:r>
            <a:r>
              <a:rPr dirty="0" spc="-120"/>
              <a:t>proven</a:t>
            </a:r>
            <a:r>
              <a:rPr dirty="0" spc="-114"/>
              <a:t> </a:t>
            </a:r>
            <a:r>
              <a:rPr dirty="0" spc="-20"/>
              <a:t>causality</a:t>
            </a:r>
            <a:r>
              <a:rPr dirty="0" spc="-20">
                <a:solidFill>
                  <a:srgbClr val="242A2B"/>
                </a:solidFill>
              </a:rPr>
              <a:t>.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9606533" y="7219585"/>
            <a:ext cx="6957059" cy="1024255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311150" marR="5080" indent="-299085">
              <a:lnSpc>
                <a:spcPts val="3820"/>
              </a:lnSpc>
              <a:spcBef>
                <a:spcPts val="409"/>
              </a:spcBef>
              <a:buClr>
                <a:srgbClr val="132F50"/>
              </a:buClr>
              <a:buFont typeface="Arial"/>
              <a:buChar char="•"/>
              <a:tabLst>
                <a:tab pos="327025" algn="l"/>
              </a:tabLst>
            </a:pPr>
            <a:r>
              <a:rPr dirty="0" sz="3350" spc="-190" b="1">
                <a:solidFill>
                  <a:srgbClr val="0E0F11"/>
                </a:solidFill>
                <a:latin typeface="Arial"/>
                <a:cs typeface="Arial"/>
              </a:rPr>
              <a:t>Stop</a:t>
            </a:r>
            <a:r>
              <a:rPr dirty="0" sz="3350" spc="-135" b="1">
                <a:solidFill>
                  <a:srgbClr val="0E0F11"/>
                </a:solidFill>
                <a:latin typeface="Arial"/>
                <a:cs typeface="Arial"/>
              </a:rPr>
              <a:t> </a:t>
            </a:r>
            <a:r>
              <a:rPr dirty="0" sz="3350" spc="-35">
                <a:solidFill>
                  <a:srgbClr val="0E0F11"/>
                </a:solidFill>
                <a:latin typeface="Arial"/>
                <a:cs typeface="Arial"/>
              </a:rPr>
              <a:t>funding</a:t>
            </a:r>
            <a:r>
              <a:rPr dirty="0" sz="3350" spc="-85">
                <a:solidFill>
                  <a:srgbClr val="0E0F11"/>
                </a:solidFill>
                <a:latin typeface="Arial"/>
                <a:cs typeface="Arial"/>
              </a:rPr>
              <a:t> </a:t>
            </a:r>
            <a:r>
              <a:rPr dirty="0" sz="3350" spc="-90">
                <a:solidFill>
                  <a:srgbClr val="0E0F11"/>
                </a:solidFill>
                <a:latin typeface="Arial"/>
                <a:cs typeface="Arial"/>
              </a:rPr>
              <a:t>programs</a:t>
            </a:r>
            <a:r>
              <a:rPr dirty="0" sz="3350" spc="-105">
                <a:solidFill>
                  <a:srgbClr val="0E0F11"/>
                </a:solidFill>
                <a:latin typeface="Arial"/>
                <a:cs typeface="Arial"/>
              </a:rPr>
              <a:t> </a:t>
            </a:r>
            <a:r>
              <a:rPr dirty="0" sz="3350">
                <a:solidFill>
                  <a:srgbClr val="0E0F11"/>
                </a:solidFill>
                <a:latin typeface="Arial"/>
                <a:cs typeface="Arial"/>
              </a:rPr>
              <a:t>that</a:t>
            </a:r>
            <a:r>
              <a:rPr dirty="0" sz="3350" spc="-200">
                <a:solidFill>
                  <a:srgbClr val="0E0F11"/>
                </a:solidFill>
                <a:latin typeface="Arial"/>
                <a:cs typeface="Arial"/>
              </a:rPr>
              <a:t> </a:t>
            </a:r>
            <a:r>
              <a:rPr dirty="0" sz="3350" spc="-55">
                <a:solidFill>
                  <a:srgbClr val="0E0F11"/>
                </a:solidFill>
                <a:latin typeface="Arial"/>
                <a:cs typeface="Arial"/>
              </a:rPr>
              <a:t>correlate </a:t>
            </a:r>
            <a:r>
              <a:rPr dirty="0" sz="3350" spc="-55">
                <a:solidFill>
                  <a:srgbClr val="0E0F11"/>
                </a:solidFill>
                <a:latin typeface="Arial"/>
                <a:cs typeface="Arial"/>
              </a:rPr>
              <a:t>	</a:t>
            </a:r>
            <a:r>
              <a:rPr dirty="0" sz="3350">
                <a:solidFill>
                  <a:srgbClr val="0E0F11"/>
                </a:solidFill>
                <a:latin typeface="Arial"/>
                <a:cs typeface="Arial"/>
              </a:rPr>
              <a:t>with</a:t>
            </a:r>
            <a:r>
              <a:rPr dirty="0" sz="3350" spc="-204">
                <a:solidFill>
                  <a:srgbClr val="0E0F11"/>
                </a:solidFill>
                <a:latin typeface="Arial"/>
                <a:cs typeface="Arial"/>
              </a:rPr>
              <a:t> </a:t>
            </a:r>
            <a:r>
              <a:rPr dirty="0" sz="3350" spc="-90">
                <a:solidFill>
                  <a:srgbClr val="0E0F11"/>
                </a:solidFill>
                <a:latin typeface="Arial"/>
                <a:cs typeface="Arial"/>
              </a:rPr>
              <a:t>success</a:t>
            </a:r>
            <a:r>
              <a:rPr dirty="0" sz="3350" spc="-145">
                <a:solidFill>
                  <a:srgbClr val="0E0F11"/>
                </a:solidFill>
                <a:latin typeface="Arial"/>
                <a:cs typeface="Arial"/>
              </a:rPr>
              <a:t> </a:t>
            </a:r>
            <a:r>
              <a:rPr dirty="0" sz="3350">
                <a:solidFill>
                  <a:srgbClr val="0E0F11"/>
                </a:solidFill>
                <a:latin typeface="Arial"/>
                <a:cs typeface="Arial"/>
              </a:rPr>
              <a:t>but</a:t>
            </a:r>
            <a:r>
              <a:rPr dirty="0" sz="3350" spc="-195">
                <a:solidFill>
                  <a:srgbClr val="0E0F11"/>
                </a:solidFill>
                <a:latin typeface="Arial"/>
                <a:cs typeface="Arial"/>
              </a:rPr>
              <a:t> </a:t>
            </a:r>
            <a:r>
              <a:rPr dirty="0" sz="3350" spc="-25">
                <a:solidFill>
                  <a:srgbClr val="0E0F11"/>
                </a:solidFill>
                <a:latin typeface="Arial"/>
                <a:cs typeface="Arial"/>
              </a:rPr>
              <a:t>don't</a:t>
            </a:r>
            <a:r>
              <a:rPr dirty="0" sz="3350" spc="-40">
                <a:solidFill>
                  <a:srgbClr val="0E0F11"/>
                </a:solidFill>
                <a:latin typeface="Arial"/>
                <a:cs typeface="Arial"/>
              </a:rPr>
              <a:t> </a:t>
            </a:r>
            <a:r>
              <a:rPr dirty="0" sz="3350" spc="-95">
                <a:solidFill>
                  <a:srgbClr val="0E0F11"/>
                </a:solidFill>
                <a:latin typeface="Arial"/>
                <a:cs typeface="Arial"/>
              </a:rPr>
              <a:t>cause</a:t>
            </a:r>
            <a:r>
              <a:rPr dirty="0" sz="3350" spc="-210">
                <a:solidFill>
                  <a:srgbClr val="0E0F11"/>
                </a:solidFill>
                <a:latin typeface="Arial"/>
                <a:cs typeface="Arial"/>
              </a:rPr>
              <a:t> </a:t>
            </a:r>
            <a:r>
              <a:rPr dirty="0" sz="3350" spc="35">
                <a:solidFill>
                  <a:srgbClr val="0E0F11"/>
                </a:solidFill>
                <a:latin typeface="Arial"/>
                <a:cs typeface="Arial"/>
              </a:rPr>
              <a:t>it.</a:t>
            </a:r>
            <a:endParaRPr sz="3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5587" y="3727979"/>
            <a:ext cx="1248217" cy="104682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48672" y="3779043"/>
            <a:ext cx="1222744" cy="970227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031690" y="3676913"/>
            <a:ext cx="0" cy="3319779"/>
          </a:xfrm>
          <a:custGeom>
            <a:avLst/>
            <a:gdLst/>
            <a:ahLst/>
            <a:cxnLst/>
            <a:rect l="l" t="t" r="r" b="b"/>
            <a:pathLst>
              <a:path w="0" h="3319779">
                <a:moveTo>
                  <a:pt x="0" y="3319196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884456" y="3651381"/>
            <a:ext cx="0" cy="4596130"/>
          </a:xfrm>
          <a:custGeom>
            <a:avLst/>
            <a:gdLst/>
            <a:ahLst/>
            <a:cxnLst/>
            <a:rect l="l" t="t" r="r" b="b"/>
            <a:pathLst>
              <a:path w="0" h="4596130">
                <a:moveTo>
                  <a:pt x="0" y="4595811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317512" y="3702445"/>
            <a:ext cx="0" cy="3830320"/>
          </a:xfrm>
          <a:custGeom>
            <a:avLst/>
            <a:gdLst/>
            <a:ahLst/>
            <a:cxnLst/>
            <a:rect l="l" t="t" r="r" b="b"/>
            <a:pathLst>
              <a:path w="0" h="3830320">
                <a:moveTo>
                  <a:pt x="0" y="3829842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157541" y="3983301"/>
            <a:ext cx="0" cy="1097915"/>
          </a:xfrm>
          <a:custGeom>
            <a:avLst/>
            <a:gdLst/>
            <a:ahLst/>
            <a:cxnLst/>
            <a:rect l="l" t="t" r="r" b="b"/>
            <a:pathLst>
              <a:path w="0" h="1097914">
                <a:moveTo>
                  <a:pt x="0" y="1097888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183015" y="6025883"/>
            <a:ext cx="0" cy="2221865"/>
          </a:xfrm>
          <a:custGeom>
            <a:avLst/>
            <a:gdLst/>
            <a:ahLst/>
            <a:cxnLst/>
            <a:rect l="l" t="t" r="r" b="b"/>
            <a:pathLst>
              <a:path w="0" h="2221865">
                <a:moveTo>
                  <a:pt x="0" y="2221308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1590596" y="3702445"/>
            <a:ext cx="0" cy="1251585"/>
          </a:xfrm>
          <a:custGeom>
            <a:avLst/>
            <a:gdLst/>
            <a:ahLst/>
            <a:cxnLst/>
            <a:rect l="l" t="t" r="r" b="b"/>
            <a:pathLst>
              <a:path w="0" h="1251585">
                <a:moveTo>
                  <a:pt x="0" y="1251081"/>
                </a:moveTo>
                <a:lnTo>
                  <a:pt x="0" y="0"/>
                </a:lnTo>
              </a:path>
            </a:pathLst>
          </a:custGeom>
          <a:ln w="764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1794387" y="3625849"/>
            <a:ext cx="4738370" cy="4621530"/>
          </a:xfrm>
          <a:custGeom>
            <a:avLst/>
            <a:gdLst/>
            <a:ahLst/>
            <a:cxnLst/>
            <a:rect l="l" t="t" r="r" b="b"/>
            <a:pathLst>
              <a:path w="4738369" h="4621530">
                <a:moveTo>
                  <a:pt x="4661712" y="4621343"/>
                </a:moveTo>
                <a:lnTo>
                  <a:pt x="4661712" y="0"/>
                </a:lnTo>
              </a:path>
              <a:path w="4738369" h="4621530">
                <a:moveTo>
                  <a:pt x="0" y="4557512"/>
                </a:moveTo>
                <a:lnTo>
                  <a:pt x="4738134" y="4557512"/>
                </a:lnTo>
              </a:path>
            </a:pathLst>
          </a:custGeom>
          <a:ln w="382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521302" y="8183361"/>
            <a:ext cx="4712970" cy="0"/>
          </a:xfrm>
          <a:custGeom>
            <a:avLst/>
            <a:gdLst/>
            <a:ahLst/>
            <a:cxnLst/>
            <a:rect l="l" t="t" r="r" b="b"/>
            <a:pathLst>
              <a:path w="4712970" h="0">
                <a:moveTo>
                  <a:pt x="0" y="0"/>
                </a:moveTo>
                <a:lnTo>
                  <a:pt x="4712660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273691" y="8183361"/>
            <a:ext cx="4687570" cy="0"/>
          </a:xfrm>
          <a:custGeom>
            <a:avLst/>
            <a:gdLst/>
            <a:ahLst/>
            <a:cxnLst/>
            <a:rect l="l" t="t" r="r" b="b"/>
            <a:pathLst>
              <a:path w="4687570" h="0">
                <a:moveTo>
                  <a:pt x="0" y="0"/>
                </a:moveTo>
                <a:lnTo>
                  <a:pt x="4687186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83790" rIns="0" bIns="0" rtlCol="0" vert="horz">
            <a:spAutoFit/>
          </a:bodyPr>
          <a:lstStyle/>
          <a:p>
            <a:pPr marL="4050665">
              <a:lnSpc>
                <a:spcPct val="100000"/>
              </a:lnSpc>
              <a:spcBef>
                <a:spcPts val="125"/>
              </a:spcBef>
            </a:pPr>
            <a:r>
              <a:rPr dirty="0"/>
              <a:t>Real-World</a:t>
            </a:r>
            <a:r>
              <a:rPr dirty="0" spc="560"/>
              <a:t> </a:t>
            </a:r>
            <a:r>
              <a:rPr dirty="0" spc="-10"/>
              <a:t>Applications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00"/>
              </a:lnSpc>
            </a:pPr>
            <a:r>
              <a:rPr dirty="0" sz="1300" spc="-20"/>
              <a:t>Isl\</a:t>
            </a:r>
            <a:r>
              <a:rPr dirty="0" sz="1300" spc="-45"/>
              <a:t> </a:t>
            </a:r>
            <a:r>
              <a:rPr dirty="0" spc="-10">
                <a:solidFill>
                  <a:srgbClr val="13161A"/>
                </a:solidFill>
              </a:rPr>
              <a:t>N</a:t>
            </a:r>
            <a:r>
              <a:rPr dirty="0" spc="-10"/>
              <a:t>otebookL</a:t>
            </a:r>
            <a:r>
              <a:rPr dirty="0" spc="-10">
                <a:solidFill>
                  <a:srgbClr val="13161A"/>
                </a:solidFill>
              </a:rPr>
              <a:t>M</a:t>
            </a:r>
            <a:endParaRPr sz="1300"/>
          </a:p>
        </p:txBody>
      </p:sp>
      <p:sp>
        <p:nvSpPr>
          <p:cNvPr id="14" name="object 14"/>
          <p:cNvSpPr txBox="1"/>
          <p:nvPr/>
        </p:nvSpPr>
        <p:spPr>
          <a:xfrm>
            <a:off x="2835446" y="3734428"/>
            <a:ext cx="2240280" cy="9372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50" b="1">
                <a:solidFill>
                  <a:srgbClr val="010101"/>
                </a:solidFill>
                <a:latin typeface="Arial"/>
                <a:cs typeface="Arial"/>
              </a:rPr>
              <a:t>Clinical</a:t>
            </a:r>
            <a:r>
              <a:rPr dirty="0" sz="2950" spc="185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2950" spc="25">
                <a:solidFill>
                  <a:srgbClr val="010101"/>
                </a:solidFill>
                <a:latin typeface="Arial"/>
                <a:cs typeface="Arial"/>
              </a:rPr>
              <a:t>&amp;</a:t>
            </a:r>
            <a:endParaRPr sz="2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2950" spc="50" b="1">
                <a:solidFill>
                  <a:srgbClr val="010101"/>
                </a:solidFill>
                <a:latin typeface="Arial"/>
                <a:cs typeface="Arial"/>
              </a:rPr>
              <a:t>Compliance</a:t>
            </a:r>
            <a:endParaRPr sz="29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32479" y="5062107"/>
            <a:ext cx="2550160" cy="119507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23495" marR="5080" indent="-11430">
              <a:lnSpc>
                <a:spcPct val="91300"/>
              </a:lnSpc>
              <a:spcBef>
                <a:spcPts val="325"/>
              </a:spcBef>
            </a:pPr>
            <a:r>
              <a:rPr dirty="0" sz="2050">
                <a:solidFill>
                  <a:srgbClr val="262626"/>
                </a:solidFill>
                <a:latin typeface="Arial"/>
                <a:cs typeface="Arial"/>
              </a:rPr>
              <a:t>Evaluating</a:t>
            </a:r>
            <a:r>
              <a:rPr dirty="0" sz="2050" spc="24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2050" spc="70">
                <a:solidFill>
                  <a:srgbClr val="262626"/>
                </a:solidFill>
                <a:latin typeface="Arial"/>
                <a:cs typeface="Arial"/>
              </a:rPr>
              <a:t>patient </a:t>
            </a:r>
            <a:r>
              <a:rPr dirty="0" sz="2050">
                <a:solidFill>
                  <a:srgbClr val="262626"/>
                </a:solidFill>
                <a:latin typeface="Arial"/>
                <a:cs typeface="Arial"/>
              </a:rPr>
              <a:t>adherence</a:t>
            </a:r>
            <a:r>
              <a:rPr dirty="0" sz="2050" spc="34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2050" spc="40">
                <a:solidFill>
                  <a:srgbClr val="262626"/>
                </a:solidFill>
                <a:latin typeface="Arial"/>
                <a:cs typeface="Arial"/>
              </a:rPr>
              <a:t>programs </a:t>
            </a:r>
            <a:r>
              <a:rPr dirty="0" sz="2050">
                <a:solidFill>
                  <a:srgbClr val="262626"/>
                </a:solidFill>
                <a:latin typeface="Arial"/>
                <a:cs typeface="Arial"/>
              </a:rPr>
              <a:t>and</a:t>
            </a:r>
            <a:r>
              <a:rPr dirty="0" sz="2050" spc="35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2050" spc="65">
                <a:solidFill>
                  <a:srgbClr val="262626"/>
                </a:solidFill>
                <a:latin typeface="Arial"/>
                <a:cs typeface="Arial"/>
              </a:rPr>
              <a:t>intervent</a:t>
            </a:r>
            <a:r>
              <a:rPr dirty="0" sz="2050" spc="65">
                <a:solidFill>
                  <a:srgbClr val="424442"/>
                </a:solidFill>
                <a:latin typeface="Arial"/>
                <a:cs typeface="Arial"/>
              </a:rPr>
              <a:t>i</a:t>
            </a:r>
            <a:r>
              <a:rPr dirty="0" sz="2050" spc="65">
                <a:solidFill>
                  <a:srgbClr val="262626"/>
                </a:solidFill>
                <a:latin typeface="Arial"/>
                <a:cs typeface="Arial"/>
              </a:rPr>
              <a:t>on </a:t>
            </a:r>
            <a:r>
              <a:rPr dirty="0" sz="2050" spc="50">
                <a:solidFill>
                  <a:srgbClr val="262626"/>
                </a:solidFill>
                <a:latin typeface="Arial"/>
                <a:cs typeface="Arial"/>
              </a:rPr>
              <a:t>efficacy.</a:t>
            </a:r>
            <a:endParaRPr sz="20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32479" y="6466383"/>
            <a:ext cx="2884805" cy="119507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22860" marR="5080" indent="-10795">
              <a:lnSpc>
                <a:spcPct val="91300"/>
              </a:lnSpc>
              <a:spcBef>
                <a:spcPts val="325"/>
              </a:spcBef>
            </a:pPr>
            <a:r>
              <a:rPr dirty="0" sz="2050">
                <a:solidFill>
                  <a:srgbClr val="262626"/>
                </a:solidFill>
                <a:latin typeface="Arial"/>
                <a:cs typeface="Arial"/>
              </a:rPr>
              <a:t>Ensuring</a:t>
            </a:r>
            <a:r>
              <a:rPr dirty="0" sz="2050" spc="13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2050" spc="65">
                <a:solidFill>
                  <a:srgbClr val="262626"/>
                </a:solidFill>
                <a:latin typeface="Arial"/>
                <a:cs typeface="Arial"/>
              </a:rPr>
              <a:t>health outcomes</a:t>
            </a:r>
            <a:r>
              <a:rPr dirty="0" sz="2050" spc="6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262626"/>
                </a:solidFill>
                <a:latin typeface="Arial"/>
                <a:cs typeface="Arial"/>
              </a:rPr>
              <a:t>are</a:t>
            </a:r>
            <a:r>
              <a:rPr dirty="0" sz="2050" spc="-13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2050" spc="70">
                <a:solidFill>
                  <a:srgbClr val="262626"/>
                </a:solidFill>
                <a:latin typeface="Arial"/>
                <a:cs typeface="Arial"/>
              </a:rPr>
              <a:t>driven</a:t>
            </a:r>
            <a:r>
              <a:rPr dirty="0" sz="2050" spc="-15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2050" spc="50">
                <a:solidFill>
                  <a:srgbClr val="262626"/>
                </a:solidFill>
                <a:latin typeface="Arial"/>
                <a:cs typeface="Arial"/>
              </a:rPr>
              <a:t>by </a:t>
            </a:r>
            <a:r>
              <a:rPr dirty="0" sz="2050">
                <a:solidFill>
                  <a:srgbClr val="262626"/>
                </a:solidFill>
                <a:latin typeface="Arial"/>
                <a:cs typeface="Arial"/>
              </a:rPr>
              <a:t>care,</a:t>
            </a:r>
            <a:r>
              <a:rPr dirty="0" sz="2050" spc="-4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2050" spc="80">
                <a:solidFill>
                  <a:srgbClr val="262626"/>
                </a:solidFill>
                <a:latin typeface="Arial"/>
                <a:cs typeface="Arial"/>
              </a:rPr>
              <a:t>not</a:t>
            </a:r>
            <a:r>
              <a:rPr dirty="0" sz="2050" spc="14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2050" spc="60">
                <a:solidFill>
                  <a:srgbClr val="262626"/>
                </a:solidFill>
                <a:latin typeface="Arial"/>
                <a:cs typeface="Arial"/>
              </a:rPr>
              <a:t>just</a:t>
            </a:r>
            <a:r>
              <a:rPr dirty="0" sz="2050" spc="25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2050" spc="55">
                <a:solidFill>
                  <a:srgbClr val="262626"/>
                </a:solidFill>
                <a:latin typeface="Arial"/>
                <a:cs typeface="Arial"/>
              </a:rPr>
              <a:t>patient </a:t>
            </a:r>
            <a:r>
              <a:rPr dirty="0" sz="2050" spc="-10">
                <a:solidFill>
                  <a:srgbClr val="262626"/>
                </a:solidFill>
                <a:latin typeface="Arial"/>
                <a:cs typeface="Arial"/>
              </a:rPr>
              <a:t>demographics.</a:t>
            </a:r>
            <a:endParaRPr sz="20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074040" y="3734428"/>
            <a:ext cx="2421255" cy="937260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22860" marR="5080" indent="-10795">
              <a:lnSpc>
                <a:spcPct val="102200"/>
              </a:lnSpc>
              <a:spcBef>
                <a:spcPts val="35"/>
              </a:spcBef>
            </a:pPr>
            <a:r>
              <a:rPr dirty="0" sz="2950" spc="90" b="1">
                <a:solidFill>
                  <a:srgbClr val="010101"/>
                </a:solidFill>
                <a:latin typeface="Arial"/>
                <a:cs typeface="Arial"/>
              </a:rPr>
              <a:t>Marketing </a:t>
            </a:r>
            <a:r>
              <a:rPr dirty="0" sz="2950" spc="55" b="1">
                <a:solidFill>
                  <a:srgbClr val="010101"/>
                </a:solidFill>
                <a:latin typeface="Arial"/>
                <a:cs typeface="Arial"/>
              </a:rPr>
              <a:t>Optimization</a:t>
            </a:r>
            <a:endParaRPr sz="29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965684" y="3491870"/>
            <a:ext cx="1014094" cy="14287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L="117475">
              <a:lnSpc>
                <a:spcPts val="5920"/>
              </a:lnSpc>
              <a:spcBef>
                <a:spcPts val="125"/>
              </a:spcBef>
            </a:pPr>
            <a:r>
              <a:rPr dirty="0" sz="5150" spc="90" b="1">
                <a:solidFill>
                  <a:srgbClr val="0E4677"/>
                </a:solidFill>
                <a:latin typeface="Arial"/>
                <a:cs typeface="Arial"/>
              </a:rPr>
              <a:t>0</a:t>
            </a:r>
            <a:endParaRPr sz="5150">
              <a:latin typeface="Arial"/>
              <a:cs typeface="Arial"/>
            </a:endParaRPr>
          </a:p>
          <a:p>
            <a:pPr algn="ctr" marL="147320">
              <a:lnSpc>
                <a:spcPts val="1460"/>
              </a:lnSpc>
              <a:tabLst>
                <a:tab pos="506095" algn="l"/>
                <a:tab pos="951230" algn="l"/>
              </a:tabLst>
            </a:pPr>
            <a:r>
              <a:rPr dirty="0" u="heavy" sz="2100" spc="-50">
                <a:solidFill>
                  <a:srgbClr val="0E4677"/>
                </a:solidFill>
                <a:uFill>
                  <a:solidFill>
                    <a:srgbClr val="0E4677"/>
                  </a:solidFill>
                </a:uFill>
                <a:latin typeface="Arial"/>
                <a:cs typeface="Arial"/>
              </a:rPr>
              <a:t>'</a:t>
            </a:r>
            <a:r>
              <a:rPr dirty="0" u="none" sz="2100">
                <a:solidFill>
                  <a:srgbClr val="0E4677"/>
                </a:solidFill>
                <a:latin typeface="Arial"/>
                <a:cs typeface="Arial"/>
              </a:rPr>
              <a:t>	</a:t>
            </a:r>
            <a:r>
              <a:rPr dirty="0" u="heavy" sz="2100" spc="-409">
                <a:solidFill>
                  <a:srgbClr val="0E4677"/>
                </a:solidFill>
                <a:uFill>
                  <a:solidFill>
                    <a:srgbClr val="0E4677"/>
                  </a:solidFill>
                </a:uFill>
                <a:latin typeface="Arial"/>
                <a:cs typeface="Arial"/>
              </a:rPr>
              <a:t>I</a:t>
            </a:r>
            <a:r>
              <a:rPr dirty="0" u="none" sz="2100">
                <a:solidFill>
                  <a:srgbClr val="0E4677"/>
                </a:solidFill>
                <a:latin typeface="Arial"/>
                <a:cs typeface="Arial"/>
              </a:rPr>
              <a:t>	</a:t>
            </a:r>
            <a:r>
              <a:rPr dirty="0" u="heavy" sz="1550" spc="-75">
                <a:solidFill>
                  <a:srgbClr val="237991"/>
                </a:solidFill>
                <a:uFill>
                  <a:solidFill>
                    <a:srgbClr val="237991"/>
                  </a:solidFill>
                </a:uFill>
                <a:latin typeface="Times New Roman"/>
                <a:cs typeface="Times New Roman"/>
              </a:rPr>
              <a:t>I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ts val="3635"/>
              </a:lnSpc>
            </a:pPr>
            <a:r>
              <a:rPr dirty="0" sz="3700" spc="-940" b="1">
                <a:solidFill>
                  <a:srgbClr val="0E4677"/>
                </a:solidFill>
                <a:latin typeface="Arial"/>
                <a:cs typeface="Arial"/>
              </a:rPr>
              <a:t>000</a:t>
            </a:r>
            <a:endParaRPr sz="37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081134" y="5062107"/>
            <a:ext cx="2886075" cy="620395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23495" marR="5080" indent="-11430">
              <a:lnSpc>
                <a:spcPts val="2210"/>
              </a:lnSpc>
              <a:spcBef>
                <a:spcPts val="390"/>
              </a:spcBef>
            </a:pPr>
            <a:r>
              <a:rPr dirty="0" sz="2050">
                <a:solidFill>
                  <a:srgbClr val="262626"/>
                </a:solidFill>
                <a:latin typeface="Arial"/>
                <a:cs typeface="Arial"/>
              </a:rPr>
              <a:t>Measuring</a:t>
            </a:r>
            <a:r>
              <a:rPr dirty="0" sz="2050" spc="21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262626"/>
                </a:solidFill>
                <a:latin typeface="Arial"/>
                <a:cs typeface="Arial"/>
              </a:rPr>
              <a:t>the</a:t>
            </a:r>
            <a:r>
              <a:rPr dirty="0" sz="2050" spc="254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2050" spc="100">
                <a:solidFill>
                  <a:srgbClr val="262626"/>
                </a:solidFill>
                <a:latin typeface="Arial"/>
                <a:cs typeface="Arial"/>
              </a:rPr>
              <a:t>true</a:t>
            </a:r>
            <a:r>
              <a:rPr dirty="0" sz="2050" spc="35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2050" spc="95">
                <a:solidFill>
                  <a:srgbClr val="262626"/>
                </a:solidFill>
                <a:latin typeface="Arial"/>
                <a:cs typeface="Arial"/>
              </a:rPr>
              <a:t>lift </a:t>
            </a:r>
            <a:r>
              <a:rPr dirty="0" sz="2050" spc="70">
                <a:solidFill>
                  <a:srgbClr val="262626"/>
                </a:solidFill>
                <a:latin typeface="Arial"/>
                <a:cs typeface="Arial"/>
              </a:rPr>
              <a:t>of</a:t>
            </a:r>
            <a:r>
              <a:rPr dirty="0" sz="2050" spc="-35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2050" spc="55">
                <a:solidFill>
                  <a:srgbClr val="262626"/>
                </a:solidFill>
                <a:latin typeface="Arial"/>
                <a:cs typeface="Arial"/>
              </a:rPr>
              <a:t>outreach</a:t>
            </a:r>
            <a:r>
              <a:rPr dirty="0" sz="2050" spc="7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2050" spc="-10">
                <a:solidFill>
                  <a:srgbClr val="262626"/>
                </a:solidFill>
                <a:latin typeface="Arial"/>
                <a:cs typeface="Arial"/>
              </a:rPr>
              <a:t>campaigns.</a:t>
            </a:r>
            <a:endParaRPr sz="20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079305" y="5891907"/>
            <a:ext cx="2613025" cy="119507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6510" marR="5080" indent="-4445">
              <a:lnSpc>
                <a:spcPct val="91300"/>
              </a:lnSpc>
              <a:spcBef>
                <a:spcPts val="325"/>
              </a:spcBef>
            </a:pPr>
            <a:r>
              <a:rPr dirty="0" sz="2050" spc="50">
                <a:solidFill>
                  <a:srgbClr val="262626"/>
                </a:solidFill>
                <a:latin typeface="Arial"/>
                <a:cs typeface="Arial"/>
              </a:rPr>
              <a:t>Filter</a:t>
            </a:r>
            <a:r>
              <a:rPr dirty="0" sz="2050" spc="-35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2050" spc="90">
                <a:solidFill>
                  <a:srgbClr val="262626"/>
                </a:solidFill>
                <a:latin typeface="Arial"/>
                <a:cs typeface="Arial"/>
              </a:rPr>
              <a:t>out</a:t>
            </a:r>
            <a:r>
              <a:rPr dirty="0" sz="2050" spc="-5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2050" spc="50">
                <a:solidFill>
                  <a:srgbClr val="262626"/>
                </a:solidFill>
                <a:latin typeface="Arial"/>
                <a:cs typeface="Arial"/>
              </a:rPr>
              <a:t>customers </a:t>
            </a:r>
            <a:r>
              <a:rPr dirty="0" sz="2050" spc="105">
                <a:solidFill>
                  <a:srgbClr val="262626"/>
                </a:solidFill>
                <a:latin typeface="Arial"/>
                <a:cs typeface="Arial"/>
              </a:rPr>
              <a:t>who</a:t>
            </a:r>
            <a:r>
              <a:rPr dirty="0" sz="2050" spc="35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2050" spc="60">
                <a:solidFill>
                  <a:srgbClr val="262626"/>
                </a:solidFill>
                <a:latin typeface="Arial"/>
                <a:cs typeface="Arial"/>
              </a:rPr>
              <a:t>would</a:t>
            </a:r>
            <a:r>
              <a:rPr dirty="0" sz="2050" spc="-7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2050" spc="30">
                <a:solidFill>
                  <a:srgbClr val="262626"/>
                </a:solidFill>
                <a:latin typeface="Arial"/>
                <a:cs typeface="Arial"/>
              </a:rPr>
              <a:t>have </a:t>
            </a:r>
            <a:r>
              <a:rPr dirty="0" sz="2050">
                <a:solidFill>
                  <a:srgbClr val="262626"/>
                </a:solidFill>
                <a:latin typeface="Arial"/>
                <a:cs typeface="Arial"/>
              </a:rPr>
              <a:t>purchased</a:t>
            </a:r>
            <a:r>
              <a:rPr dirty="0" sz="2050" spc="40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262626"/>
                </a:solidFill>
                <a:latin typeface="Arial"/>
                <a:cs typeface="Arial"/>
              </a:rPr>
              <a:t>anyway</a:t>
            </a:r>
            <a:r>
              <a:rPr dirty="0" sz="2050" spc="395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2050" spc="-25">
                <a:solidFill>
                  <a:srgbClr val="262626"/>
                </a:solidFill>
                <a:latin typeface="Arial"/>
                <a:cs typeface="Arial"/>
              </a:rPr>
              <a:t>to </a:t>
            </a:r>
            <a:r>
              <a:rPr dirty="0" sz="2050">
                <a:solidFill>
                  <a:srgbClr val="262626"/>
                </a:solidFill>
                <a:latin typeface="Arial"/>
                <a:cs typeface="Arial"/>
              </a:rPr>
              <a:t>calculate</a:t>
            </a:r>
            <a:r>
              <a:rPr dirty="0" sz="2050" spc="31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2050" spc="75">
                <a:solidFill>
                  <a:srgbClr val="262626"/>
                </a:solidFill>
                <a:latin typeface="Arial"/>
                <a:cs typeface="Arial"/>
              </a:rPr>
              <a:t>true</a:t>
            </a:r>
            <a:r>
              <a:rPr dirty="0" sz="2050" spc="-1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2050" spc="-20">
                <a:solidFill>
                  <a:srgbClr val="262626"/>
                </a:solidFill>
                <a:latin typeface="Arial"/>
                <a:cs typeface="Arial"/>
              </a:rPr>
              <a:t>ROI.</a:t>
            </a:r>
            <a:endParaRPr sz="20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446797" y="3734428"/>
            <a:ext cx="2193290" cy="937260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5240" marR="5080" indent="-3175">
              <a:lnSpc>
                <a:spcPct val="102200"/>
              </a:lnSpc>
              <a:spcBef>
                <a:spcPts val="35"/>
              </a:spcBef>
            </a:pPr>
            <a:r>
              <a:rPr dirty="0" sz="2950" spc="40" b="1">
                <a:solidFill>
                  <a:srgbClr val="010101"/>
                </a:solidFill>
                <a:latin typeface="Arial"/>
                <a:cs typeface="Arial"/>
              </a:rPr>
              <a:t>Operational </a:t>
            </a:r>
            <a:r>
              <a:rPr dirty="0" sz="2950" spc="55" b="1">
                <a:solidFill>
                  <a:srgbClr val="010101"/>
                </a:solidFill>
                <a:latin typeface="Arial"/>
                <a:cs typeface="Arial"/>
              </a:rPr>
              <a:t>Strategy</a:t>
            </a:r>
            <a:endParaRPr sz="29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445731" y="5062107"/>
            <a:ext cx="2566670" cy="2063114"/>
          </a:xfrm>
          <a:prstGeom prst="rect">
            <a:avLst/>
          </a:prstGeom>
        </p:spPr>
        <p:txBody>
          <a:bodyPr wrap="square" lIns="0" tIns="39369" rIns="0" bIns="0" rtlCol="0" vert="horz">
            <a:spAutoFit/>
          </a:bodyPr>
          <a:lstStyle/>
          <a:p>
            <a:pPr marL="12700" marR="5080" indent="4445">
              <a:lnSpc>
                <a:spcPct val="91900"/>
              </a:lnSpc>
              <a:spcBef>
                <a:spcPts val="309"/>
              </a:spcBef>
            </a:pPr>
            <a:r>
              <a:rPr dirty="0" sz="2050">
                <a:solidFill>
                  <a:srgbClr val="262626"/>
                </a:solidFill>
                <a:latin typeface="Arial"/>
                <a:cs typeface="Arial"/>
              </a:rPr>
              <a:t>Analyzing</a:t>
            </a:r>
            <a:r>
              <a:rPr dirty="0" sz="2050" spc="245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262626"/>
                </a:solidFill>
                <a:latin typeface="Arial"/>
                <a:cs typeface="Arial"/>
              </a:rPr>
              <a:t>the</a:t>
            </a:r>
            <a:r>
              <a:rPr dirty="0" sz="2050" spc="28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2050" spc="55">
                <a:solidFill>
                  <a:srgbClr val="262626"/>
                </a:solidFill>
                <a:latin typeface="Arial"/>
                <a:cs typeface="Arial"/>
              </a:rPr>
              <a:t>impact </a:t>
            </a:r>
            <a:r>
              <a:rPr dirty="0" sz="2050" spc="70">
                <a:solidFill>
                  <a:srgbClr val="262626"/>
                </a:solidFill>
                <a:latin typeface="Arial"/>
                <a:cs typeface="Arial"/>
              </a:rPr>
              <a:t>of</a:t>
            </a:r>
            <a:r>
              <a:rPr dirty="0" sz="2050" spc="2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2050" spc="60">
                <a:solidFill>
                  <a:srgbClr val="262626"/>
                </a:solidFill>
                <a:latin typeface="Arial"/>
                <a:cs typeface="Arial"/>
              </a:rPr>
              <a:t>training</a:t>
            </a:r>
            <a:r>
              <a:rPr dirty="0" sz="2050" spc="-114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2050" spc="40">
                <a:solidFill>
                  <a:srgbClr val="262626"/>
                </a:solidFill>
                <a:latin typeface="Arial"/>
                <a:cs typeface="Arial"/>
              </a:rPr>
              <a:t>programs </a:t>
            </a:r>
            <a:r>
              <a:rPr dirty="0" sz="2050" spc="95">
                <a:solidFill>
                  <a:srgbClr val="262626"/>
                </a:solidFill>
                <a:latin typeface="Arial"/>
                <a:cs typeface="Arial"/>
              </a:rPr>
              <a:t>on</a:t>
            </a:r>
            <a:r>
              <a:rPr dirty="0" sz="2050" spc="-16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2050" spc="40">
                <a:solidFill>
                  <a:srgbClr val="262626"/>
                </a:solidFill>
                <a:latin typeface="Arial"/>
                <a:cs typeface="Arial"/>
              </a:rPr>
              <a:t>employee </a:t>
            </a:r>
            <a:r>
              <a:rPr dirty="0" sz="2050" spc="55">
                <a:solidFill>
                  <a:srgbClr val="262626"/>
                </a:solidFill>
                <a:latin typeface="Arial"/>
                <a:cs typeface="Arial"/>
              </a:rPr>
              <a:t>performance</a:t>
            </a:r>
            <a:r>
              <a:rPr dirty="0" sz="2050" spc="13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2050" spc="-25">
                <a:solidFill>
                  <a:srgbClr val="262626"/>
                </a:solidFill>
                <a:latin typeface="Arial"/>
                <a:cs typeface="Arial"/>
              </a:rPr>
              <a:t>and </a:t>
            </a:r>
            <a:r>
              <a:rPr dirty="0" sz="2050" spc="60">
                <a:solidFill>
                  <a:srgbClr val="262626"/>
                </a:solidFill>
                <a:latin typeface="Arial"/>
                <a:cs typeface="Arial"/>
              </a:rPr>
              <a:t>optimizing</a:t>
            </a:r>
            <a:r>
              <a:rPr dirty="0" sz="2050" spc="-114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2050" spc="-10">
                <a:solidFill>
                  <a:srgbClr val="262626"/>
                </a:solidFill>
                <a:latin typeface="Arial"/>
                <a:cs typeface="Arial"/>
              </a:rPr>
              <a:t>resource </a:t>
            </a:r>
            <a:r>
              <a:rPr dirty="0" sz="2050">
                <a:solidFill>
                  <a:srgbClr val="262626"/>
                </a:solidFill>
                <a:latin typeface="Arial"/>
                <a:cs typeface="Arial"/>
              </a:rPr>
              <a:t>allocation</a:t>
            </a:r>
            <a:r>
              <a:rPr dirty="0" sz="2050" spc="415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2050" spc="40">
                <a:solidFill>
                  <a:srgbClr val="262626"/>
                </a:solidFill>
                <a:latin typeface="Arial"/>
                <a:cs typeface="Arial"/>
              </a:rPr>
              <a:t>across </a:t>
            </a:r>
            <a:r>
              <a:rPr dirty="0" sz="2050" spc="65">
                <a:solidFill>
                  <a:srgbClr val="262626"/>
                </a:solidFill>
                <a:latin typeface="Arial"/>
                <a:cs typeface="Arial"/>
              </a:rPr>
              <a:t>departments</a:t>
            </a:r>
            <a:r>
              <a:rPr dirty="0" sz="2050" spc="65">
                <a:solidFill>
                  <a:srgbClr val="424442"/>
                </a:solidFill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63834" y="1813057"/>
            <a:ext cx="2598331" cy="3319197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8329945" y="8591877"/>
            <a:ext cx="7616825" cy="19685"/>
            <a:chOff x="8329945" y="8591877"/>
            <a:chExt cx="7616825" cy="19685"/>
          </a:xfrm>
        </p:grpSpPr>
        <p:sp>
          <p:nvSpPr>
            <p:cNvPr id="4" name="object 4"/>
            <p:cNvSpPr/>
            <p:nvPr/>
          </p:nvSpPr>
          <p:spPr>
            <a:xfrm>
              <a:off x="8329945" y="8591877"/>
              <a:ext cx="993775" cy="0"/>
            </a:xfrm>
            <a:custGeom>
              <a:avLst/>
              <a:gdLst/>
              <a:ahLst/>
              <a:cxnLst/>
              <a:rect l="l" t="t" r="r" b="b"/>
              <a:pathLst>
                <a:path w="993775" h="0">
                  <a:moveTo>
                    <a:pt x="0" y="0"/>
                  </a:moveTo>
                  <a:lnTo>
                    <a:pt x="993479" y="0"/>
                  </a:lnTo>
                </a:path>
              </a:pathLst>
            </a:custGeom>
            <a:ln w="3175">
              <a:solidFill>
                <a:srgbClr val="05050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9348898" y="8604644"/>
              <a:ext cx="6598284" cy="0"/>
            </a:xfrm>
            <a:custGeom>
              <a:avLst/>
              <a:gdLst/>
              <a:ahLst/>
              <a:cxnLst/>
              <a:rect l="l" t="t" r="r" b="b"/>
              <a:pathLst>
                <a:path w="6598284" h="0">
                  <a:moveTo>
                    <a:pt x="0" y="0"/>
                  </a:moveTo>
                  <a:lnTo>
                    <a:pt x="6597724" y="0"/>
                  </a:lnTo>
                </a:path>
              </a:pathLst>
            </a:custGeom>
            <a:ln w="127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2836460" y="5362111"/>
            <a:ext cx="11782425" cy="929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900" spc="80" b="1">
                <a:solidFill>
                  <a:srgbClr val="03132A"/>
                </a:solidFill>
                <a:latin typeface="Arial"/>
                <a:cs typeface="Arial"/>
              </a:rPr>
              <a:t>Democratizing</a:t>
            </a:r>
            <a:r>
              <a:rPr dirty="0" sz="5900" spc="445" b="1">
                <a:solidFill>
                  <a:srgbClr val="03132A"/>
                </a:solidFill>
                <a:latin typeface="Arial"/>
                <a:cs typeface="Arial"/>
              </a:rPr>
              <a:t> </a:t>
            </a:r>
            <a:r>
              <a:rPr dirty="0" sz="5900" spc="60" b="1">
                <a:solidFill>
                  <a:srgbClr val="03132A"/>
                </a:solidFill>
                <a:latin typeface="Arial"/>
                <a:cs typeface="Arial"/>
              </a:rPr>
              <a:t>Causal</a:t>
            </a:r>
            <a:r>
              <a:rPr dirty="0" sz="5900" spc="-145" b="1">
                <a:solidFill>
                  <a:srgbClr val="03132A"/>
                </a:solidFill>
                <a:latin typeface="Arial"/>
                <a:cs typeface="Arial"/>
              </a:rPr>
              <a:t> </a:t>
            </a:r>
            <a:r>
              <a:rPr dirty="0" sz="5900" spc="100" b="1">
                <a:solidFill>
                  <a:srgbClr val="03132A"/>
                </a:solidFill>
                <a:latin typeface="Arial"/>
                <a:cs typeface="Arial"/>
              </a:rPr>
              <a:t>Inference</a:t>
            </a:r>
            <a:endParaRPr sz="5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61902" y="6523832"/>
            <a:ext cx="11358880" cy="104203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99055" marR="5080" indent="-2586990">
              <a:lnSpc>
                <a:spcPct val="101499"/>
              </a:lnSpc>
              <a:spcBef>
                <a:spcPts val="55"/>
              </a:spcBef>
            </a:pPr>
            <a:r>
              <a:rPr dirty="0" sz="3300">
                <a:solidFill>
                  <a:srgbClr val="050505"/>
                </a:solidFill>
                <a:latin typeface="Arial"/>
                <a:cs typeface="Arial"/>
              </a:rPr>
              <a:t>Empowering</a:t>
            </a:r>
            <a:r>
              <a:rPr dirty="0" sz="3300" spc="225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300" spc="50">
                <a:solidFill>
                  <a:srgbClr val="050505"/>
                </a:solidFill>
                <a:latin typeface="Arial"/>
                <a:cs typeface="Arial"/>
              </a:rPr>
              <a:t>analysts,</a:t>
            </a:r>
            <a:r>
              <a:rPr dirty="0" sz="3300" spc="-16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300" spc="70">
                <a:solidFill>
                  <a:srgbClr val="050505"/>
                </a:solidFill>
                <a:latin typeface="Arial"/>
                <a:cs typeface="Arial"/>
              </a:rPr>
              <a:t>program</a:t>
            </a:r>
            <a:r>
              <a:rPr dirty="0" sz="3300" spc="11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300" spc="45">
                <a:solidFill>
                  <a:srgbClr val="050505"/>
                </a:solidFill>
                <a:latin typeface="Arial"/>
                <a:cs typeface="Arial"/>
              </a:rPr>
              <a:t>owners,</a:t>
            </a:r>
            <a:r>
              <a:rPr dirty="0" sz="3300" spc="-25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300" spc="85">
                <a:solidFill>
                  <a:srgbClr val="050505"/>
                </a:solidFill>
                <a:latin typeface="Arial"/>
                <a:cs typeface="Arial"/>
              </a:rPr>
              <a:t>and</a:t>
            </a:r>
            <a:r>
              <a:rPr dirty="0" sz="3300" spc="5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300">
                <a:solidFill>
                  <a:srgbClr val="050505"/>
                </a:solidFill>
                <a:latin typeface="Arial"/>
                <a:cs typeface="Arial"/>
              </a:rPr>
              <a:t>data</a:t>
            </a:r>
            <a:r>
              <a:rPr dirty="0" sz="3300" spc="7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300" spc="85">
                <a:solidFill>
                  <a:srgbClr val="050505"/>
                </a:solidFill>
                <a:latin typeface="Arial"/>
                <a:cs typeface="Arial"/>
              </a:rPr>
              <a:t>scientists </a:t>
            </a:r>
            <a:r>
              <a:rPr dirty="0" sz="3300" spc="90">
                <a:solidFill>
                  <a:srgbClr val="050505"/>
                </a:solidFill>
                <a:latin typeface="Arial"/>
                <a:cs typeface="Arial"/>
              </a:rPr>
              <a:t>to</a:t>
            </a:r>
            <a:r>
              <a:rPr dirty="0" sz="3300" spc="85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300" spc="75">
                <a:solidFill>
                  <a:srgbClr val="050505"/>
                </a:solidFill>
                <a:latin typeface="Arial"/>
                <a:cs typeface="Arial"/>
              </a:rPr>
              <a:t>move</a:t>
            </a:r>
            <a:r>
              <a:rPr dirty="0" sz="3300" spc="-114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300" spc="165">
                <a:solidFill>
                  <a:srgbClr val="050505"/>
                </a:solidFill>
                <a:latin typeface="Arial"/>
                <a:cs typeface="Arial"/>
              </a:rPr>
              <a:t>from</a:t>
            </a:r>
            <a:r>
              <a:rPr dirty="0" sz="3300" spc="-85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300" spc="145">
                <a:solidFill>
                  <a:srgbClr val="262626"/>
                </a:solidFill>
                <a:latin typeface="Arial"/>
                <a:cs typeface="Arial"/>
              </a:rPr>
              <a:t>'</a:t>
            </a:r>
            <a:r>
              <a:rPr dirty="0" sz="3300" spc="145">
                <a:solidFill>
                  <a:srgbClr val="050505"/>
                </a:solidFill>
                <a:latin typeface="Arial"/>
                <a:cs typeface="Arial"/>
              </a:rPr>
              <a:t>I</a:t>
            </a:r>
            <a:r>
              <a:rPr dirty="0" sz="3300" spc="-36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300" spc="105">
                <a:solidFill>
                  <a:srgbClr val="050505"/>
                </a:solidFill>
                <a:latin typeface="Arial"/>
                <a:cs typeface="Arial"/>
              </a:rPr>
              <a:t>think'</a:t>
            </a:r>
            <a:r>
              <a:rPr dirty="0" sz="3300" spc="-275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300" spc="120">
                <a:solidFill>
                  <a:srgbClr val="050505"/>
                </a:solidFill>
                <a:latin typeface="Arial"/>
                <a:cs typeface="Arial"/>
              </a:rPr>
              <a:t>to</a:t>
            </a:r>
            <a:r>
              <a:rPr dirty="0" sz="3300" spc="10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300" spc="65">
                <a:solidFill>
                  <a:srgbClr val="050505"/>
                </a:solidFill>
                <a:latin typeface="Arial"/>
                <a:cs typeface="Arial"/>
              </a:rPr>
              <a:t>'I</a:t>
            </a:r>
            <a:r>
              <a:rPr dirty="0" sz="3300" spc="-165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3300" spc="95">
                <a:solidFill>
                  <a:srgbClr val="050505"/>
                </a:solidFill>
                <a:latin typeface="Arial"/>
                <a:cs typeface="Arial"/>
              </a:rPr>
              <a:t>know'</a:t>
            </a:r>
            <a:r>
              <a:rPr dirty="0" sz="3300" spc="95">
                <a:solidFill>
                  <a:srgbClr val="262626"/>
                </a:solidFill>
                <a:latin typeface="Arial"/>
                <a:cs typeface="Arial"/>
              </a:rPr>
              <a:t>.</a:t>
            </a:r>
            <a:endParaRPr sz="3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50483" y="8987697"/>
            <a:ext cx="5417185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00">
                <a:solidFill>
                  <a:srgbClr val="262626"/>
                </a:solidFill>
                <a:latin typeface="Arial"/>
                <a:cs typeface="Arial"/>
              </a:rPr>
              <a:t>Al</a:t>
            </a:r>
            <a:r>
              <a:rPr dirty="0" sz="2100">
                <a:solidFill>
                  <a:srgbClr val="050505"/>
                </a:solidFill>
                <a:latin typeface="Arial"/>
                <a:cs typeface="Arial"/>
              </a:rPr>
              <a:t>-P</a:t>
            </a:r>
            <a:r>
              <a:rPr dirty="0" sz="2100">
                <a:solidFill>
                  <a:srgbClr val="262626"/>
                </a:solidFill>
                <a:latin typeface="Arial"/>
                <a:cs typeface="Arial"/>
              </a:rPr>
              <a:t>owered</a:t>
            </a:r>
            <a:r>
              <a:rPr dirty="0" sz="2100" spc="13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262626"/>
                </a:solidFill>
                <a:latin typeface="Arial"/>
                <a:cs typeface="Arial"/>
              </a:rPr>
              <a:t>Automation</a:t>
            </a:r>
            <a:r>
              <a:rPr dirty="0" sz="2100" spc="21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2100" spc="65">
                <a:solidFill>
                  <a:srgbClr val="262626"/>
                </a:solidFill>
                <a:latin typeface="Arial"/>
                <a:cs typeface="Arial"/>
              </a:rPr>
              <a:t>for</a:t>
            </a:r>
            <a:r>
              <a:rPr dirty="0" sz="2100">
                <a:solidFill>
                  <a:srgbClr val="262626"/>
                </a:solidFill>
                <a:latin typeface="Arial"/>
                <a:cs typeface="Arial"/>
              </a:rPr>
              <a:t> Causa</a:t>
            </a:r>
            <a:r>
              <a:rPr dirty="0" sz="2100">
                <a:solidFill>
                  <a:srgbClr val="050505"/>
                </a:solidFill>
                <a:latin typeface="Arial"/>
                <a:cs typeface="Arial"/>
              </a:rPr>
              <a:t>l</a:t>
            </a:r>
            <a:r>
              <a:rPr dirty="0" sz="2100" spc="-2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2100" spc="-10">
                <a:solidFill>
                  <a:srgbClr val="262626"/>
                </a:solidFill>
                <a:latin typeface="Arial"/>
                <a:cs typeface="Arial"/>
              </a:rPr>
              <a:t>Inference</a:t>
            </a:r>
            <a:endParaRPr sz="2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147783" y="9402597"/>
            <a:ext cx="126238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 spc="-70">
                <a:solidFill>
                  <a:srgbClr val="383838"/>
                </a:solidFill>
                <a:latin typeface="Arial"/>
                <a:cs typeface="Arial"/>
              </a:rPr>
              <a:t>I'S\</a:t>
            </a:r>
            <a:r>
              <a:rPr dirty="0" sz="1300" spc="-2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050505"/>
                </a:solidFill>
                <a:latin typeface="Arial"/>
                <a:cs typeface="Arial"/>
              </a:rPr>
              <a:t>N</a:t>
            </a:r>
            <a:r>
              <a:rPr dirty="0" sz="1350" spc="-10">
                <a:solidFill>
                  <a:srgbClr val="262626"/>
                </a:solidFill>
                <a:latin typeface="Arial"/>
                <a:cs typeface="Arial"/>
              </a:rPr>
              <a:t>otebookLM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2026-01-27T13:43:11Z</dcterms:created>
  <dcterms:modified xsi:type="dcterms:W3CDTF">2026-01-27T13:43:11Z</dcterms:modified>
</cp:coreProperties>
</file>